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Equinox is a maintenance management system (CMMS) for factories and plants. The one-line pitch: every breakdown gets tracked all the way to a verified fix. What makes it different is how faults get in and get dispatched: through a normal web app, an AI chat assistant, or simply a phone call to a voice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pain. In most plants a breakdown is reported by a phone call or a WhatsApp message. Whoever picks up decides who to send, usually from memory. Once the job is done, nothing is written down, so the next time the same machine fails the team starts from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idea in one sentence. Equinox is a single system of record for maintenance. It does not matter how a fault is reported: the result is always a tracked work order with an owner, a status and a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Equinox is a complete maintenance platform, not just a ticket form. Work orders are the core. Around them are planned (preventive) maintenance, the asset register, public fault requests, spare-parts inventory, meter readings that can open work orders automatically, sites on a map, people and shifts, analytics such as mean time to repair, and an API for integrations.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job follows the same six steps, no matter how it started. Report, approve, assign, execute, close, and learn. The outlined steps, reporting and assigning, are where most time is lost today, and they are exactly where the AI assistant and the voice agent take over the manual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on a shop floor don't want to fill in forms. So Equinox meets them where they are. Office staff can use the web app. Anyone can type a question to the AI assistant. And an operator with oily hands can simply phone in, speaking their own language. All three paths end in the same tracked work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assistant is a chat window that lives inside the app. It knows which record you have open, so you can say "this pump". It answers only from real data: it calls lookup functions for assets and work orders and never invents IDs or dates. And it cannot change anything by itself. When it wants to create a work order or change a status, it shows a preview card, and nothing is saved until the user clicks Confirm. The chat on the right is an illustration of that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VoiceOps is the voice agent. An operator calls a phone number, or talks from the browser, and describes the problem in their own language. During the call the agent detects the language, finds the right machine, creates a work order with a severity, picks the best technician and notifies them. If the problem is urgent, it escalates: the priority goes up, admins get an alert, and the system places an outbound call to the assigned technician. The agent can only use six fixed actions on the server, and every one is checked against permissions.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agent assigns a job, it doesn't guess. Every technician gets a score. Being based at the same site as the machine is worth the most, 40 points. A light workload is worth up to 30, minus 10 for every open job. Being on shift today is worth 20 to 30, depending on free hours. Anyone off shift today is never picked. On the right is a worked example: Ravi scores 100 and gets the job; Meena and Arjun are kept as backups. The top three, with the reasons in plain words, are stored with the assignment so a supervisor can always see why someone was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the voice agent does is a black box. Every step is saved as an event: the call starting, the language, the machine it found, the severity, the work order, the technician and the notification. Each event is pushed live over WebSocket to everyone who can see work orders, so a supervisor can watch the call as it happens. Afterwards, the full transcript arrives and the questions the agent asked are pulled out and listed. The timeline on the right is an illustration of a 30-second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on a factory floor has to be safe. So the AI never talks to the database directly. The chat assistant can read freely, but every change is a preview a person must confirm. Both the assistant and the voice agent act through a real user account, so the normal permission system applies. The voice agent has exactly six actions on the server, each validating its input. Callbacks from the voice provider are signature-checked, and if the AI repeats a step, it gets the same work order back instead of creating a duplicate.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top to bottom. Users reach Equinox through the web app, the public request portal, or by voice. Everything passes through one Nginx gateway. Behind it is a single Spring Boot API in Java 17, which holds the business modules, including the two highlighted AI modules: the assistant and VoiceOps. Data lives in PostgreSQL, files in MinIO object storage, and the AI services are Google Gemini for chat and ElevenLabs for voice. The whole stack is containerised and starts with one docker compose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AI guardrails, the platform itself is built for real companies. Sign-in uses tokens and supports single sign-on and LDAP. Every module has its own view, create, edit and delete permissions. Each company's data is isolated from every other company's. Integrations use API keys instead of passwords. Work order edits are versioned. And because it is self-hosted with Docker, a plant's data never has to leave its own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works today is on the left: the platform, the AI assistant, the voice agent, explained technician ranking and the live activity trail. Next is making dispatch self-correcting: matching on skills, SLA timers that escalate on their own, instant reassignment when a technician drops out, and reserving spare parts the moment a job is approved. Later, we add supervisor sign-off, a tamper-evident audit trail, sensors that raise jobs automatically, and models that predict failures before they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same line as the opening. Equinox lets anyone report a fault in the way that suits them, picks the right person with reasons you can see, and tracks every job to the end. Thank you,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5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2"/>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0E1630"/>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2"/>
            <a:ext cx="10566400" cy="4165598"/>
          </a:xfrm>
          <a:prstGeom prst="rect">
            <a:avLst/>
          </a:prstGeom>
          <a:noFill/>
          <a:ln/>
        </p:spPr>
        <p:txBody>
          <a:bodyPr wrap="square" lIns="0" tIns="0" rIns="0" bIns="0" rtlCol="0" anchor="t"/>
          <a:lstStyle>
            <a:lvl1pPr algn="l" indent="0" marL="0">
              <a:lnSpc>
                <a:spcPct val="140000"/>
              </a:lnSpc>
              <a:buNone/>
              <a:defRPr lang="en-US" sz="1600" dirty="0">
                <a:solidFill>
                  <a:srgbClr val="0E1630"/>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27762"/>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E8ECF7"/>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2"/>
            <a:ext cx="10566400" cy="4165598"/>
          </a:xfrm>
          <a:prstGeom prst="rect">
            <a:avLst/>
          </a:prstGeom>
          <a:noFill/>
          <a:ln/>
        </p:spPr>
        <p:txBody>
          <a:bodyPr wrap="square" lIns="0" tIns="0" rIns="0" bIns="0" rtlCol="0" anchor="t"/>
          <a:lstStyle>
            <a:lvl1pPr algn="l" indent="0" marL="0">
              <a:lnSpc>
                <a:spcPct val="140000"/>
              </a:lnSpc>
              <a:buNone/>
              <a:defRPr lang="en-US" sz="1600" dirty="0">
                <a:solidFill>
                  <a:srgbClr val="E8ECF7"/>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127762"/>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E8ECF7"/>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2"/>
            <a:ext cx="10566400" cy="4165598"/>
          </a:xfrm>
          <a:prstGeom prst="rect">
            <a:avLst/>
          </a:prstGeom>
          <a:noFill/>
          <a:ln/>
        </p:spPr>
        <p:txBody>
          <a:bodyPr wrap="square" lIns="0" tIns="0" rIns="0" bIns="0" rtlCol="0" anchor="t"/>
          <a:lstStyle>
            <a:lvl1pPr algn="l" indent="0" marL="0">
              <a:lnSpc>
                <a:spcPct val="140000"/>
              </a:lnSpc>
              <a:buNone/>
              <a:defRPr lang="en-US" sz="1600" dirty="0">
                <a:solidFill>
                  <a:srgbClr val="E8ECF7"/>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5F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62"/>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0E1630"/>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9602"/>
            <a:ext cx="10566400" cy="4165598"/>
          </a:xfrm>
          <a:prstGeom prst="rect">
            <a:avLst/>
          </a:prstGeom>
          <a:noFill/>
          <a:ln/>
        </p:spPr>
        <p:txBody>
          <a:bodyPr wrap="square" lIns="0" tIns="0" rIns="0" bIns="0" rtlCol="0" anchor="t"/>
          <a:lstStyle>
            <a:lvl1pPr algn="l" indent="0" marL="0">
              <a:lnSpc>
                <a:spcPct val="140000"/>
              </a:lnSpc>
              <a:buNone/>
              <a:defRPr lang="en-US" sz="1600" dirty="0">
                <a:solidFill>
                  <a:srgbClr val="0E1630"/>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2.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Equinox orbital logo: a blue planet with a cyan ring">    </p:cNvPr>
          <p:cNvPicPr>
            <a:picLocks noChangeAspect="1"/>
          </p:cNvPicPr>
          <p:nvPr/>
        </p:nvPicPr>
        <p:blipFill>
          <a:blip r:embed="rId1"/>
          <a:srcRect l="0" r="0" t="0" b="0"/>
          <a:stretch/>
        </p:blipFill>
        <p:spPr>
          <a:xfrm>
            <a:off x="7112000" y="1270000"/>
            <a:ext cx="4064000" cy="4064000"/>
          </a:xfrm>
          <a:prstGeom prst="rect">
            <a:avLst/>
          </a:prstGeom>
        </p:spPr>
      </p:pic>
      <p:sp>
        <p:nvSpPr>
          <p:cNvPr id="3" name="Text 0"/>
          <p:cNvSpPr/>
          <p:nvPr/>
        </p:nvSpPr>
        <p:spPr>
          <a:xfrm>
            <a:off x="812800" y="1397556"/>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300" kern="0" dirty="0">
                <a:solidFill>
                  <a:srgbClr val="3FD6E6"/>
                </a:solidFill>
                <a:latin typeface="JetBrains Mono" pitchFamily="49" charset="0"/>
                <a:ea typeface="JetBrains Mono" pitchFamily="49" charset="-122"/>
                <a:cs typeface="JetBrains Mono" pitchFamily="49" charset="-120"/>
              </a:rPr>
              <a:t>EQUINOX CMMS</a:t>
            </a:r>
            <a:endParaRPr lang="en-US" sz="1400" dirty="0"/>
          </a:p>
        </p:txBody>
      </p:sp>
      <p:sp>
        <p:nvSpPr>
          <p:cNvPr id="4" name="Text 1"/>
          <p:cNvSpPr/>
          <p:nvPr>
            <p:ph type="title"/>
          </p:nvPr>
        </p:nvSpPr>
        <p:spPr>
          <a:xfrm>
            <a:off x="812800" y="1900476"/>
            <a:ext cx="6409690" cy="2244249"/>
          </a:xfrm>
          <a:prstGeom prst="rect">
            <a:avLst/>
          </a:prstGeom>
          <a:noFill/>
          <a:ln/>
        </p:spPr>
        <p:txBody>
          <a:bodyPr wrap="square" lIns="0" tIns="0" rIns="0" bIns="0" rtlCol="0" anchor="t">
            <a:normAutofit/>
          </a:bodyPr>
          <a:lstStyle/>
          <a:p>
            <a:pPr algn="l" indent="0" marL="0">
              <a:lnSpc>
                <a:spcPts val="5824"/>
              </a:lnSpc>
              <a:buNone/>
            </a:pPr>
            <a:r>
              <a:rPr lang="en-US" sz="5600" b="1" i="0" spc="-150" kern="0" dirty="0">
                <a:solidFill>
                  <a:srgbClr val="E8ECF7"/>
                </a:solidFill>
                <a:latin typeface="Space Grotesk" pitchFamily="34" charset="0"/>
                <a:ea typeface="Space Grotesk" pitchFamily="34" charset="-122"/>
                <a:cs typeface="Space Grotesk" pitchFamily="34" charset="-120"/>
              </a:rPr>
              <a:t>Every breakdown, tracked to a </a:t>
            </a:r>
            <a:r>
              <a:rPr lang="en-US" sz="5600" b="1" i="0" spc="-150" kern="0" dirty="0">
                <a:solidFill>
                  <a:srgbClr val="7B88FF"/>
                </a:solidFill>
                <a:latin typeface="Space Grotesk" pitchFamily="34" charset="0"/>
                <a:ea typeface="Space Grotesk" pitchFamily="34" charset="-122"/>
                <a:cs typeface="Space Grotesk" pitchFamily="34" charset="-120"/>
              </a:rPr>
              <a:t>verified fix.</a:t>
            </a:r>
            <a:endParaRPr lang="en-US" sz="5600" dirty="0"/>
          </a:p>
        </p:txBody>
      </p:sp>
      <p:sp>
        <p:nvSpPr>
          <p:cNvPr id="5" name="Text 2"/>
          <p:cNvSpPr/>
          <p:nvPr/>
        </p:nvSpPr>
        <p:spPr>
          <a:xfrm>
            <a:off x="812800" y="4373325"/>
            <a:ext cx="5886450" cy="909320"/>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A9B4CF"/>
                </a:solidFill>
                <a:latin typeface="DM Sans" pitchFamily="34" charset="0"/>
                <a:ea typeface="DM Sans" pitchFamily="34" charset="-122"/>
                <a:cs typeface="DM Sans" pitchFamily="34" charset="-120"/>
              </a:rPr>
              <a:t>A maintenance management platform with a built-in AI assistant and voice agent, so a fault reported by click, chat or phone call becomes an assigned, tracked work order.</a:t>
            </a:r>
            <a:endParaRPr lang="en-US" sz="1600" dirty="0"/>
          </a:p>
        </p:txBody>
      </p:sp>
      <p:sp>
        <p:nvSpPr>
          <p:cNvPr id="6" name="Text 3"/>
          <p:cNvSpPr/>
          <p:nvPr/>
        </p:nvSpPr>
        <p:spPr>
          <a:xfrm>
            <a:off x="812800" y="6236970"/>
            <a:ext cx="2916936"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792B3"/>
                </a:solidFill>
                <a:latin typeface="JetBrains Mono" pitchFamily="49" charset="0"/>
                <a:ea typeface="JetBrains Mono" pitchFamily="49" charset="-122"/>
                <a:cs typeface="JetBrains Mono" pitchFamily="49" charset="-120"/>
              </a:rPr>
              <a:t>PRESENTED BY BucketNCo</a:t>
            </a:r>
            <a:endParaRPr lang="en-US" sz="1200" dirty="0"/>
          </a:p>
        </p:txBody>
      </p:sp>
      <p:sp>
        <p:nvSpPr>
          <p:cNvPr id="7" name="Text 4"/>
          <p:cNvSpPr/>
          <p:nvPr/>
        </p:nvSpPr>
        <p:spPr>
          <a:xfrm>
            <a:off x="10848848" y="6236970"/>
            <a:ext cx="530352" cy="238760"/>
          </a:xfrm>
          <a:prstGeom prst="rect">
            <a:avLst/>
          </a:prstGeom>
          <a:noFill/>
          <a:ln/>
        </p:spPr>
        <p:txBody>
          <a:bodyPr wrap="square" lIns="0" tIns="0" rIns="0" bIns="0" rtlCol="0" anchor="t">
            <a:normAutofit/>
          </a:bodyPr>
          <a:lstStyle/>
          <a:p>
            <a:pPr algn="r" indent="0" marL="0">
              <a:lnSpc>
                <a:spcPts val="1680"/>
              </a:lnSpc>
              <a:buNone/>
            </a:pPr>
            <a:r>
              <a:rPr lang="en-US" sz="1200" spc="150" kern="0" dirty="0">
                <a:solidFill>
                  <a:srgbClr val="8792B3"/>
                </a:solidFill>
                <a:latin typeface="JetBrains Mono" pitchFamily="49" charset="0"/>
                <a:ea typeface="JetBrains Mono" pitchFamily="49" charset="-122"/>
                <a:cs typeface="JetBrains Mono" pitchFamily="49" charset="-120"/>
              </a:rPr>
              <a:t>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453E0"/>
                </a:solidFill>
                <a:latin typeface="JetBrains Mono" pitchFamily="49" charset="0"/>
                <a:ea typeface="JetBrains Mono" pitchFamily="49" charset="-122"/>
                <a:cs typeface="JetBrains Mono" pitchFamily="49" charset="-120"/>
              </a:rPr>
              <a:t>THE PROBLEM</a:t>
            </a:r>
            <a:endParaRPr lang="en-US" sz="1200" dirty="0"/>
          </a:p>
        </p:txBody>
      </p:sp>
      <p:sp>
        <p:nvSpPr>
          <p:cNvPr id="3" name="Text 1"/>
          <p:cNvSpPr/>
          <p:nvPr>
            <p:ph type="title"/>
          </p:nvPr>
        </p:nvSpPr>
        <p:spPr>
          <a:xfrm>
            <a:off x="812800" y="1127760"/>
            <a:ext cx="9156700" cy="9194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E1630"/>
                </a:solidFill>
                <a:latin typeface="Space Grotesk" pitchFamily="34" charset="0"/>
                <a:ea typeface="Space Grotesk" pitchFamily="34" charset="-122"/>
                <a:cs typeface="Space Grotesk" pitchFamily="34" charset="-120"/>
              </a:rPr>
              <a:t>Maintenance still runs on phone calls, chats and spreadsheets</a:t>
            </a:r>
            <a:endParaRPr lang="en-US" sz="3200" dirty="0"/>
          </a:p>
        </p:txBody>
      </p:sp>
      <p:sp>
        <p:nvSpPr>
          <p:cNvPr id="4" name="Shape 2"/>
          <p:cNvSpPr/>
          <p:nvPr/>
        </p:nvSpPr>
        <p:spPr>
          <a:xfrm>
            <a:off x="815975" y="2345055"/>
            <a:ext cx="3380264" cy="2889250"/>
          </a:xfrm>
          <a:prstGeom prst="roundRect">
            <a:avLst>
              <a:gd name="adj" fmla="val 5165"/>
            </a:avLst>
          </a:prstGeom>
          <a:solidFill>
            <a:srgbClr val="FCFDFF"/>
          </a:solidFill>
          <a:ln w="6350">
            <a:solidFill>
              <a:srgbClr val="DCE1F0"/>
            </a:solidFill>
            <a:prstDash val="solid"/>
          </a:ln>
          <a:effectLst>
            <a:outerShdw sx="100000" sy="100000" kx="0" ky="0" algn="bl" rotWithShape="0" blurRad="203200" dist="76200" dir="5400000">
              <a:srgbClr val="0E1630">
                <a:alpha val="6000"/>
              </a:srgbClr>
            </a:outerShdw>
          </a:effectLst>
        </p:spPr>
      </p:sp>
      <p:pic>
        <p:nvPicPr>
          <p:cNvPr id="5" name="Image 0" descr="Chat">    </p:cNvPr>
          <p:cNvPicPr>
            <a:picLocks noChangeAspect="1"/>
          </p:cNvPicPr>
          <p:nvPr/>
        </p:nvPicPr>
        <p:blipFill>
          <a:blip r:embed="rId1"/>
          <a:srcRect l="0" r="0" t="0" b="0"/>
          <a:stretch/>
        </p:blipFill>
        <p:spPr>
          <a:xfrm>
            <a:off x="1122680" y="2651760"/>
            <a:ext cx="355600" cy="355600"/>
          </a:xfrm>
          <a:prstGeom prst="rect">
            <a:avLst/>
          </a:prstGeom>
        </p:spPr>
      </p:pic>
      <p:sp>
        <p:nvSpPr>
          <p:cNvPr id="6" name="Text 3"/>
          <p:cNvSpPr/>
          <p:nvPr/>
        </p:nvSpPr>
        <p:spPr>
          <a:xfrm>
            <a:off x="1122680" y="3159760"/>
            <a:ext cx="2849859"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0E1630"/>
                </a:solidFill>
                <a:latin typeface="Space Grotesk" pitchFamily="34" charset="0"/>
                <a:ea typeface="Space Grotesk" pitchFamily="34" charset="-122"/>
                <a:cs typeface="Space Grotesk" pitchFamily="34" charset="-120"/>
              </a:rPr>
              <a:t>Reports get lost</a:t>
            </a:r>
            <a:endParaRPr lang="en-US" sz="2000" dirty="0"/>
          </a:p>
        </p:txBody>
      </p:sp>
      <p:sp>
        <p:nvSpPr>
          <p:cNvPr id="7" name="Text 4"/>
          <p:cNvSpPr/>
          <p:nvPr/>
        </p:nvSpPr>
        <p:spPr>
          <a:xfrm>
            <a:off x="1122680" y="3604260"/>
            <a:ext cx="2849859" cy="105664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470"/>
                </a:solidFill>
                <a:latin typeface="DM Sans" pitchFamily="34" charset="0"/>
                <a:ea typeface="DM Sans" pitchFamily="34" charset="-122"/>
                <a:cs typeface="DM Sans" pitchFamily="34" charset="-120"/>
              </a:rPr>
              <a:t>Faults are reported by phone, WhatsApp or word of mouth. Nothing guarantees that anyone acts on them.</a:t>
            </a:r>
            <a:endParaRPr lang="en-US" sz="1400" dirty="0"/>
          </a:p>
        </p:txBody>
      </p:sp>
      <p:sp>
        <p:nvSpPr>
          <p:cNvPr id="8" name="Shape 5"/>
          <p:cNvSpPr/>
          <p:nvPr/>
        </p:nvSpPr>
        <p:spPr>
          <a:xfrm>
            <a:off x="4405789" y="2345055"/>
            <a:ext cx="3380343" cy="2889250"/>
          </a:xfrm>
          <a:prstGeom prst="roundRect">
            <a:avLst>
              <a:gd name="adj" fmla="val 5165"/>
            </a:avLst>
          </a:prstGeom>
          <a:solidFill>
            <a:srgbClr val="FCFDFF"/>
          </a:solidFill>
          <a:ln w="6350">
            <a:solidFill>
              <a:srgbClr val="DCE1F0"/>
            </a:solidFill>
            <a:prstDash val="solid"/>
          </a:ln>
          <a:effectLst>
            <a:outerShdw sx="100000" sy="100000" kx="0" ky="0" algn="bl" rotWithShape="0" blurRad="203200" dist="76200" dir="5400000">
              <a:srgbClr val="0E1630">
                <a:alpha val="6000"/>
              </a:srgbClr>
            </a:outerShdw>
          </a:effectLst>
        </p:spPr>
      </p:sp>
      <p:pic>
        <p:nvPicPr>
          <p:cNvPr id="9" name="Image 1" descr="Users">    </p:cNvPr>
          <p:cNvPicPr>
            <a:picLocks noChangeAspect="1"/>
          </p:cNvPicPr>
          <p:nvPr/>
        </p:nvPicPr>
        <p:blipFill>
          <a:blip r:embed="rId2"/>
          <a:srcRect l="0" r="0" t="0" b="0"/>
          <a:stretch/>
        </p:blipFill>
        <p:spPr>
          <a:xfrm>
            <a:off x="4712494" y="2651760"/>
            <a:ext cx="355600" cy="355600"/>
          </a:xfrm>
          <a:prstGeom prst="rect">
            <a:avLst/>
          </a:prstGeom>
        </p:spPr>
      </p:pic>
      <p:sp>
        <p:nvSpPr>
          <p:cNvPr id="10" name="Text 6"/>
          <p:cNvSpPr/>
          <p:nvPr/>
        </p:nvSpPr>
        <p:spPr>
          <a:xfrm>
            <a:off x="4712494" y="3159760"/>
            <a:ext cx="2849941"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0E1630"/>
                </a:solidFill>
                <a:latin typeface="Space Grotesk" pitchFamily="34" charset="0"/>
                <a:ea typeface="Space Grotesk" pitchFamily="34" charset="-122"/>
                <a:cs typeface="Space Grotesk" pitchFamily="34" charset="-120"/>
              </a:rPr>
              <a:t>Wrong person sent</a:t>
            </a:r>
            <a:endParaRPr lang="en-US" sz="2000" dirty="0"/>
          </a:p>
        </p:txBody>
      </p:sp>
      <p:sp>
        <p:nvSpPr>
          <p:cNvPr id="11" name="Text 7"/>
          <p:cNvSpPr/>
          <p:nvPr/>
        </p:nvSpPr>
        <p:spPr>
          <a:xfrm>
            <a:off x="4712494" y="3604260"/>
            <a:ext cx="2849941"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470"/>
                </a:solidFill>
                <a:latin typeface="DM Sans" pitchFamily="34" charset="0"/>
                <a:ea typeface="DM Sans" pitchFamily="34" charset="-122"/>
                <a:cs typeface="DM Sans" pitchFamily="34" charset="-120"/>
              </a:rPr>
              <a:t>Dispatch depends on who the supervisor remembers, not on who is on shift, nearby and free.</a:t>
            </a:r>
            <a:endParaRPr lang="en-US" sz="1400" dirty="0"/>
          </a:p>
        </p:txBody>
      </p:sp>
      <p:sp>
        <p:nvSpPr>
          <p:cNvPr id="12" name="Shape 8"/>
          <p:cNvSpPr/>
          <p:nvPr/>
        </p:nvSpPr>
        <p:spPr>
          <a:xfrm>
            <a:off x="7995682" y="2345055"/>
            <a:ext cx="3380343" cy="2889250"/>
          </a:xfrm>
          <a:prstGeom prst="roundRect">
            <a:avLst>
              <a:gd name="adj" fmla="val 5165"/>
            </a:avLst>
          </a:prstGeom>
          <a:solidFill>
            <a:srgbClr val="FCFDFF"/>
          </a:solidFill>
          <a:ln w="6350">
            <a:solidFill>
              <a:srgbClr val="DCE1F0"/>
            </a:solidFill>
            <a:prstDash val="solid"/>
          </a:ln>
          <a:effectLst>
            <a:outerShdw sx="100000" sy="100000" kx="0" ky="0" algn="bl" rotWithShape="0" blurRad="203200" dist="76200" dir="5400000">
              <a:srgbClr val="0E1630">
                <a:alpha val="6000"/>
              </a:srgbClr>
            </a:outerShdw>
          </a:effectLst>
        </p:spPr>
      </p:sp>
      <p:pic>
        <p:nvPicPr>
          <p:cNvPr id="13" name="Image 2" descr="Search">    </p:cNvPr>
          <p:cNvPicPr>
            <a:picLocks noChangeAspect="1"/>
          </p:cNvPicPr>
          <p:nvPr/>
        </p:nvPicPr>
        <p:blipFill>
          <a:blip r:embed="rId3"/>
          <a:srcRect l="0" r="0" t="0" b="0"/>
          <a:stretch/>
        </p:blipFill>
        <p:spPr>
          <a:xfrm>
            <a:off x="8302387" y="2651760"/>
            <a:ext cx="355600" cy="355600"/>
          </a:xfrm>
          <a:prstGeom prst="rect">
            <a:avLst/>
          </a:prstGeom>
        </p:spPr>
      </p:pic>
      <p:sp>
        <p:nvSpPr>
          <p:cNvPr id="14" name="Text 9"/>
          <p:cNvSpPr/>
          <p:nvPr/>
        </p:nvSpPr>
        <p:spPr>
          <a:xfrm>
            <a:off x="8302387" y="3159760"/>
            <a:ext cx="2849941"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0E1630"/>
                </a:solidFill>
                <a:latin typeface="Space Grotesk" pitchFamily="34" charset="0"/>
                <a:ea typeface="Space Grotesk" pitchFamily="34" charset="-122"/>
                <a:cs typeface="Space Grotesk" pitchFamily="34" charset="-120"/>
              </a:rPr>
              <a:t>No history to learn from</a:t>
            </a:r>
            <a:endParaRPr lang="en-US" sz="2000" dirty="0"/>
          </a:p>
        </p:txBody>
      </p:sp>
      <p:sp>
        <p:nvSpPr>
          <p:cNvPr id="15" name="Text 10"/>
          <p:cNvSpPr/>
          <p:nvPr/>
        </p:nvSpPr>
        <p:spPr>
          <a:xfrm>
            <a:off x="8302387" y="3896360"/>
            <a:ext cx="2849941" cy="105664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470"/>
                </a:solidFill>
                <a:latin typeface="DM Sans" pitchFamily="34" charset="0"/>
                <a:ea typeface="DM Sans" pitchFamily="34" charset="-122"/>
                <a:cs typeface="DM Sans" pitchFamily="34" charset="-120"/>
              </a:rPr>
              <a:t>When a machine fails again, nobody can see what was done last time, by whom, or how long it took.</a:t>
            </a:r>
            <a:endParaRPr lang="en-US" sz="1400" dirty="0"/>
          </a:p>
        </p:txBody>
      </p:sp>
      <p:sp>
        <p:nvSpPr>
          <p:cNvPr id="16" name="Text 11"/>
          <p:cNvSpPr/>
          <p:nvPr/>
        </p:nvSpPr>
        <p:spPr>
          <a:xfrm>
            <a:off x="812800" y="555752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E1630"/>
                </a:solidFill>
                <a:latin typeface="DM Sans" pitchFamily="34" charset="0"/>
                <a:ea typeface="DM Sans" pitchFamily="34" charset="-122"/>
                <a:cs typeface="DM Sans" pitchFamily="34" charset="-120"/>
              </a:rPr>
              <a:t>The result:</a:t>
            </a:r>
            <a:r>
              <a:rPr lang="en-US" sz="1600" dirty="0">
                <a:solidFill>
                  <a:srgbClr val="0E1630"/>
                </a:solidFill>
                <a:latin typeface="DM Sans" pitchFamily="34" charset="0"/>
                <a:ea typeface="DM Sans" pitchFamily="34" charset="-122"/>
                <a:cs typeface="DM Sans" pitchFamily="34" charset="-120"/>
              </a:rPr>
              <a:t> longer downtime, missed follow-ups, and no data to improve from.</a:t>
            </a:r>
            <a:endParaRPr lang="en-US" sz="1600" dirty="0"/>
          </a:p>
        </p:txBody>
      </p:sp>
      <p:sp>
        <p:nvSpPr>
          <p:cNvPr id="17" name="Text 12"/>
          <p:cNvSpPr/>
          <p:nvPr/>
        </p:nvSpPr>
        <p:spPr>
          <a:xfrm>
            <a:off x="812800" y="6236970"/>
            <a:ext cx="1591056"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5B6585"/>
                </a:solidFill>
                <a:latin typeface="JetBrains Mono" pitchFamily="49" charset="0"/>
                <a:ea typeface="JetBrains Mono" pitchFamily="49" charset="-122"/>
                <a:cs typeface="JetBrains Mono" pitchFamily="49" charset="-120"/>
              </a:rPr>
              <a:t>EQUINOX CMMS</a:t>
            </a:r>
            <a:endParaRPr lang="en-US" sz="1200" dirty="0"/>
          </a:p>
        </p:txBody>
      </p:sp>
      <p:sp>
        <p:nvSpPr>
          <p:cNvPr id="18" name="Text 13"/>
          <p:cNvSpPr/>
          <p:nvPr/>
        </p:nvSpPr>
        <p:spPr>
          <a:xfrm>
            <a:off x="11107420" y="6236970"/>
            <a:ext cx="271780" cy="238760"/>
          </a:xfrm>
          <a:prstGeom prst="rect">
            <a:avLst/>
          </a:prstGeom>
          <a:noFill/>
          <a:ln/>
        </p:spPr>
        <p:txBody>
          <a:bodyPr wrap="square" lIns="0" tIns="0" rIns="0" bIns="0" rtlCol="0" anchor="t">
            <a:normAutofit/>
          </a:bodyPr>
          <a:lstStyle/>
          <a:p>
            <a:pPr algn="r" indent="0" marL="0">
              <a:lnSpc>
                <a:spcPts val="1680"/>
              </a:lnSpc>
              <a:buNone/>
            </a:pPr>
            <a:r>
              <a:rPr lang="en-US" sz="1200" spc="150" kern="0" dirty="0">
                <a:solidFill>
                  <a:srgbClr val="5B6585"/>
                </a:solidFill>
                <a:latin typeface="JetBrains Mono" pitchFamily="49" charset="0"/>
                <a:ea typeface="JetBrains Mono" pitchFamily="49" charset="-122"/>
                <a:cs typeface="JetBrains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B47D6"/>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3B47D6"/>
              </a:gs>
              <a:gs pos="55000">
                <a:srgbClr val="2A2B9E"/>
              </a:gs>
              <a:gs pos="100000">
                <a:srgbClr val="1B1F6B"/>
              </a:gs>
            </a:gsLst>
            <a:lin ang="2700000" scaled="0"/>
          </a:gradFill>
          <a:ln/>
        </p:spPr>
      </p:sp>
      <p:sp>
        <p:nvSpPr>
          <p:cNvPr id="3" name="Text 1"/>
          <p:cNvSpPr/>
          <p:nvPr/>
        </p:nvSpPr>
        <p:spPr>
          <a:xfrm>
            <a:off x="812800" y="1450341"/>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300" kern="0" dirty="0">
                <a:solidFill>
                  <a:srgbClr val="A8F0F7"/>
                </a:solidFill>
                <a:latin typeface="JetBrains Mono" pitchFamily="49" charset="0"/>
                <a:ea typeface="JetBrains Mono" pitchFamily="49" charset="-122"/>
                <a:cs typeface="JetBrains Mono" pitchFamily="49" charset="-120"/>
              </a:rPr>
              <a:t>THE IDEA</a:t>
            </a:r>
            <a:endParaRPr lang="en-US" sz="1400" dirty="0"/>
          </a:p>
        </p:txBody>
      </p:sp>
      <p:sp>
        <p:nvSpPr>
          <p:cNvPr id="4" name="Text 2"/>
          <p:cNvSpPr/>
          <p:nvPr>
            <p:ph type="title"/>
          </p:nvPr>
        </p:nvSpPr>
        <p:spPr>
          <a:xfrm>
            <a:off x="812800" y="2004061"/>
            <a:ext cx="10203180" cy="2484120"/>
          </a:xfrm>
          <a:prstGeom prst="rect">
            <a:avLst/>
          </a:prstGeom>
          <a:noFill/>
          <a:ln/>
        </p:spPr>
        <p:txBody>
          <a:bodyPr wrap="square" lIns="0" tIns="0" rIns="0" bIns="0" rtlCol="0" anchor="t">
            <a:normAutofit/>
          </a:bodyPr>
          <a:lstStyle/>
          <a:p>
            <a:pPr algn="l" indent="0" marL="0">
              <a:lnSpc>
                <a:spcPts val="4840"/>
              </a:lnSpc>
              <a:buNone/>
            </a:pPr>
            <a:r>
              <a:rPr lang="en-US" sz="4400" b="1" i="0" spc="-100" kern="0" dirty="0">
                <a:solidFill>
                  <a:srgbClr val="F3F5FB"/>
                </a:solidFill>
                <a:latin typeface="Space Grotesk" pitchFamily="34" charset="0"/>
                <a:ea typeface="Space Grotesk" pitchFamily="34" charset="-122"/>
                <a:cs typeface="Space Grotesk" pitchFamily="34" charset="-120"/>
              </a:rPr>
              <a:t>One place where every fault is reported, assigned, worked and closed, whether it comes in by click, by chat or by phone call.</a:t>
            </a:r>
            <a:endParaRPr lang="en-US" sz="4400" dirty="0"/>
          </a:p>
        </p:txBody>
      </p:sp>
      <p:sp>
        <p:nvSpPr>
          <p:cNvPr id="5" name="Text 3"/>
          <p:cNvSpPr/>
          <p:nvPr/>
        </p:nvSpPr>
        <p:spPr>
          <a:xfrm>
            <a:off x="815975" y="4770755"/>
            <a:ext cx="912971" cy="430530"/>
          </a:xfrm>
          <a:prstGeom prst="roundRect">
            <a:avLst>
              <a:gd name="adj" fmla="val 50000"/>
            </a:avLst>
          </a:prstGeom>
          <a:solidFill>
            <a:srgbClr val="FFFFFF">
              <a:alpha val="12000"/>
            </a:srgbClr>
          </a:solidFill>
          <a:ln w="6350">
            <a:solidFill>
              <a:srgbClr val="FFFFFF">
                <a:alpha val="28000"/>
              </a:srgbClr>
            </a:solidFill>
            <a:prstDash val="solid"/>
          </a:ln>
        </p:spPr>
        <p:txBody>
          <a:bodyPr wrap="none" lIns="0" tIns="0" rIns="0" bIns="0" rtlCol="0" anchor="ctr">
            <a:normAutofit/>
          </a:bodyPr>
          <a:lstStyle/>
          <a:p>
            <a:pPr algn="ctr" indent="0" marL="0">
              <a:lnSpc>
                <a:spcPts val="1960"/>
              </a:lnSpc>
              <a:buNone/>
            </a:pPr>
            <a:r>
              <a:rPr lang="en-US" sz="1400" dirty="0">
                <a:solidFill>
                  <a:srgbClr val="F3F5FB"/>
                </a:solidFill>
                <a:latin typeface="DM Sans" pitchFamily="34" charset="0"/>
                <a:ea typeface="DM Sans" pitchFamily="34" charset="-122"/>
                <a:cs typeface="DM Sans" pitchFamily="34" charset="-120"/>
              </a:rPr>
              <a:t>Report</a:t>
            </a:r>
            <a:endParaRPr lang="en-US" sz="1400" dirty="0"/>
          </a:p>
        </p:txBody>
      </p:sp>
      <p:sp>
        <p:nvSpPr>
          <p:cNvPr id="6" name="Text 4"/>
          <p:cNvSpPr/>
          <p:nvPr/>
        </p:nvSpPr>
        <p:spPr>
          <a:xfrm>
            <a:off x="1887696" y="4770755"/>
            <a:ext cx="899954" cy="430530"/>
          </a:xfrm>
          <a:prstGeom prst="roundRect">
            <a:avLst>
              <a:gd name="adj" fmla="val 50000"/>
            </a:avLst>
          </a:prstGeom>
          <a:solidFill>
            <a:srgbClr val="FFFFFF">
              <a:alpha val="12000"/>
            </a:srgbClr>
          </a:solidFill>
          <a:ln w="6350">
            <a:solidFill>
              <a:srgbClr val="FFFFFF">
                <a:alpha val="28000"/>
              </a:srgbClr>
            </a:solidFill>
            <a:prstDash val="solid"/>
          </a:ln>
        </p:spPr>
        <p:txBody>
          <a:bodyPr wrap="none" lIns="0" tIns="0" rIns="0" bIns="0" rtlCol="0" anchor="ctr">
            <a:normAutofit/>
          </a:bodyPr>
          <a:lstStyle/>
          <a:p>
            <a:pPr algn="ctr" indent="0" marL="0">
              <a:lnSpc>
                <a:spcPts val="1960"/>
              </a:lnSpc>
              <a:buNone/>
            </a:pPr>
            <a:r>
              <a:rPr lang="en-US" sz="1400" dirty="0">
                <a:solidFill>
                  <a:srgbClr val="F3F5FB"/>
                </a:solidFill>
                <a:latin typeface="DM Sans" pitchFamily="34" charset="0"/>
                <a:ea typeface="DM Sans" pitchFamily="34" charset="-122"/>
                <a:cs typeface="DM Sans" pitchFamily="34" charset="-120"/>
              </a:rPr>
              <a:t>Assign</a:t>
            </a:r>
            <a:endParaRPr lang="en-US" sz="1400" dirty="0"/>
          </a:p>
        </p:txBody>
      </p:sp>
      <p:sp>
        <p:nvSpPr>
          <p:cNvPr id="7" name="Text 5"/>
          <p:cNvSpPr/>
          <p:nvPr/>
        </p:nvSpPr>
        <p:spPr>
          <a:xfrm>
            <a:off x="2946400" y="4770755"/>
            <a:ext cx="802878" cy="430530"/>
          </a:xfrm>
          <a:prstGeom prst="roundRect">
            <a:avLst>
              <a:gd name="adj" fmla="val 50000"/>
            </a:avLst>
          </a:prstGeom>
          <a:solidFill>
            <a:srgbClr val="FFFFFF">
              <a:alpha val="12000"/>
            </a:srgbClr>
          </a:solidFill>
          <a:ln w="6350">
            <a:solidFill>
              <a:srgbClr val="FFFFFF">
                <a:alpha val="28000"/>
              </a:srgbClr>
            </a:solidFill>
            <a:prstDash val="solid"/>
          </a:ln>
        </p:spPr>
        <p:txBody>
          <a:bodyPr wrap="none" lIns="0" tIns="0" rIns="0" bIns="0" rtlCol="0" anchor="ctr">
            <a:normAutofit/>
          </a:bodyPr>
          <a:lstStyle/>
          <a:p>
            <a:pPr algn="ctr" indent="0" marL="0">
              <a:lnSpc>
                <a:spcPts val="1960"/>
              </a:lnSpc>
              <a:buNone/>
            </a:pPr>
            <a:r>
              <a:rPr lang="en-US" sz="1400" dirty="0">
                <a:solidFill>
                  <a:srgbClr val="F3F5FB"/>
                </a:solidFill>
                <a:latin typeface="DM Sans" pitchFamily="34" charset="0"/>
                <a:ea typeface="DM Sans" pitchFamily="34" charset="-122"/>
                <a:cs typeface="DM Sans" pitchFamily="34" charset="-120"/>
              </a:rPr>
              <a:t>Track</a:t>
            </a:r>
            <a:endParaRPr lang="en-US" sz="1400" dirty="0"/>
          </a:p>
        </p:txBody>
      </p:sp>
      <p:sp>
        <p:nvSpPr>
          <p:cNvPr id="8" name="Text 6"/>
          <p:cNvSpPr/>
          <p:nvPr/>
        </p:nvSpPr>
        <p:spPr>
          <a:xfrm>
            <a:off x="3908028" y="4770755"/>
            <a:ext cx="822246" cy="430530"/>
          </a:xfrm>
          <a:prstGeom prst="roundRect">
            <a:avLst>
              <a:gd name="adj" fmla="val 50000"/>
            </a:avLst>
          </a:prstGeom>
          <a:solidFill>
            <a:srgbClr val="FFFFFF">
              <a:alpha val="12000"/>
            </a:srgbClr>
          </a:solidFill>
          <a:ln w="6350">
            <a:solidFill>
              <a:srgbClr val="FFFFFF">
                <a:alpha val="28000"/>
              </a:srgbClr>
            </a:solidFill>
            <a:prstDash val="solid"/>
          </a:ln>
        </p:spPr>
        <p:txBody>
          <a:bodyPr wrap="none" lIns="0" tIns="0" rIns="0" bIns="0" rtlCol="0" anchor="ctr">
            <a:normAutofit/>
          </a:bodyPr>
          <a:lstStyle/>
          <a:p>
            <a:pPr algn="ctr" indent="0" marL="0">
              <a:lnSpc>
                <a:spcPts val="1960"/>
              </a:lnSpc>
              <a:buNone/>
            </a:pPr>
            <a:r>
              <a:rPr lang="en-US" sz="1400" dirty="0">
                <a:solidFill>
                  <a:srgbClr val="F3F5FB"/>
                </a:solidFill>
                <a:latin typeface="DM Sans" pitchFamily="34" charset="0"/>
                <a:ea typeface="DM Sans" pitchFamily="34" charset="-122"/>
                <a:cs typeface="DM Sans" pitchFamily="34" charset="-120"/>
              </a:rPr>
              <a:t>Close</a:t>
            </a:r>
            <a:endParaRPr lang="en-US" sz="1400" dirty="0"/>
          </a:p>
        </p:txBody>
      </p:sp>
      <p:sp>
        <p:nvSpPr>
          <p:cNvPr id="9" name="Text 7"/>
          <p:cNvSpPr/>
          <p:nvPr/>
        </p:nvSpPr>
        <p:spPr>
          <a:xfrm>
            <a:off x="4889024" y="4770755"/>
            <a:ext cx="814943" cy="430530"/>
          </a:xfrm>
          <a:prstGeom prst="roundRect">
            <a:avLst>
              <a:gd name="adj" fmla="val 50000"/>
            </a:avLst>
          </a:prstGeom>
          <a:solidFill>
            <a:srgbClr val="FFFFFF">
              <a:alpha val="12000"/>
            </a:srgbClr>
          </a:solidFill>
          <a:ln w="6350">
            <a:solidFill>
              <a:srgbClr val="FFFFFF">
                <a:alpha val="28000"/>
              </a:srgbClr>
            </a:solidFill>
            <a:prstDash val="solid"/>
          </a:ln>
        </p:spPr>
        <p:txBody>
          <a:bodyPr wrap="none" lIns="0" tIns="0" rIns="0" bIns="0" rtlCol="0" anchor="ctr">
            <a:normAutofit/>
          </a:bodyPr>
          <a:lstStyle/>
          <a:p>
            <a:pPr algn="ctr" indent="0" marL="0">
              <a:lnSpc>
                <a:spcPts val="1960"/>
              </a:lnSpc>
              <a:buNone/>
            </a:pPr>
            <a:r>
              <a:rPr lang="en-US" sz="1400" dirty="0">
                <a:solidFill>
                  <a:srgbClr val="F3F5FB"/>
                </a:solidFill>
                <a:latin typeface="DM Sans" pitchFamily="34" charset="0"/>
                <a:ea typeface="DM Sans" pitchFamily="34" charset="-122"/>
                <a:cs typeface="DM Sans" pitchFamily="34" charset="-120"/>
              </a:rPr>
              <a:t>Learn</a:t>
            </a:r>
            <a:endParaRPr lang="en-US" sz="1400" dirty="0"/>
          </a:p>
        </p:txBody>
      </p:sp>
      <p:sp>
        <p:nvSpPr>
          <p:cNvPr id="10" name="Text 8"/>
          <p:cNvSpPr/>
          <p:nvPr/>
        </p:nvSpPr>
        <p:spPr>
          <a:xfrm>
            <a:off x="812800" y="6236970"/>
            <a:ext cx="1591056"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C9CEF5"/>
                </a:solidFill>
                <a:latin typeface="JetBrains Mono" pitchFamily="49" charset="0"/>
                <a:ea typeface="JetBrains Mono" pitchFamily="49" charset="-122"/>
                <a:cs typeface="JetBrains Mono" pitchFamily="49" charset="-120"/>
              </a:rPr>
              <a:t>EQUINOX CMMS</a:t>
            </a:r>
            <a:endParaRPr lang="en-US" sz="1200" dirty="0"/>
          </a:p>
        </p:txBody>
      </p:sp>
      <p:sp>
        <p:nvSpPr>
          <p:cNvPr id="11" name="Text 9"/>
          <p:cNvSpPr/>
          <p:nvPr/>
        </p:nvSpPr>
        <p:spPr>
          <a:xfrm>
            <a:off x="11107420" y="6236970"/>
            <a:ext cx="271780" cy="238760"/>
          </a:xfrm>
          <a:prstGeom prst="rect">
            <a:avLst/>
          </a:prstGeom>
          <a:noFill/>
          <a:ln/>
        </p:spPr>
        <p:txBody>
          <a:bodyPr wrap="square" lIns="0" tIns="0" rIns="0" bIns="0" rtlCol="0" anchor="t">
            <a:normAutofit/>
          </a:bodyPr>
          <a:lstStyle/>
          <a:p>
            <a:pPr algn="r" indent="0" marL="0">
              <a:lnSpc>
                <a:spcPts val="1680"/>
              </a:lnSpc>
              <a:buNone/>
            </a:pPr>
            <a:r>
              <a:rPr lang="en-US" sz="1200" spc="150" kern="0" dirty="0">
                <a:solidFill>
                  <a:srgbClr val="C9CEF5"/>
                </a:solidFill>
                <a:latin typeface="JetBrains Mono" pitchFamily="49" charset="0"/>
                <a:ea typeface="JetBrains Mono" pitchFamily="49" charset="-122"/>
                <a:cs typeface="JetBrains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3FD6E6"/>
                </a:solidFill>
                <a:latin typeface="JetBrains Mono" pitchFamily="49" charset="0"/>
                <a:ea typeface="JetBrains Mono" pitchFamily="49" charset="-122"/>
                <a:cs typeface="JetBrains Mono" pitchFamily="49" charset="-120"/>
              </a:rPr>
              <a:t>THE PLATFORM</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E8ECF7"/>
                </a:solidFill>
                <a:latin typeface="Space Grotesk" pitchFamily="34" charset="0"/>
                <a:ea typeface="Space Grotesk" pitchFamily="34" charset="-122"/>
                <a:cs typeface="Space Grotesk" pitchFamily="34" charset="-120"/>
              </a:rPr>
              <a:t>Everything maintenance needs, in one app</a:t>
            </a:r>
            <a:endParaRPr lang="en-US" sz="3200" dirty="0"/>
          </a:p>
        </p:txBody>
      </p:sp>
      <p:sp>
        <p:nvSpPr>
          <p:cNvPr id="4" name="Shape 2"/>
          <p:cNvSpPr/>
          <p:nvPr/>
        </p:nvSpPr>
        <p:spPr>
          <a:xfrm>
            <a:off x="815975" y="1882775"/>
            <a:ext cx="1985010" cy="1888490"/>
          </a:xfrm>
          <a:prstGeom prst="roundRect">
            <a:avLst>
              <a:gd name="adj" fmla="val 6557"/>
            </a:avLst>
          </a:prstGeom>
          <a:solidFill>
            <a:srgbClr val="131C30"/>
          </a:solidFill>
          <a:ln w="6350">
            <a:solidFill>
              <a:srgbClr val="24304D"/>
            </a:solidFill>
            <a:prstDash val="solid"/>
          </a:ln>
        </p:spPr>
      </p:sp>
      <p:pic>
        <p:nvPicPr>
          <p:cNvPr id="5" name="Image 0" descr="Wrench">    </p:cNvPr>
          <p:cNvPicPr>
            <a:picLocks noChangeAspect="1"/>
          </p:cNvPicPr>
          <p:nvPr/>
        </p:nvPicPr>
        <p:blipFill>
          <a:blip r:embed="rId1"/>
          <a:srcRect l="0" r="0" t="0" b="0"/>
          <a:stretch/>
        </p:blipFill>
        <p:spPr>
          <a:xfrm>
            <a:off x="995680" y="2062480"/>
            <a:ext cx="254000" cy="254000"/>
          </a:xfrm>
          <a:prstGeom prst="rect">
            <a:avLst/>
          </a:prstGeom>
        </p:spPr>
      </p:pic>
      <p:sp>
        <p:nvSpPr>
          <p:cNvPr id="6" name="Text 3"/>
          <p:cNvSpPr/>
          <p:nvPr/>
        </p:nvSpPr>
        <p:spPr>
          <a:xfrm>
            <a:off x="995680" y="2405380"/>
            <a:ext cx="16764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ECF7"/>
                </a:solidFill>
                <a:latin typeface="Space Grotesk" pitchFamily="34" charset="0"/>
                <a:ea typeface="Space Grotesk" pitchFamily="34" charset="-122"/>
                <a:cs typeface="Space Grotesk" pitchFamily="34" charset="-120"/>
              </a:rPr>
              <a:t>Work orders</a:t>
            </a:r>
            <a:endParaRPr lang="en-US" sz="1600" dirty="0"/>
          </a:p>
        </p:txBody>
      </p:sp>
      <p:sp>
        <p:nvSpPr>
          <p:cNvPr id="7" name="Text 4"/>
          <p:cNvSpPr/>
          <p:nvPr/>
        </p:nvSpPr>
        <p:spPr>
          <a:xfrm>
            <a:off x="995680" y="2738120"/>
            <a:ext cx="16764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F"/>
                </a:solidFill>
                <a:latin typeface="DM Sans" pitchFamily="34" charset="0"/>
                <a:ea typeface="DM Sans" pitchFamily="34" charset="-122"/>
                <a:cs typeface="DM Sans" pitchFamily="34" charset="-120"/>
              </a:rPr>
              <a:t>Assign, track and close jobs with tasks, time, parts and signatures.</a:t>
            </a:r>
            <a:endParaRPr lang="en-US" sz="1200" dirty="0"/>
          </a:p>
        </p:txBody>
      </p:sp>
      <p:sp>
        <p:nvSpPr>
          <p:cNvPr id="8" name="Shape 5"/>
          <p:cNvSpPr/>
          <p:nvPr/>
        </p:nvSpPr>
        <p:spPr>
          <a:xfrm>
            <a:off x="2959735" y="1882775"/>
            <a:ext cx="1985010" cy="1888490"/>
          </a:xfrm>
          <a:prstGeom prst="roundRect">
            <a:avLst>
              <a:gd name="adj" fmla="val 6557"/>
            </a:avLst>
          </a:prstGeom>
          <a:solidFill>
            <a:srgbClr val="131C30"/>
          </a:solidFill>
          <a:ln w="6350">
            <a:solidFill>
              <a:srgbClr val="24304D"/>
            </a:solidFill>
            <a:prstDash val="solid"/>
          </a:ln>
        </p:spPr>
      </p:sp>
      <p:pic>
        <p:nvPicPr>
          <p:cNvPr id="9" name="Image 1" descr="Clock">    </p:cNvPr>
          <p:cNvPicPr>
            <a:picLocks noChangeAspect="1"/>
          </p:cNvPicPr>
          <p:nvPr/>
        </p:nvPicPr>
        <p:blipFill>
          <a:blip r:embed="rId2"/>
          <a:srcRect l="0" r="0" t="0" b="0"/>
          <a:stretch/>
        </p:blipFill>
        <p:spPr>
          <a:xfrm>
            <a:off x="3139440" y="2062480"/>
            <a:ext cx="254000" cy="254000"/>
          </a:xfrm>
          <a:prstGeom prst="rect">
            <a:avLst/>
          </a:prstGeom>
        </p:spPr>
      </p:pic>
      <p:sp>
        <p:nvSpPr>
          <p:cNvPr id="10" name="Text 6"/>
          <p:cNvSpPr/>
          <p:nvPr/>
        </p:nvSpPr>
        <p:spPr>
          <a:xfrm>
            <a:off x="3139440" y="2405380"/>
            <a:ext cx="16764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ECF7"/>
                </a:solidFill>
                <a:latin typeface="Space Grotesk" pitchFamily="34" charset="0"/>
                <a:ea typeface="Space Grotesk" pitchFamily="34" charset="-122"/>
                <a:cs typeface="Space Grotesk" pitchFamily="34" charset="-120"/>
              </a:rPr>
              <a:t>Planned work</a:t>
            </a:r>
            <a:endParaRPr lang="en-US" sz="1600" dirty="0"/>
          </a:p>
        </p:txBody>
      </p:sp>
      <p:sp>
        <p:nvSpPr>
          <p:cNvPr id="11" name="Text 7"/>
          <p:cNvSpPr/>
          <p:nvPr/>
        </p:nvSpPr>
        <p:spPr>
          <a:xfrm>
            <a:off x="3139440" y="2738120"/>
            <a:ext cx="167640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F"/>
                </a:solidFill>
                <a:latin typeface="DM Sans" pitchFamily="34" charset="0"/>
                <a:ea typeface="DM Sans" pitchFamily="34" charset="-122"/>
                <a:cs typeface="DM Sans" pitchFamily="34" charset="-120"/>
              </a:rPr>
              <a:t>Preventive maintenance that runs on a schedule, before machines fail.</a:t>
            </a:r>
            <a:endParaRPr lang="en-US" sz="1200" dirty="0"/>
          </a:p>
        </p:txBody>
      </p:sp>
      <p:sp>
        <p:nvSpPr>
          <p:cNvPr id="12" name="Shape 8"/>
          <p:cNvSpPr/>
          <p:nvPr/>
        </p:nvSpPr>
        <p:spPr>
          <a:xfrm>
            <a:off x="5103495" y="1882775"/>
            <a:ext cx="1985010" cy="1888490"/>
          </a:xfrm>
          <a:prstGeom prst="roundRect">
            <a:avLst>
              <a:gd name="adj" fmla="val 6557"/>
            </a:avLst>
          </a:prstGeom>
          <a:solidFill>
            <a:srgbClr val="131C30"/>
          </a:solidFill>
          <a:ln w="6350">
            <a:solidFill>
              <a:srgbClr val="24304D"/>
            </a:solidFill>
            <a:prstDash val="solid"/>
          </a:ln>
        </p:spPr>
      </p:sp>
      <p:pic>
        <p:nvPicPr>
          <p:cNvPr id="13" name="Image 2" descr="Settings">    </p:cNvPr>
          <p:cNvPicPr>
            <a:picLocks noChangeAspect="1"/>
          </p:cNvPicPr>
          <p:nvPr/>
        </p:nvPicPr>
        <p:blipFill>
          <a:blip r:embed="rId3"/>
          <a:srcRect l="0" r="0" t="0" b="0"/>
          <a:stretch/>
        </p:blipFill>
        <p:spPr>
          <a:xfrm>
            <a:off x="5283200" y="2062480"/>
            <a:ext cx="254000" cy="254000"/>
          </a:xfrm>
          <a:prstGeom prst="rect">
            <a:avLst/>
          </a:prstGeom>
        </p:spPr>
      </p:pic>
      <p:sp>
        <p:nvSpPr>
          <p:cNvPr id="14" name="Text 9"/>
          <p:cNvSpPr/>
          <p:nvPr/>
        </p:nvSpPr>
        <p:spPr>
          <a:xfrm>
            <a:off x="5283200" y="2405380"/>
            <a:ext cx="16764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ECF7"/>
                </a:solidFill>
                <a:latin typeface="Space Grotesk" pitchFamily="34" charset="0"/>
                <a:ea typeface="Space Grotesk" pitchFamily="34" charset="-122"/>
                <a:cs typeface="Space Grotesk" pitchFamily="34" charset="-120"/>
              </a:rPr>
              <a:t>Assets</a:t>
            </a:r>
            <a:endParaRPr lang="en-US" sz="1600" dirty="0"/>
          </a:p>
        </p:txBody>
      </p:sp>
      <p:sp>
        <p:nvSpPr>
          <p:cNvPr id="15" name="Text 10"/>
          <p:cNvSpPr/>
          <p:nvPr/>
        </p:nvSpPr>
        <p:spPr>
          <a:xfrm>
            <a:off x="5283200" y="2738120"/>
            <a:ext cx="167640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F"/>
                </a:solidFill>
                <a:latin typeface="DM Sans" pitchFamily="34" charset="0"/>
                <a:ea typeface="DM Sans" pitchFamily="34" charset="-122"/>
                <a:cs typeface="DM Sans" pitchFamily="34" charset="-120"/>
              </a:rPr>
              <a:t>Every machine with its location, files, downtime and full history.</a:t>
            </a:r>
            <a:endParaRPr lang="en-US" sz="1200" dirty="0"/>
          </a:p>
        </p:txBody>
      </p:sp>
      <p:sp>
        <p:nvSpPr>
          <p:cNvPr id="16" name="Shape 11"/>
          <p:cNvSpPr/>
          <p:nvPr/>
        </p:nvSpPr>
        <p:spPr>
          <a:xfrm>
            <a:off x="7247255" y="1882775"/>
            <a:ext cx="1985010" cy="1888490"/>
          </a:xfrm>
          <a:prstGeom prst="roundRect">
            <a:avLst>
              <a:gd name="adj" fmla="val 6557"/>
            </a:avLst>
          </a:prstGeom>
          <a:solidFill>
            <a:srgbClr val="131C30"/>
          </a:solidFill>
          <a:ln w="6350">
            <a:solidFill>
              <a:srgbClr val="24304D"/>
            </a:solidFill>
            <a:prstDash val="solid"/>
          </a:ln>
        </p:spPr>
      </p:sp>
      <p:pic>
        <p:nvPicPr>
          <p:cNvPr id="17" name="Image 3" descr="PaperPlane">    </p:cNvPr>
          <p:cNvPicPr>
            <a:picLocks noChangeAspect="1"/>
          </p:cNvPicPr>
          <p:nvPr/>
        </p:nvPicPr>
        <p:blipFill>
          <a:blip r:embed="rId4"/>
          <a:srcRect l="0" r="0" t="0" b="0"/>
          <a:stretch/>
        </p:blipFill>
        <p:spPr>
          <a:xfrm>
            <a:off x="7426960" y="2062480"/>
            <a:ext cx="254000" cy="254000"/>
          </a:xfrm>
          <a:prstGeom prst="rect">
            <a:avLst/>
          </a:prstGeom>
        </p:spPr>
      </p:pic>
      <p:sp>
        <p:nvSpPr>
          <p:cNvPr id="18" name="Text 12"/>
          <p:cNvSpPr/>
          <p:nvPr/>
        </p:nvSpPr>
        <p:spPr>
          <a:xfrm>
            <a:off x="7426960" y="2405380"/>
            <a:ext cx="16764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ECF7"/>
                </a:solidFill>
                <a:latin typeface="Space Grotesk" pitchFamily="34" charset="0"/>
                <a:ea typeface="Space Grotesk" pitchFamily="34" charset="-122"/>
                <a:cs typeface="Space Grotesk" pitchFamily="34" charset="-120"/>
              </a:rPr>
              <a:t>Requests</a:t>
            </a:r>
            <a:endParaRPr lang="en-US" sz="1600" dirty="0"/>
          </a:p>
        </p:txBody>
      </p:sp>
      <p:sp>
        <p:nvSpPr>
          <p:cNvPr id="19" name="Text 13"/>
          <p:cNvSpPr/>
          <p:nvPr/>
        </p:nvSpPr>
        <p:spPr>
          <a:xfrm>
            <a:off x="7426960" y="2738120"/>
            <a:ext cx="167640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F"/>
                </a:solidFill>
                <a:latin typeface="DM Sans" pitchFamily="34" charset="0"/>
                <a:ea typeface="DM Sans" pitchFamily="34" charset="-122"/>
                <a:cs typeface="DM Sans" pitchFamily="34" charset="-120"/>
              </a:rPr>
              <a:t>Anyone can report a fault, even without an account, through a public link.</a:t>
            </a:r>
            <a:endParaRPr lang="en-US" sz="1200" dirty="0"/>
          </a:p>
        </p:txBody>
      </p:sp>
      <p:sp>
        <p:nvSpPr>
          <p:cNvPr id="20" name="Shape 14"/>
          <p:cNvSpPr/>
          <p:nvPr/>
        </p:nvSpPr>
        <p:spPr>
          <a:xfrm>
            <a:off x="9391015" y="1882775"/>
            <a:ext cx="1985010" cy="1888490"/>
          </a:xfrm>
          <a:prstGeom prst="roundRect">
            <a:avLst>
              <a:gd name="adj" fmla="val 6557"/>
            </a:avLst>
          </a:prstGeom>
          <a:solidFill>
            <a:srgbClr val="131C30"/>
          </a:solidFill>
          <a:ln w="6350">
            <a:solidFill>
              <a:srgbClr val="24304D"/>
            </a:solidFill>
            <a:prstDash val="solid"/>
          </a:ln>
        </p:spPr>
      </p:sp>
      <p:pic>
        <p:nvPicPr>
          <p:cNvPr id="21" name="Image 4" descr="Database">    </p:cNvPr>
          <p:cNvPicPr>
            <a:picLocks noChangeAspect="1"/>
          </p:cNvPicPr>
          <p:nvPr/>
        </p:nvPicPr>
        <p:blipFill>
          <a:blip r:embed="rId5"/>
          <a:srcRect l="0" r="0" t="0" b="0"/>
          <a:stretch/>
        </p:blipFill>
        <p:spPr>
          <a:xfrm>
            <a:off x="9570720" y="2062480"/>
            <a:ext cx="254000" cy="254000"/>
          </a:xfrm>
          <a:prstGeom prst="rect">
            <a:avLst/>
          </a:prstGeom>
        </p:spPr>
      </p:pic>
      <p:sp>
        <p:nvSpPr>
          <p:cNvPr id="22" name="Text 15"/>
          <p:cNvSpPr/>
          <p:nvPr/>
        </p:nvSpPr>
        <p:spPr>
          <a:xfrm>
            <a:off x="9570720" y="2405380"/>
            <a:ext cx="16764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ECF7"/>
                </a:solidFill>
                <a:latin typeface="Space Grotesk" pitchFamily="34" charset="0"/>
                <a:ea typeface="Space Grotesk" pitchFamily="34" charset="-122"/>
                <a:cs typeface="Space Grotesk" pitchFamily="34" charset="-120"/>
              </a:rPr>
              <a:t>Inventory</a:t>
            </a:r>
            <a:endParaRPr lang="en-US" sz="1600" dirty="0"/>
          </a:p>
        </p:txBody>
      </p:sp>
      <p:sp>
        <p:nvSpPr>
          <p:cNvPr id="23" name="Text 16"/>
          <p:cNvSpPr/>
          <p:nvPr/>
        </p:nvSpPr>
        <p:spPr>
          <a:xfrm>
            <a:off x="9570720" y="2738120"/>
            <a:ext cx="16764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F"/>
                </a:solidFill>
                <a:latin typeface="DM Sans" pitchFamily="34" charset="0"/>
                <a:ea typeface="DM Sans" pitchFamily="34" charset="-122"/>
                <a:cs typeface="DM Sans" pitchFamily="34" charset="-120"/>
              </a:rPr>
              <a:t>Spare-part stock, low-stock tracking and purchase orders.</a:t>
            </a:r>
            <a:endParaRPr lang="en-US" sz="1200" dirty="0"/>
          </a:p>
        </p:txBody>
      </p:sp>
      <p:sp>
        <p:nvSpPr>
          <p:cNvPr id="24" name="Shape 17"/>
          <p:cNvSpPr/>
          <p:nvPr/>
        </p:nvSpPr>
        <p:spPr>
          <a:xfrm>
            <a:off x="815975" y="3930016"/>
            <a:ext cx="1985010" cy="1888490"/>
          </a:xfrm>
          <a:prstGeom prst="roundRect">
            <a:avLst>
              <a:gd name="adj" fmla="val 6557"/>
            </a:avLst>
          </a:prstGeom>
          <a:solidFill>
            <a:srgbClr val="131C30"/>
          </a:solidFill>
          <a:ln w="6350">
            <a:solidFill>
              <a:srgbClr val="24304D"/>
            </a:solidFill>
            <a:prstDash val="solid"/>
          </a:ln>
        </p:spPr>
      </p:sp>
      <p:pic>
        <p:nvPicPr>
          <p:cNvPr id="25" name="Image 5" descr="Activity">    </p:cNvPr>
          <p:cNvPicPr>
            <a:picLocks noChangeAspect="1"/>
          </p:cNvPicPr>
          <p:nvPr/>
        </p:nvPicPr>
        <p:blipFill>
          <a:blip r:embed="rId6"/>
          <a:srcRect l="0" r="0" t="0" b="0"/>
          <a:stretch/>
        </p:blipFill>
        <p:spPr>
          <a:xfrm>
            <a:off x="995680" y="4109720"/>
            <a:ext cx="254000" cy="254000"/>
          </a:xfrm>
          <a:prstGeom prst="rect">
            <a:avLst/>
          </a:prstGeom>
        </p:spPr>
      </p:pic>
      <p:sp>
        <p:nvSpPr>
          <p:cNvPr id="26" name="Text 18"/>
          <p:cNvSpPr/>
          <p:nvPr/>
        </p:nvSpPr>
        <p:spPr>
          <a:xfrm>
            <a:off x="995680" y="4452620"/>
            <a:ext cx="16764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ECF7"/>
                </a:solidFill>
                <a:latin typeface="Space Grotesk" pitchFamily="34" charset="0"/>
                <a:ea typeface="Space Grotesk" pitchFamily="34" charset="-122"/>
                <a:cs typeface="Space Grotesk" pitchFamily="34" charset="-120"/>
              </a:rPr>
              <a:t>Meters</a:t>
            </a:r>
            <a:endParaRPr lang="en-US" sz="1600" dirty="0"/>
          </a:p>
        </p:txBody>
      </p:sp>
      <p:sp>
        <p:nvSpPr>
          <p:cNvPr id="27" name="Text 19"/>
          <p:cNvSpPr/>
          <p:nvPr/>
        </p:nvSpPr>
        <p:spPr>
          <a:xfrm>
            <a:off x="995680" y="4785361"/>
            <a:ext cx="167640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F"/>
                </a:solidFill>
                <a:latin typeface="DM Sans" pitchFamily="34" charset="0"/>
                <a:ea typeface="DM Sans" pitchFamily="34" charset="-122"/>
                <a:cs typeface="DM Sans" pitchFamily="34" charset="-120"/>
              </a:rPr>
              <a:t>Readings that open a work order on their own when a limit is crossed.</a:t>
            </a:r>
            <a:endParaRPr lang="en-US" sz="1200" dirty="0"/>
          </a:p>
        </p:txBody>
      </p:sp>
      <p:sp>
        <p:nvSpPr>
          <p:cNvPr id="28" name="Shape 20"/>
          <p:cNvSpPr/>
          <p:nvPr/>
        </p:nvSpPr>
        <p:spPr>
          <a:xfrm>
            <a:off x="2959735" y="3930016"/>
            <a:ext cx="1985010" cy="1888490"/>
          </a:xfrm>
          <a:prstGeom prst="roundRect">
            <a:avLst>
              <a:gd name="adj" fmla="val 6557"/>
            </a:avLst>
          </a:prstGeom>
          <a:solidFill>
            <a:srgbClr val="131C30"/>
          </a:solidFill>
          <a:ln w="6350">
            <a:solidFill>
              <a:srgbClr val="24304D"/>
            </a:solidFill>
            <a:prstDash val="solid"/>
          </a:ln>
        </p:spPr>
      </p:sp>
      <p:pic>
        <p:nvPicPr>
          <p:cNvPr id="29" name="Image 6" descr="Globe">    </p:cNvPr>
          <p:cNvPicPr>
            <a:picLocks noChangeAspect="1"/>
          </p:cNvPicPr>
          <p:nvPr/>
        </p:nvPicPr>
        <p:blipFill>
          <a:blip r:embed="rId7"/>
          <a:srcRect l="0" r="0" t="0" b="0"/>
          <a:stretch/>
        </p:blipFill>
        <p:spPr>
          <a:xfrm>
            <a:off x="3139440" y="4109720"/>
            <a:ext cx="254000" cy="254000"/>
          </a:xfrm>
          <a:prstGeom prst="rect">
            <a:avLst/>
          </a:prstGeom>
        </p:spPr>
      </p:pic>
      <p:sp>
        <p:nvSpPr>
          <p:cNvPr id="30" name="Text 21"/>
          <p:cNvSpPr/>
          <p:nvPr/>
        </p:nvSpPr>
        <p:spPr>
          <a:xfrm>
            <a:off x="3139440" y="4452620"/>
            <a:ext cx="16764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ECF7"/>
                </a:solidFill>
                <a:latin typeface="Space Grotesk" pitchFamily="34" charset="0"/>
                <a:ea typeface="Space Grotesk" pitchFamily="34" charset="-122"/>
                <a:cs typeface="Space Grotesk" pitchFamily="34" charset="-120"/>
              </a:rPr>
              <a:t>Locations</a:t>
            </a:r>
            <a:endParaRPr lang="en-US" sz="1600" dirty="0"/>
          </a:p>
        </p:txBody>
      </p:sp>
      <p:sp>
        <p:nvSpPr>
          <p:cNvPr id="31" name="Text 22"/>
          <p:cNvSpPr/>
          <p:nvPr/>
        </p:nvSpPr>
        <p:spPr>
          <a:xfrm>
            <a:off x="3139440" y="4785361"/>
            <a:ext cx="16764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F"/>
                </a:solidFill>
                <a:latin typeface="DM Sans" pitchFamily="34" charset="0"/>
                <a:ea typeface="DM Sans" pitchFamily="34" charset="-122"/>
                <a:cs typeface="DM Sans" pitchFamily="34" charset="-120"/>
              </a:rPr>
              <a:t>Sites and areas on a map, with their assets and teams.</a:t>
            </a:r>
            <a:endParaRPr lang="en-US" sz="1200" dirty="0"/>
          </a:p>
        </p:txBody>
      </p:sp>
      <p:sp>
        <p:nvSpPr>
          <p:cNvPr id="32" name="Shape 23"/>
          <p:cNvSpPr/>
          <p:nvPr/>
        </p:nvSpPr>
        <p:spPr>
          <a:xfrm>
            <a:off x="5103495" y="3930016"/>
            <a:ext cx="1985010" cy="1888490"/>
          </a:xfrm>
          <a:prstGeom prst="roundRect">
            <a:avLst>
              <a:gd name="adj" fmla="val 6557"/>
            </a:avLst>
          </a:prstGeom>
          <a:solidFill>
            <a:srgbClr val="131C30"/>
          </a:solidFill>
          <a:ln w="6350">
            <a:solidFill>
              <a:srgbClr val="24304D"/>
            </a:solidFill>
            <a:prstDash val="solid"/>
          </a:ln>
        </p:spPr>
      </p:sp>
      <p:pic>
        <p:nvPicPr>
          <p:cNvPr id="33" name="Image 7" descr="Users">    </p:cNvPr>
          <p:cNvPicPr>
            <a:picLocks noChangeAspect="1"/>
          </p:cNvPicPr>
          <p:nvPr/>
        </p:nvPicPr>
        <p:blipFill>
          <a:blip r:embed="rId8"/>
          <a:srcRect l="0" r="0" t="0" b="0"/>
          <a:stretch/>
        </p:blipFill>
        <p:spPr>
          <a:xfrm>
            <a:off x="5283200" y="4109720"/>
            <a:ext cx="254000" cy="254000"/>
          </a:xfrm>
          <a:prstGeom prst="rect">
            <a:avLst/>
          </a:prstGeom>
        </p:spPr>
      </p:pic>
      <p:sp>
        <p:nvSpPr>
          <p:cNvPr id="34" name="Text 24"/>
          <p:cNvSpPr/>
          <p:nvPr/>
        </p:nvSpPr>
        <p:spPr>
          <a:xfrm>
            <a:off x="5283200" y="4452620"/>
            <a:ext cx="16764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ECF7"/>
                </a:solidFill>
                <a:latin typeface="Space Grotesk" pitchFamily="34" charset="0"/>
                <a:ea typeface="Space Grotesk" pitchFamily="34" charset="-122"/>
                <a:cs typeface="Space Grotesk" pitchFamily="34" charset="-120"/>
              </a:rPr>
              <a:t>People</a:t>
            </a:r>
            <a:endParaRPr lang="en-US" sz="1600" dirty="0"/>
          </a:p>
        </p:txBody>
      </p:sp>
      <p:sp>
        <p:nvSpPr>
          <p:cNvPr id="35" name="Text 25"/>
          <p:cNvSpPr/>
          <p:nvPr/>
        </p:nvSpPr>
        <p:spPr>
          <a:xfrm>
            <a:off x="5283200" y="4785361"/>
            <a:ext cx="167640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F"/>
                </a:solidFill>
                <a:latin typeface="DM Sans" pitchFamily="34" charset="0"/>
                <a:ea typeface="DM Sans" pitchFamily="34" charset="-122"/>
                <a:cs typeface="DM Sans" pitchFamily="34" charset="-120"/>
              </a:rPr>
              <a:t>Teams, roles, permissions, shifts and workload per technician.</a:t>
            </a:r>
            <a:endParaRPr lang="en-US" sz="1200" dirty="0"/>
          </a:p>
        </p:txBody>
      </p:sp>
      <p:sp>
        <p:nvSpPr>
          <p:cNvPr id="36" name="Shape 26"/>
          <p:cNvSpPr/>
          <p:nvPr/>
        </p:nvSpPr>
        <p:spPr>
          <a:xfrm>
            <a:off x="7247255" y="3930016"/>
            <a:ext cx="1985010" cy="1888490"/>
          </a:xfrm>
          <a:prstGeom prst="roundRect">
            <a:avLst>
              <a:gd name="adj" fmla="val 6557"/>
            </a:avLst>
          </a:prstGeom>
          <a:solidFill>
            <a:srgbClr val="131C30"/>
          </a:solidFill>
          <a:ln w="6350">
            <a:solidFill>
              <a:srgbClr val="24304D"/>
            </a:solidFill>
            <a:prstDash val="solid"/>
          </a:ln>
        </p:spPr>
      </p:sp>
      <p:pic>
        <p:nvPicPr>
          <p:cNvPr id="37" name="Image 8" descr="Chart">    </p:cNvPr>
          <p:cNvPicPr>
            <a:picLocks noChangeAspect="1"/>
          </p:cNvPicPr>
          <p:nvPr/>
        </p:nvPicPr>
        <p:blipFill>
          <a:blip r:embed="rId9"/>
          <a:srcRect l="0" r="0" t="0" b="0"/>
          <a:stretch/>
        </p:blipFill>
        <p:spPr>
          <a:xfrm>
            <a:off x="7426960" y="4109720"/>
            <a:ext cx="254000" cy="254000"/>
          </a:xfrm>
          <a:prstGeom prst="rect">
            <a:avLst/>
          </a:prstGeom>
        </p:spPr>
      </p:pic>
      <p:sp>
        <p:nvSpPr>
          <p:cNvPr id="38" name="Text 27"/>
          <p:cNvSpPr/>
          <p:nvPr/>
        </p:nvSpPr>
        <p:spPr>
          <a:xfrm>
            <a:off x="7426960" y="4452620"/>
            <a:ext cx="16764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ECF7"/>
                </a:solidFill>
                <a:latin typeface="Space Grotesk" pitchFamily="34" charset="0"/>
                <a:ea typeface="Space Grotesk" pitchFamily="34" charset="-122"/>
                <a:cs typeface="Space Grotesk" pitchFamily="34" charset="-120"/>
              </a:rPr>
              <a:t>Analytics</a:t>
            </a:r>
            <a:endParaRPr lang="en-US" sz="1600" dirty="0"/>
          </a:p>
        </p:txBody>
      </p:sp>
      <p:sp>
        <p:nvSpPr>
          <p:cNvPr id="39" name="Text 28"/>
          <p:cNvSpPr/>
          <p:nvPr/>
        </p:nvSpPr>
        <p:spPr>
          <a:xfrm>
            <a:off x="7426960" y="4785361"/>
            <a:ext cx="16764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F"/>
                </a:solidFill>
                <a:latin typeface="DM Sans" pitchFamily="34" charset="0"/>
                <a:ea typeface="DM Sans" pitchFamily="34" charset="-122"/>
                <a:cs typeface="DM Sans" pitchFamily="34" charset="-120"/>
              </a:rPr>
              <a:t>Repair times, failure intervals, costs and backlog at a glance.</a:t>
            </a:r>
            <a:endParaRPr lang="en-US" sz="1200" dirty="0"/>
          </a:p>
        </p:txBody>
      </p:sp>
      <p:sp>
        <p:nvSpPr>
          <p:cNvPr id="40" name="Shape 29"/>
          <p:cNvSpPr/>
          <p:nvPr/>
        </p:nvSpPr>
        <p:spPr>
          <a:xfrm>
            <a:off x="9391015" y="3930016"/>
            <a:ext cx="1985010" cy="1888490"/>
          </a:xfrm>
          <a:prstGeom prst="roundRect">
            <a:avLst>
              <a:gd name="adj" fmla="val 6557"/>
            </a:avLst>
          </a:prstGeom>
          <a:solidFill>
            <a:srgbClr val="131C30"/>
          </a:solidFill>
          <a:ln w="6350">
            <a:solidFill>
              <a:srgbClr val="24304D"/>
            </a:solidFill>
            <a:prstDash val="solid"/>
          </a:ln>
        </p:spPr>
      </p:sp>
      <p:pic>
        <p:nvPicPr>
          <p:cNvPr id="41" name="Image 9" descr="Link">    </p:cNvPr>
          <p:cNvPicPr>
            <a:picLocks noChangeAspect="1"/>
          </p:cNvPicPr>
          <p:nvPr/>
        </p:nvPicPr>
        <p:blipFill>
          <a:blip r:embed="rId10"/>
          <a:srcRect l="0" r="0" t="0" b="0"/>
          <a:stretch/>
        </p:blipFill>
        <p:spPr>
          <a:xfrm>
            <a:off x="9570720" y="4109720"/>
            <a:ext cx="254000" cy="254000"/>
          </a:xfrm>
          <a:prstGeom prst="rect">
            <a:avLst/>
          </a:prstGeom>
        </p:spPr>
      </p:pic>
      <p:sp>
        <p:nvSpPr>
          <p:cNvPr id="42" name="Text 30"/>
          <p:cNvSpPr/>
          <p:nvPr/>
        </p:nvSpPr>
        <p:spPr>
          <a:xfrm>
            <a:off x="9570720" y="4452620"/>
            <a:ext cx="167640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ECF7"/>
                </a:solidFill>
                <a:latin typeface="Space Grotesk" pitchFamily="34" charset="0"/>
                <a:ea typeface="Space Grotesk" pitchFamily="34" charset="-122"/>
                <a:cs typeface="Space Grotesk" pitchFamily="34" charset="-120"/>
              </a:rPr>
              <a:t>Integrations</a:t>
            </a:r>
            <a:endParaRPr lang="en-US" sz="1600" dirty="0"/>
          </a:p>
        </p:txBody>
      </p:sp>
      <p:sp>
        <p:nvSpPr>
          <p:cNvPr id="43" name="Text 31"/>
          <p:cNvSpPr/>
          <p:nvPr/>
        </p:nvSpPr>
        <p:spPr>
          <a:xfrm>
            <a:off x="9570720" y="4785361"/>
            <a:ext cx="167640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F"/>
                </a:solidFill>
                <a:latin typeface="DM Sans" pitchFamily="34" charset="0"/>
                <a:ea typeface="DM Sans" pitchFamily="34" charset="-122"/>
                <a:cs typeface="DM Sans" pitchFamily="34" charset="-120"/>
              </a:rPr>
              <a:t>REST API, API keys, webhooks and live updates.</a:t>
            </a:r>
            <a:endParaRPr lang="en-US" sz="1200" dirty="0"/>
          </a:p>
        </p:txBody>
      </p:sp>
      <p:sp>
        <p:nvSpPr>
          <p:cNvPr id="44" name="Text 32"/>
          <p:cNvSpPr/>
          <p:nvPr/>
        </p:nvSpPr>
        <p:spPr>
          <a:xfrm>
            <a:off x="812800" y="6236971"/>
            <a:ext cx="1591056"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792B3"/>
                </a:solidFill>
                <a:latin typeface="JetBrains Mono" pitchFamily="49" charset="0"/>
                <a:ea typeface="JetBrains Mono" pitchFamily="49" charset="-122"/>
                <a:cs typeface="JetBrains Mono" pitchFamily="49" charset="-120"/>
              </a:rPr>
              <a:t>EQUINOX CMMS</a:t>
            </a:r>
            <a:endParaRPr lang="en-US" sz="1200" dirty="0"/>
          </a:p>
        </p:txBody>
      </p:sp>
      <p:sp>
        <p:nvSpPr>
          <p:cNvPr id="45" name="Text 33"/>
          <p:cNvSpPr/>
          <p:nvPr/>
        </p:nvSpPr>
        <p:spPr>
          <a:xfrm>
            <a:off x="11107420" y="6236971"/>
            <a:ext cx="271780" cy="238760"/>
          </a:xfrm>
          <a:prstGeom prst="rect">
            <a:avLst/>
          </a:prstGeom>
          <a:noFill/>
          <a:ln/>
        </p:spPr>
        <p:txBody>
          <a:bodyPr wrap="square" lIns="0" tIns="0" rIns="0" bIns="0" rtlCol="0" anchor="t">
            <a:normAutofit/>
          </a:bodyPr>
          <a:lstStyle/>
          <a:p>
            <a:pPr algn="r" indent="0" marL="0">
              <a:lnSpc>
                <a:spcPts val="1680"/>
              </a:lnSpc>
              <a:buNone/>
            </a:pPr>
            <a:r>
              <a:rPr lang="en-US" sz="1200" spc="150" kern="0" dirty="0">
                <a:solidFill>
                  <a:srgbClr val="8792B3"/>
                </a:solidFill>
                <a:latin typeface="JetBrains Mono" pitchFamily="49" charset="0"/>
                <a:ea typeface="JetBrains Mono" pitchFamily="49" charset="-122"/>
                <a:cs typeface="JetBrains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453E0"/>
                </a:solidFill>
                <a:latin typeface="JetBrains Mono" pitchFamily="49" charset="0"/>
                <a:ea typeface="JetBrains Mono" pitchFamily="49" charset="-122"/>
                <a:cs typeface="JetBrains Mono" pitchFamily="49" charset="-120"/>
              </a:rPr>
              <a:t>HOW IT FLOWS</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E1630"/>
                </a:solidFill>
                <a:latin typeface="Space Grotesk" pitchFamily="34" charset="0"/>
                <a:ea typeface="Space Grotesk" pitchFamily="34" charset="-122"/>
                <a:cs typeface="Space Grotesk" pitchFamily="34" charset="-120"/>
              </a:rPr>
              <a:t>From fault to fix in six steps</a:t>
            </a:r>
            <a:endParaRPr lang="en-US" sz="3200" dirty="0"/>
          </a:p>
        </p:txBody>
      </p:sp>
      <p:sp>
        <p:nvSpPr>
          <p:cNvPr id="4" name="Shape 2"/>
          <p:cNvSpPr/>
          <p:nvPr/>
        </p:nvSpPr>
        <p:spPr>
          <a:xfrm>
            <a:off x="822325" y="2192657"/>
            <a:ext cx="1649730" cy="2142490"/>
          </a:xfrm>
          <a:prstGeom prst="roundRect">
            <a:avLst>
              <a:gd name="adj" fmla="val 7121"/>
            </a:avLst>
          </a:prstGeom>
          <a:solidFill>
            <a:srgbClr val="FCFDFF"/>
          </a:solidFill>
          <a:ln w="19050">
            <a:solidFill>
              <a:srgbClr val="4453E0"/>
            </a:solidFill>
            <a:prstDash val="solid"/>
          </a:ln>
        </p:spPr>
      </p:sp>
      <p:sp>
        <p:nvSpPr>
          <p:cNvPr id="5" name="Text 3"/>
          <p:cNvSpPr/>
          <p:nvPr/>
        </p:nvSpPr>
        <p:spPr>
          <a:xfrm>
            <a:off x="1018540" y="2388871"/>
            <a:ext cx="13081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453E0"/>
                </a:solidFill>
                <a:latin typeface="JetBrains Mono" pitchFamily="49" charset="0"/>
                <a:ea typeface="JetBrains Mono" pitchFamily="49" charset="-122"/>
                <a:cs typeface="JetBrains Mono" pitchFamily="49" charset="-120"/>
              </a:rPr>
              <a:t>01</a:t>
            </a:r>
            <a:endParaRPr lang="en-US" sz="1200" dirty="0"/>
          </a:p>
        </p:txBody>
      </p:sp>
      <p:sp>
        <p:nvSpPr>
          <p:cNvPr id="6" name="Text 4"/>
          <p:cNvSpPr/>
          <p:nvPr/>
        </p:nvSpPr>
        <p:spPr>
          <a:xfrm>
            <a:off x="1018540" y="2691132"/>
            <a:ext cx="1308100"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0E1630"/>
                </a:solidFill>
                <a:latin typeface="Space Grotesk" pitchFamily="34" charset="0"/>
                <a:ea typeface="Space Grotesk" pitchFamily="34" charset="-122"/>
                <a:cs typeface="Space Grotesk" pitchFamily="34" charset="-120"/>
              </a:rPr>
              <a:t>Report</a:t>
            </a:r>
            <a:endParaRPr lang="en-US" sz="2000" dirty="0"/>
          </a:p>
        </p:txBody>
      </p:sp>
      <p:sp>
        <p:nvSpPr>
          <p:cNvPr id="7" name="Text 5"/>
          <p:cNvSpPr/>
          <p:nvPr/>
        </p:nvSpPr>
        <p:spPr>
          <a:xfrm>
            <a:off x="1018540" y="3072132"/>
            <a:ext cx="1308100" cy="10922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470"/>
                </a:solidFill>
                <a:latin typeface="DM Sans" pitchFamily="34" charset="0"/>
                <a:ea typeface="DM Sans" pitchFamily="34" charset="-122"/>
                <a:cs typeface="DM Sans" pitchFamily="34" charset="-120"/>
              </a:rPr>
              <a:t>A fault comes in from the app, a public link, the AI chat or a phone call.</a:t>
            </a:r>
            <a:endParaRPr lang="en-US" sz="1200" dirty="0"/>
          </a:p>
        </p:txBody>
      </p:sp>
      <p:sp>
        <p:nvSpPr>
          <p:cNvPr id="8" name="Shape 6"/>
          <p:cNvSpPr/>
          <p:nvPr/>
        </p:nvSpPr>
        <p:spPr>
          <a:xfrm>
            <a:off x="2611755" y="2186307"/>
            <a:ext cx="1642110" cy="2155190"/>
          </a:xfrm>
          <a:prstGeom prst="roundRect">
            <a:avLst>
              <a:gd name="adj" fmla="val 7541"/>
            </a:avLst>
          </a:prstGeom>
          <a:solidFill>
            <a:srgbClr val="FCFDFF"/>
          </a:solidFill>
          <a:ln w="6350">
            <a:solidFill>
              <a:srgbClr val="DCE1F0"/>
            </a:solidFill>
            <a:prstDash val="solid"/>
          </a:ln>
        </p:spPr>
      </p:sp>
      <p:sp>
        <p:nvSpPr>
          <p:cNvPr id="9" name="Text 7"/>
          <p:cNvSpPr/>
          <p:nvPr/>
        </p:nvSpPr>
        <p:spPr>
          <a:xfrm>
            <a:off x="2804160" y="2378711"/>
            <a:ext cx="13081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453E0"/>
                </a:solidFill>
                <a:latin typeface="JetBrains Mono" pitchFamily="49" charset="0"/>
                <a:ea typeface="JetBrains Mono" pitchFamily="49" charset="-122"/>
                <a:cs typeface="JetBrains Mono" pitchFamily="49" charset="-120"/>
              </a:rPr>
              <a:t>02</a:t>
            </a:r>
            <a:endParaRPr lang="en-US" sz="1200" dirty="0"/>
          </a:p>
        </p:txBody>
      </p:sp>
      <p:sp>
        <p:nvSpPr>
          <p:cNvPr id="10" name="Text 8"/>
          <p:cNvSpPr/>
          <p:nvPr/>
        </p:nvSpPr>
        <p:spPr>
          <a:xfrm>
            <a:off x="2804160" y="2680971"/>
            <a:ext cx="1308100"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0E1630"/>
                </a:solidFill>
                <a:latin typeface="Space Grotesk" pitchFamily="34" charset="0"/>
                <a:ea typeface="Space Grotesk" pitchFamily="34" charset="-122"/>
                <a:cs typeface="Space Grotesk" pitchFamily="34" charset="-120"/>
              </a:rPr>
              <a:t>Approve</a:t>
            </a:r>
            <a:endParaRPr lang="en-US" sz="2000" dirty="0"/>
          </a:p>
        </p:txBody>
      </p:sp>
      <p:sp>
        <p:nvSpPr>
          <p:cNvPr id="11" name="Text 9"/>
          <p:cNvSpPr/>
          <p:nvPr/>
        </p:nvSpPr>
        <p:spPr>
          <a:xfrm>
            <a:off x="2804160" y="3061971"/>
            <a:ext cx="1308100" cy="10922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470"/>
                </a:solidFill>
                <a:latin typeface="DM Sans" pitchFamily="34" charset="0"/>
                <a:ea typeface="DM Sans" pitchFamily="34" charset="-122"/>
                <a:cs typeface="DM Sans" pitchFamily="34" charset="-120"/>
              </a:rPr>
              <a:t>A manager reviews the request and turns it into a work order.</a:t>
            </a:r>
            <a:endParaRPr lang="en-US" sz="1200" dirty="0"/>
          </a:p>
        </p:txBody>
      </p:sp>
      <p:sp>
        <p:nvSpPr>
          <p:cNvPr id="12" name="Shape 10"/>
          <p:cNvSpPr/>
          <p:nvPr/>
        </p:nvSpPr>
        <p:spPr>
          <a:xfrm>
            <a:off x="4393565" y="2192657"/>
            <a:ext cx="1649730" cy="2142490"/>
          </a:xfrm>
          <a:prstGeom prst="roundRect">
            <a:avLst>
              <a:gd name="adj" fmla="val 7121"/>
            </a:avLst>
          </a:prstGeom>
          <a:solidFill>
            <a:srgbClr val="FCFDFF"/>
          </a:solidFill>
          <a:ln w="19050">
            <a:solidFill>
              <a:srgbClr val="4453E0"/>
            </a:solidFill>
            <a:prstDash val="solid"/>
          </a:ln>
        </p:spPr>
      </p:sp>
      <p:sp>
        <p:nvSpPr>
          <p:cNvPr id="13" name="Text 11"/>
          <p:cNvSpPr/>
          <p:nvPr/>
        </p:nvSpPr>
        <p:spPr>
          <a:xfrm>
            <a:off x="4589780" y="2388871"/>
            <a:ext cx="13081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453E0"/>
                </a:solidFill>
                <a:latin typeface="JetBrains Mono" pitchFamily="49" charset="0"/>
                <a:ea typeface="JetBrains Mono" pitchFamily="49" charset="-122"/>
                <a:cs typeface="JetBrains Mono" pitchFamily="49" charset="-120"/>
              </a:rPr>
              <a:t>03</a:t>
            </a:r>
            <a:endParaRPr lang="en-US" sz="1200" dirty="0"/>
          </a:p>
        </p:txBody>
      </p:sp>
      <p:sp>
        <p:nvSpPr>
          <p:cNvPr id="14" name="Text 12"/>
          <p:cNvSpPr/>
          <p:nvPr/>
        </p:nvSpPr>
        <p:spPr>
          <a:xfrm>
            <a:off x="4589780" y="2691132"/>
            <a:ext cx="1308100"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0E1630"/>
                </a:solidFill>
                <a:latin typeface="Space Grotesk" pitchFamily="34" charset="0"/>
                <a:ea typeface="Space Grotesk" pitchFamily="34" charset="-122"/>
                <a:cs typeface="Space Grotesk" pitchFamily="34" charset="-120"/>
              </a:rPr>
              <a:t>Assign</a:t>
            </a:r>
            <a:endParaRPr lang="en-US" sz="2000" dirty="0"/>
          </a:p>
        </p:txBody>
      </p:sp>
      <p:sp>
        <p:nvSpPr>
          <p:cNvPr id="15" name="Text 13"/>
          <p:cNvSpPr/>
          <p:nvPr/>
        </p:nvSpPr>
        <p:spPr>
          <a:xfrm>
            <a:off x="4589780" y="3072132"/>
            <a:ext cx="1308100" cy="109220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470"/>
                </a:solidFill>
                <a:latin typeface="DM Sans" pitchFamily="34" charset="0"/>
                <a:ea typeface="DM Sans" pitchFamily="34" charset="-122"/>
                <a:cs typeface="DM Sans" pitchFamily="34" charset="-120"/>
              </a:rPr>
              <a:t>The best available technician is picked and notified at once.</a:t>
            </a:r>
            <a:endParaRPr lang="en-US" sz="1200" dirty="0"/>
          </a:p>
        </p:txBody>
      </p:sp>
      <p:sp>
        <p:nvSpPr>
          <p:cNvPr id="16" name="Shape 14"/>
          <p:cNvSpPr/>
          <p:nvPr/>
        </p:nvSpPr>
        <p:spPr>
          <a:xfrm>
            <a:off x="6182995" y="2186307"/>
            <a:ext cx="1642110" cy="2155190"/>
          </a:xfrm>
          <a:prstGeom prst="roundRect">
            <a:avLst>
              <a:gd name="adj" fmla="val 7541"/>
            </a:avLst>
          </a:prstGeom>
          <a:solidFill>
            <a:srgbClr val="FCFDFF"/>
          </a:solidFill>
          <a:ln w="6350">
            <a:solidFill>
              <a:srgbClr val="DCE1F0"/>
            </a:solidFill>
            <a:prstDash val="solid"/>
          </a:ln>
        </p:spPr>
      </p:sp>
      <p:sp>
        <p:nvSpPr>
          <p:cNvPr id="17" name="Text 15"/>
          <p:cNvSpPr/>
          <p:nvPr/>
        </p:nvSpPr>
        <p:spPr>
          <a:xfrm>
            <a:off x="6375400" y="2378711"/>
            <a:ext cx="13081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453E0"/>
                </a:solidFill>
                <a:latin typeface="JetBrains Mono" pitchFamily="49" charset="0"/>
                <a:ea typeface="JetBrains Mono" pitchFamily="49" charset="-122"/>
                <a:cs typeface="JetBrains Mono" pitchFamily="49" charset="-120"/>
              </a:rPr>
              <a:t>04</a:t>
            </a:r>
            <a:endParaRPr lang="en-US" sz="1200" dirty="0"/>
          </a:p>
        </p:txBody>
      </p:sp>
      <p:sp>
        <p:nvSpPr>
          <p:cNvPr id="18" name="Text 16"/>
          <p:cNvSpPr/>
          <p:nvPr/>
        </p:nvSpPr>
        <p:spPr>
          <a:xfrm>
            <a:off x="6375400" y="2680971"/>
            <a:ext cx="1308100"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0E1630"/>
                </a:solidFill>
                <a:latin typeface="Space Grotesk" pitchFamily="34" charset="0"/>
                <a:ea typeface="Space Grotesk" pitchFamily="34" charset="-122"/>
                <a:cs typeface="Space Grotesk" pitchFamily="34" charset="-120"/>
              </a:rPr>
              <a:t>Execute</a:t>
            </a:r>
            <a:endParaRPr lang="en-US" sz="2000" dirty="0"/>
          </a:p>
        </p:txBody>
      </p:sp>
      <p:sp>
        <p:nvSpPr>
          <p:cNvPr id="19" name="Text 17"/>
          <p:cNvSpPr/>
          <p:nvPr/>
        </p:nvSpPr>
        <p:spPr>
          <a:xfrm>
            <a:off x="6375400" y="3061971"/>
            <a:ext cx="130810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470"/>
                </a:solidFill>
                <a:latin typeface="DM Sans" pitchFamily="34" charset="0"/>
                <a:ea typeface="DM Sans" pitchFamily="34" charset="-122"/>
                <a:cs typeface="DM Sans" pitchFamily="34" charset="-120"/>
              </a:rPr>
              <a:t>The technician logs tasks, time, parts used and photos.</a:t>
            </a:r>
            <a:endParaRPr lang="en-US" sz="1200" dirty="0"/>
          </a:p>
        </p:txBody>
      </p:sp>
      <p:sp>
        <p:nvSpPr>
          <p:cNvPr id="20" name="Shape 18"/>
          <p:cNvSpPr/>
          <p:nvPr/>
        </p:nvSpPr>
        <p:spPr>
          <a:xfrm>
            <a:off x="7958455" y="2186307"/>
            <a:ext cx="1642110" cy="2155190"/>
          </a:xfrm>
          <a:prstGeom prst="roundRect">
            <a:avLst>
              <a:gd name="adj" fmla="val 7541"/>
            </a:avLst>
          </a:prstGeom>
          <a:solidFill>
            <a:srgbClr val="FCFDFF"/>
          </a:solidFill>
          <a:ln w="6350">
            <a:solidFill>
              <a:srgbClr val="DCE1F0"/>
            </a:solidFill>
            <a:prstDash val="solid"/>
          </a:ln>
        </p:spPr>
      </p:sp>
      <p:sp>
        <p:nvSpPr>
          <p:cNvPr id="21" name="Text 19"/>
          <p:cNvSpPr/>
          <p:nvPr/>
        </p:nvSpPr>
        <p:spPr>
          <a:xfrm>
            <a:off x="8150860" y="2378711"/>
            <a:ext cx="13081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453E0"/>
                </a:solidFill>
                <a:latin typeface="JetBrains Mono" pitchFamily="49" charset="0"/>
                <a:ea typeface="JetBrains Mono" pitchFamily="49" charset="-122"/>
                <a:cs typeface="JetBrains Mono" pitchFamily="49" charset="-120"/>
              </a:rPr>
              <a:t>05</a:t>
            </a:r>
            <a:endParaRPr lang="en-US" sz="1200" dirty="0"/>
          </a:p>
        </p:txBody>
      </p:sp>
      <p:sp>
        <p:nvSpPr>
          <p:cNvPr id="22" name="Text 20"/>
          <p:cNvSpPr/>
          <p:nvPr/>
        </p:nvSpPr>
        <p:spPr>
          <a:xfrm>
            <a:off x="8150860" y="2680971"/>
            <a:ext cx="1308100"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0E1630"/>
                </a:solidFill>
                <a:latin typeface="Space Grotesk" pitchFamily="34" charset="0"/>
                <a:ea typeface="Space Grotesk" pitchFamily="34" charset="-122"/>
                <a:cs typeface="Space Grotesk" pitchFamily="34" charset="-120"/>
              </a:rPr>
              <a:t>Close</a:t>
            </a:r>
            <a:endParaRPr lang="en-US" sz="2000" dirty="0"/>
          </a:p>
        </p:txBody>
      </p:sp>
      <p:sp>
        <p:nvSpPr>
          <p:cNvPr id="23" name="Text 21"/>
          <p:cNvSpPr/>
          <p:nvPr/>
        </p:nvSpPr>
        <p:spPr>
          <a:xfrm>
            <a:off x="8150860" y="3061971"/>
            <a:ext cx="130810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470"/>
                </a:solidFill>
                <a:latin typeface="DM Sans" pitchFamily="34" charset="0"/>
                <a:ea typeface="DM Sans" pitchFamily="34" charset="-122"/>
                <a:cs typeface="DM Sans" pitchFamily="34" charset="-120"/>
              </a:rPr>
              <a:t>The job is completed with a signature and feedback.</a:t>
            </a:r>
            <a:endParaRPr lang="en-US" sz="1200" dirty="0"/>
          </a:p>
        </p:txBody>
      </p:sp>
      <p:sp>
        <p:nvSpPr>
          <p:cNvPr id="24" name="Shape 22"/>
          <p:cNvSpPr/>
          <p:nvPr/>
        </p:nvSpPr>
        <p:spPr>
          <a:xfrm>
            <a:off x="9733915" y="2186307"/>
            <a:ext cx="1642110" cy="2155190"/>
          </a:xfrm>
          <a:prstGeom prst="roundRect">
            <a:avLst>
              <a:gd name="adj" fmla="val 7541"/>
            </a:avLst>
          </a:prstGeom>
          <a:solidFill>
            <a:srgbClr val="FCFDFF"/>
          </a:solidFill>
          <a:ln w="6350">
            <a:solidFill>
              <a:srgbClr val="DCE1F0"/>
            </a:solidFill>
            <a:prstDash val="solid"/>
          </a:ln>
        </p:spPr>
      </p:sp>
      <p:sp>
        <p:nvSpPr>
          <p:cNvPr id="25" name="Text 23"/>
          <p:cNvSpPr/>
          <p:nvPr/>
        </p:nvSpPr>
        <p:spPr>
          <a:xfrm>
            <a:off x="9926320" y="2378711"/>
            <a:ext cx="13081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453E0"/>
                </a:solidFill>
                <a:latin typeface="JetBrains Mono" pitchFamily="49" charset="0"/>
                <a:ea typeface="JetBrains Mono" pitchFamily="49" charset="-122"/>
                <a:cs typeface="JetBrains Mono" pitchFamily="49" charset="-120"/>
              </a:rPr>
              <a:t>06</a:t>
            </a:r>
            <a:endParaRPr lang="en-US" sz="1200" dirty="0"/>
          </a:p>
        </p:txBody>
      </p:sp>
      <p:sp>
        <p:nvSpPr>
          <p:cNvPr id="26" name="Text 24"/>
          <p:cNvSpPr/>
          <p:nvPr/>
        </p:nvSpPr>
        <p:spPr>
          <a:xfrm>
            <a:off x="9926320" y="2680971"/>
            <a:ext cx="1308100"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0E1630"/>
                </a:solidFill>
                <a:latin typeface="Space Grotesk" pitchFamily="34" charset="0"/>
                <a:ea typeface="Space Grotesk" pitchFamily="34" charset="-122"/>
                <a:cs typeface="Space Grotesk" pitchFamily="34" charset="-120"/>
              </a:rPr>
              <a:t>Learn</a:t>
            </a:r>
            <a:endParaRPr lang="en-US" sz="2000" dirty="0"/>
          </a:p>
        </p:txBody>
      </p:sp>
      <p:sp>
        <p:nvSpPr>
          <p:cNvPr id="27" name="Text 25"/>
          <p:cNvSpPr/>
          <p:nvPr/>
        </p:nvSpPr>
        <p:spPr>
          <a:xfrm>
            <a:off x="9926320" y="3061971"/>
            <a:ext cx="130810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470"/>
                </a:solidFill>
                <a:latin typeface="DM Sans" pitchFamily="34" charset="0"/>
                <a:ea typeface="DM Sans" pitchFamily="34" charset="-122"/>
                <a:cs typeface="DM Sans" pitchFamily="34" charset="-120"/>
              </a:rPr>
              <a:t>Every job feeds the asset's history and the analytics.</a:t>
            </a:r>
            <a:endParaRPr lang="en-US" sz="1200" dirty="0"/>
          </a:p>
        </p:txBody>
      </p:sp>
      <p:sp>
        <p:nvSpPr>
          <p:cNvPr id="28" name="Shape 26"/>
          <p:cNvSpPr/>
          <p:nvPr/>
        </p:nvSpPr>
        <p:spPr>
          <a:xfrm>
            <a:off x="812800" y="4953000"/>
            <a:ext cx="10566400" cy="889000"/>
          </a:xfrm>
          <a:prstGeom prst="roundRect">
            <a:avLst>
              <a:gd name="adj" fmla="val 14286"/>
            </a:avLst>
          </a:prstGeom>
          <a:solidFill>
            <a:srgbClr val="E3E7FB"/>
          </a:solidFill>
          <a:ln/>
        </p:spPr>
      </p:sp>
      <p:pic>
        <p:nvPicPr>
          <p:cNvPr id="29" name="Image 0" descr="Lightning">    </p:cNvPr>
          <p:cNvPicPr>
            <a:picLocks noChangeAspect="1"/>
          </p:cNvPicPr>
          <p:nvPr/>
        </p:nvPicPr>
        <p:blipFill>
          <a:blip r:embed="rId1"/>
          <a:srcRect l="0" r="0" t="-473" b="-473"/>
          <a:stretch/>
        </p:blipFill>
        <p:spPr>
          <a:xfrm>
            <a:off x="1041400" y="5257800"/>
            <a:ext cx="251619" cy="279400"/>
          </a:xfrm>
          <a:prstGeom prst="rect">
            <a:avLst/>
          </a:prstGeom>
        </p:spPr>
      </p:pic>
      <p:sp>
        <p:nvSpPr>
          <p:cNvPr id="30" name="Text 27"/>
          <p:cNvSpPr/>
          <p:nvPr/>
        </p:nvSpPr>
        <p:spPr>
          <a:xfrm>
            <a:off x="1445419" y="5130800"/>
            <a:ext cx="9996337"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1630"/>
                </a:solidFill>
                <a:latin typeface="DM Sans" pitchFamily="34" charset="0"/>
                <a:ea typeface="DM Sans" pitchFamily="34" charset="-122"/>
                <a:cs typeface="DM Sans" pitchFamily="34" charset="-120"/>
              </a:rPr>
              <a:t>Steps 01 and 03 (outlined) can run hands-free:</a:t>
            </a:r>
            <a:r>
              <a:rPr lang="en-US" sz="1500" dirty="0">
                <a:solidFill>
                  <a:srgbClr val="0E1630"/>
                </a:solidFill>
                <a:latin typeface="DM Sans" pitchFamily="34" charset="0"/>
                <a:ea typeface="DM Sans" pitchFamily="34" charset="-122"/>
                <a:cs typeface="DM Sans" pitchFamily="34" charset="-120"/>
              </a:rPr>
              <a:t> the voice agent takes the report and assigns a technician during the call.</a:t>
            </a:r>
            <a:endParaRPr lang="en-US" sz="1500" dirty="0"/>
          </a:p>
        </p:txBody>
      </p:sp>
      <p:sp>
        <p:nvSpPr>
          <p:cNvPr id="31" name="Text 28"/>
          <p:cNvSpPr/>
          <p:nvPr/>
        </p:nvSpPr>
        <p:spPr>
          <a:xfrm>
            <a:off x="812800" y="6236971"/>
            <a:ext cx="1591056"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5B6585"/>
                </a:solidFill>
                <a:latin typeface="JetBrains Mono" pitchFamily="49" charset="0"/>
                <a:ea typeface="JetBrains Mono" pitchFamily="49" charset="-122"/>
                <a:cs typeface="JetBrains Mono" pitchFamily="49" charset="-120"/>
              </a:rPr>
              <a:t>EQUINOX CMMS</a:t>
            </a:r>
            <a:endParaRPr lang="en-US" sz="1200" dirty="0"/>
          </a:p>
        </p:txBody>
      </p:sp>
      <p:sp>
        <p:nvSpPr>
          <p:cNvPr id="32" name="Text 29"/>
          <p:cNvSpPr/>
          <p:nvPr/>
        </p:nvSpPr>
        <p:spPr>
          <a:xfrm>
            <a:off x="11107420" y="6236971"/>
            <a:ext cx="271780" cy="238760"/>
          </a:xfrm>
          <a:prstGeom prst="rect">
            <a:avLst/>
          </a:prstGeom>
          <a:noFill/>
          <a:ln/>
        </p:spPr>
        <p:txBody>
          <a:bodyPr wrap="square" lIns="0" tIns="0" rIns="0" bIns="0" rtlCol="0" anchor="t">
            <a:normAutofit/>
          </a:bodyPr>
          <a:lstStyle/>
          <a:p>
            <a:pPr algn="r" indent="0" marL="0">
              <a:lnSpc>
                <a:spcPts val="1680"/>
              </a:lnSpc>
              <a:buNone/>
            </a:pPr>
            <a:r>
              <a:rPr lang="en-US" sz="1200" spc="150" kern="0" dirty="0">
                <a:solidFill>
                  <a:srgbClr val="5B6585"/>
                </a:solidFill>
                <a:latin typeface="JetBrains Mono" pitchFamily="49" charset="0"/>
                <a:ea typeface="JetBrains Mono" pitchFamily="49" charset="-122"/>
                <a:cs typeface="JetBrains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3FD6E6"/>
                </a:solidFill>
                <a:latin typeface="JetBrains Mono" pitchFamily="49" charset="0"/>
                <a:ea typeface="JetBrains Mono" pitchFamily="49" charset="-122"/>
                <a:cs typeface="JetBrains Mono" pitchFamily="49" charset="-120"/>
              </a:rPr>
              <a:t>THREE WAYS IN</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E8ECF7"/>
                </a:solidFill>
                <a:latin typeface="Space Grotesk" pitchFamily="34" charset="0"/>
                <a:ea typeface="Space Grotesk" pitchFamily="34" charset="-122"/>
                <a:cs typeface="Space Grotesk" pitchFamily="34" charset="-120"/>
              </a:rPr>
              <a:t>Report a fault in whatever way is easiest</a:t>
            </a:r>
            <a:endParaRPr lang="en-US" sz="3200" dirty="0"/>
          </a:p>
        </p:txBody>
      </p:sp>
      <p:sp>
        <p:nvSpPr>
          <p:cNvPr id="4" name="Shape 2"/>
          <p:cNvSpPr/>
          <p:nvPr/>
        </p:nvSpPr>
        <p:spPr>
          <a:xfrm>
            <a:off x="815975" y="1882775"/>
            <a:ext cx="3373517" cy="3956050"/>
          </a:xfrm>
          <a:prstGeom prst="roundRect">
            <a:avLst>
              <a:gd name="adj" fmla="val 5176"/>
            </a:avLst>
          </a:prstGeom>
          <a:solidFill>
            <a:srgbClr val="131C30"/>
          </a:solidFill>
          <a:ln w="6350">
            <a:solidFill>
              <a:srgbClr val="24304D"/>
            </a:solidFill>
            <a:prstDash val="solid"/>
          </a:ln>
        </p:spPr>
      </p:sp>
      <p:sp>
        <p:nvSpPr>
          <p:cNvPr id="5" name="Shape 3"/>
          <p:cNvSpPr/>
          <p:nvPr/>
        </p:nvSpPr>
        <p:spPr>
          <a:xfrm>
            <a:off x="1122680" y="2189482"/>
            <a:ext cx="609600" cy="609600"/>
          </a:xfrm>
          <a:prstGeom prst="roundRect">
            <a:avLst>
              <a:gd name="adj" fmla="val 25000"/>
            </a:avLst>
          </a:prstGeom>
          <a:solidFill>
            <a:srgbClr val="1C2747"/>
          </a:solidFill>
          <a:ln/>
        </p:spPr>
      </p:sp>
      <p:pic>
        <p:nvPicPr>
          <p:cNvPr id="6" name="Image 0" descr="Home">    </p:cNvPr>
          <p:cNvPicPr>
            <a:picLocks noChangeAspect="1"/>
          </p:cNvPicPr>
          <p:nvPr/>
        </p:nvPicPr>
        <p:blipFill>
          <a:blip r:embed="rId1"/>
          <a:srcRect l="0" r="0" t="0" b="0"/>
          <a:stretch/>
        </p:blipFill>
        <p:spPr>
          <a:xfrm>
            <a:off x="1262380" y="2329182"/>
            <a:ext cx="330200" cy="330200"/>
          </a:xfrm>
          <a:prstGeom prst="rect">
            <a:avLst/>
          </a:prstGeom>
        </p:spPr>
      </p:pic>
      <p:sp>
        <p:nvSpPr>
          <p:cNvPr id="7" name="Text 4"/>
          <p:cNvSpPr/>
          <p:nvPr/>
        </p:nvSpPr>
        <p:spPr>
          <a:xfrm>
            <a:off x="1122680" y="2951482"/>
            <a:ext cx="2842910"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E8ECF7"/>
                </a:solidFill>
                <a:latin typeface="Space Grotesk" pitchFamily="34" charset="0"/>
                <a:ea typeface="Space Grotesk" pitchFamily="34" charset="-122"/>
                <a:cs typeface="Space Grotesk" pitchFamily="34" charset="-120"/>
              </a:rPr>
              <a:t>Web app</a:t>
            </a:r>
            <a:endParaRPr lang="en-US" sz="2200" dirty="0"/>
          </a:p>
        </p:txBody>
      </p:sp>
      <p:sp>
        <p:nvSpPr>
          <p:cNvPr id="8" name="Text 5"/>
          <p:cNvSpPr/>
          <p:nvPr/>
        </p:nvSpPr>
        <p:spPr>
          <a:xfrm>
            <a:off x="1122680" y="3425189"/>
            <a:ext cx="2842910" cy="105664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A9B4CF"/>
                </a:solidFill>
                <a:latin typeface="DM Sans" pitchFamily="34" charset="0"/>
                <a:ea typeface="DM Sans" pitchFamily="34" charset="-122"/>
                <a:cs typeface="DM Sans" pitchFamily="34" charset="-120"/>
              </a:rPr>
              <a:t>Forms for staff, plus a public request link that needs no login. Ideal at a desk or on a phone browser.</a:t>
            </a:r>
            <a:endParaRPr lang="en-US" sz="1400" dirty="0"/>
          </a:p>
        </p:txBody>
      </p:sp>
      <p:sp>
        <p:nvSpPr>
          <p:cNvPr id="9" name="Shape 6"/>
          <p:cNvSpPr/>
          <p:nvPr/>
        </p:nvSpPr>
        <p:spPr>
          <a:xfrm>
            <a:off x="4402217" y="1885950"/>
            <a:ext cx="3377406" cy="3949700"/>
          </a:xfrm>
          <a:prstGeom prst="roundRect">
            <a:avLst>
              <a:gd name="adj" fmla="val 5076"/>
            </a:avLst>
          </a:prstGeom>
          <a:gradFill rotWithShape="1">
            <a:gsLst>
              <a:gs pos="0">
                <a:srgbClr val="1A2550"/>
              </a:gs>
              <a:gs pos="70000">
                <a:srgbClr val="131C30"/>
              </a:gs>
            </a:gsLst>
            <a:lin ang="4200000" scaled="0"/>
          </a:gradFill>
          <a:ln w="12700">
            <a:solidFill>
              <a:srgbClr val="4A57D9"/>
            </a:solidFill>
            <a:prstDash val="solid"/>
          </a:ln>
        </p:spPr>
      </p:sp>
      <p:sp>
        <p:nvSpPr>
          <p:cNvPr id="10" name="Shape 7"/>
          <p:cNvSpPr/>
          <p:nvPr/>
        </p:nvSpPr>
        <p:spPr>
          <a:xfrm>
            <a:off x="4710827" y="2194561"/>
            <a:ext cx="609600" cy="609600"/>
          </a:xfrm>
          <a:prstGeom prst="roundRect">
            <a:avLst>
              <a:gd name="adj" fmla="val 25000"/>
            </a:avLst>
          </a:prstGeom>
          <a:solidFill>
            <a:srgbClr val="26337A"/>
          </a:solidFill>
          <a:ln/>
        </p:spPr>
      </p:sp>
      <p:pic>
        <p:nvPicPr>
          <p:cNvPr id="11" name="Image 1" descr="Chat">    </p:cNvPr>
          <p:cNvPicPr>
            <a:picLocks noChangeAspect="1"/>
          </p:cNvPicPr>
          <p:nvPr/>
        </p:nvPicPr>
        <p:blipFill>
          <a:blip r:embed="rId2"/>
          <a:srcRect l="0" r="0" t="0" b="0"/>
          <a:stretch/>
        </p:blipFill>
        <p:spPr>
          <a:xfrm>
            <a:off x="4850527" y="2334261"/>
            <a:ext cx="330200" cy="330200"/>
          </a:xfrm>
          <a:prstGeom prst="rect">
            <a:avLst/>
          </a:prstGeom>
        </p:spPr>
      </p:pic>
      <p:sp>
        <p:nvSpPr>
          <p:cNvPr id="12" name="Text 8"/>
          <p:cNvSpPr/>
          <p:nvPr/>
        </p:nvSpPr>
        <p:spPr>
          <a:xfrm>
            <a:off x="4710827" y="2956561"/>
            <a:ext cx="2842992"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E8ECF7"/>
                </a:solidFill>
                <a:latin typeface="Space Grotesk" pitchFamily="34" charset="0"/>
                <a:ea typeface="Space Grotesk" pitchFamily="34" charset="-122"/>
                <a:cs typeface="Space Grotesk" pitchFamily="34" charset="-120"/>
              </a:rPr>
              <a:t>AI assistant</a:t>
            </a:r>
            <a:endParaRPr lang="en-US" sz="2200" dirty="0"/>
          </a:p>
        </p:txBody>
      </p:sp>
      <p:sp>
        <p:nvSpPr>
          <p:cNvPr id="13" name="Text 9"/>
          <p:cNvSpPr/>
          <p:nvPr/>
        </p:nvSpPr>
        <p:spPr>
          <a:xfrm>
            <a:off x="4710827" y="3430271"/>
            <a:ext cx="2842992" cy="79883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C3CBE3"/>
                </a:solidFill>
                <a:latin typeface="DM Sans" pitchFamily="34" charset="0"/>
                <a:ea typeface="DM Sans" pitchFamily="34" charset="-122"/>
                <a:cs typeface="DM Sans" pitchFamily="34" charset="-120"/>
              </a:rPr>
              <a:t>Ask in plain language. It finds the machine, checks its history and drafts the work order for you.</a:t>
            </a:r>
            <a:endParaRPr lang="en-US" sz="1400" dirty="0"/>
          </a:p>
        </p:txBody>
      </p:sp>
      <p:sp>
        <p:nvSpPr>
          <p:cNvPr id="14" name="Shape 10"/>
          <p:cNvSpPr/>
          <p:nvPr/>
        </p:nvSpPr>
        <p:spPr>
          <a:xfrm>
            <a:off x="7995524" y="1885950"/>
            <a:ext cx="3377327" cy="3949700"/>
          </a:xfrm>
          <a:prstGeom prst="roundRect">
            <a:avLst>
              <a:gd name="adj" fmla="val 5076"/>
            </a:avLst>
          </a:prstGeom>
          <a:gradFill rotWithShape="1">
            <a:gsLst>
              <a:gs pos="0">
                <a:srgbClr val="0F3440"/>
              </a:gs>
              <a:gs pos="70000">
                <a:srgbClr val="131C30"/>
              </a:gs>
            </a:gsLst>
            <a:lin ang="4200000" scaled="0"/>
          </a:gradFill>
          <a:ln w="12700">
            <a:solidFill>
              <a:srgbClr val="2BB3C2"/>
            </a:solidFill>
            <a:prstDash val="solid"/>
          </a:ln>
        </p:spPr>
      </p:sp>
      <p:sp>
        <p:nvSpPr>
          <p:cNvPr id="15" name="Shape 11"/>
          <p:cNvSpPr/>
          <p:nvPr/>
        </p:nvSpPr>
        <p:spPr>
          <a:xfrm>
            <a:off x="8304133" y="2194561"/>
            <a:ext cx="609600" cy="609600"/>
          </a:xfrm>
          <a:prstGeom prst="roundRect">
            <a:avLst>
              <a:gd name="adj" fmla="val 25000"/>
            </a:avLst>
          </a:prstGeom>
          <a:solidFill>
            <a:srgbClr val="145561"/>
          </a:solidFill>
          <a:ln/>
        </p:spPr>
      </p:sp>
      <p:pic>
        <p:nvPicPr>
          <p:cNvPr id="16" name="Image 2" descr="Activity">    </p:cNvPr>
          <p:cNvPicPr>
            <a:picLocks noChangeAspect="1"/>
          </p:cNvPicPr>
          <p:nvPr/>
        </p:nvPicPr>
        <p:blipFill>
          <a:blip r:embed="rId3"/>
          <a:srcRect l="0" r="0" t="0" b="0"/>
          <a:stretch/>
        </p:blipFill>
        <p:spPr>
          <a:xfrm>
            <a:off x="8443833" y="2334261"/>
            <a:ext cx="330200" cy="330200"/>
          </a:xfrm>
          <a:prstGeom prst="rect">
            <a:avLst/>
          </a:prstGeom>
        </p:spPr>
      </p:pic>
      <p:sp>
        <p:nvSpPr>
          <p:cNvPr id="17" name="Text 12"/>
          <p:cNvSpPr/>
          <p:nvPr/>
        </p:nvSpPr>
        <p:spPr>
          <a:xfrm>
            <a:off x="8304133" y="2956561"/>
            <a:ext cx="2842910" cy="346710"/>
          </a:xfrm>
          <a:prstGeom prst="rect">
            <a:avLst/>
          </a:prstGeom>
          <a:noFill/>
          <a:ln/>
        </p:spPr>
        <p:txBody>
          <a:bodyPr wrap="square" lIns="0" tIns="0" rIns="0" bIns="0" rtlCol="0" anchor="t">
            <a:normAutofit/>
          </a:bodyPr>
          <a:lstStyle/>
          <a:p>
            <a:pPr algn="l" indent="0" marL="0">
              <a:lnSpc>
                <a:spcPts val="2530"/>
              </a:lnSpc>
              <a:buNone/>
            </a:pPr>
            <a:r>
              <a:rPr lang="en-US" sz="2200" b="1" dirty="0">
                <a:solidFill>
                  <a:srgbClr val="E8ECF7"/>
                </a:solidFill>
                <a:latin typeface="Space Grotesk" pitchFamily="34" charset="0"/>
                <a:ea typeface="Space Grotesk" pitchFamily="34" charset="-122"/>
                <a:cs typeface="Space Grotesk" pitchFamily="34" charset="-120"/>
              </a:rPr>
              <a:t>Voice agent</a:t>
            </a:r>
            <a:endParaRPr lang="en-US" sz="2200" dirty="0"/>
          </a:p>
        </p:txBody>
      </p:sp>
      <p:sp>
        <p:nvSpPr>
          <p:cNvPr id="18" name="Text 13"/>
          <p:cNvSpPr/>
          <p:nvPr/>
        </p:nvSpPr>
        <p:spPr>
          <a:xfrm>
            <a:off x="8304133" y="3430271"/>
            <a:ext cx="2842910" cy="105664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C3CBE3"/>
                </a:solidFill>
                <a:latin typeface="DM Sans" pitchFamily="34" charset="0"/>
                <a:ea typeface="DM Sans" pitchFamily="34" charset="-122"/>
                <a:cs typeface="DM Sans" pitchFamily="34" charset="-120"/>
              </a:rPr>
              <a:t>Call a number and describe the problem in your own language. The agent files the job and assigns it.</a:t>
            </a:r>
            <a:endParaRPr lang="en-US" sz="1400" dirty="0"/>
          </a:p>
        </p:txBody>
      </p:sp>
      <p:sp>
        <p:nvSpPr>
          <p:cNvPr id="19" name="Text 14"/>
          <p:cNvSpPr/>
          <p:nvPr/>
        </p:nvSpPr>
        <p:spPr>
          <a:xfrm>
            <a:off x="812800" y="6236971"/>
            <a:ext cx="1591056"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792B3"/>
                </a:solidFill>
                <a:latin typeface="JetBrains Mono" pitchFamily="49" charset="0"/>
                <a:ea typeface="JetBrains Mono" pitchFamily="49" charset="-122"/>
                <a:cs typeface="JetBrains Mono" pitchFamily="49" charset="-120"/>
              </a:rPr>
              <a:t>EQUINOX CMMS</a:t>
            </a:r>
            <a:endParaRPr lang="en-US" sz="1200" dirty="0"/>
          </a:p>
        </p:txBody>
      </p:sp>
      <p:sp>
        <p:nvSpPr>
          <p:cNvPr id="20" name="Text 15"/>
          <p:cNvSpPr/>
          <p:nvPr/>
        </p:nvSpPr>
        <p:spPr>
          <a:xfrm>
            <a:off x="11107420" y="6236971"/>
            <a:ext cx="271780" cy="238760"/>
          </a:xfrm>
          <a:prstGeom prst="rect">
            <a:avLst/>
          </a:prstGeom>
          <a:noFill/>
          <a:ln/>
        </p:spPr>
        <p:txBody>
          <a:bodyPr wrap="square" lIns="0" tIns="0" rIns="0" bIns="0" rtlCol="0" anchor="t">
            <a:normAutofit/>
          </a:bodyPr>
          <a:lstStyle/>
          <a:p>
            <a:pPr algn="r" indent="0" marL="0">
              <a:lnSpc>
                <a:spcPts val="1680"/>
              </a:lnSpc>
              <a:buNone/>
            </a:pPr>
            <a:r>
              <a:rPr lang="en-US" sz="1200" spc="150" kern="0" dirty="0">
                <a:solidFill>
                  <a:srgbClr val="8792B3"/>
                </a:solidFill>
                <a:latin typeface="JetBrains Mono" pitchFamily="49" charset="0"/>
                <a:ea typeface="JetBrains Mono" pitchFamily="49" charset="-122"/>
                <a:cs typeface="JetBrains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453E0"/>
                </a:solidFill>
                <a:latin typeface="JetBrains Mono" pitchFamily="49" charset="0"/>
                <a:ea typeface="JetBrains Mono" pitchFamily="49" charset="-122"/>
                <a:cs typeface="JetBrains Mono" pitchFamily="49" charset="-120"/>
              </a:rPr>
              <a:t>AI MAINTENANCE ASSISTANT</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E1630"/>
                </a:solidFill>
                <a:latin typeface="Space Grotesk" pitchFamily="34" charset="0"/>
                <a:ea typeface="Space Grotesk" pitchFamily="34" charset="-122"/>
                <a:cs typeface="Space Grotesk" pitchFamily="34" charset="-120"/>
              </a:rPr>
              <a:t>Ask a question, get a work order to confirm</a:t>
            </a:r>
            <a:endParaRPr lang="en-US" sz="3200" dirty="0"/>
          </a:p>
        </p:txBody>
      </p:sp>
      <p:sp>
        <p:nvSpPr>
          <p:cNvPr id="4" name="Text 2"/>
          <p:cNvSpPr/>
          <p:nvPr/>
        </p:nvSpPr>
        <p:spPr>
          <a:xfrm>
            <a:off x="812800" y="2472057"/>
            <a:ext cx="320040" cy="314960"/>
          </a:xfrm>
          <a:prstGeom prst="roundRect">
            <a:avLst>
              <a:gd name="adj" fmla="val 50000"/>
            </a:avLst>
          </a:prstGeom>
          <a:solidFill>
            <a:srgbClr val="4453E0"/>
          </a:solidFill>
          <a:ln/>
        </p:spPr>
        <p:txBody>
          <a:bodyPr wrap="none" lIns="0" tIns="0" rIns="0" bIns="0" rtlCol="0" anchor="ctr">
            <a:normAutofit/>
          </a:bodyPr>
          <a:lstStyle/>
          <a:p>
            <a:pPr algn="ctr" indent="0" marL="0">
              <a:lnSpc>
                <a:spcPts val="1680"/>
              </a:lnSpc>
              <a:buNone/>
            </a:pPr>
            <a:r>
              <a:rPr lang="en-US" sz="1200" b="1" dirty="0">
                <a:solidFill>
                  <a:srgbClr val="FCFDFF"/>
                </a:solidFill>
                <a:latin typeface="JetBrains Mono" pitchFamily="49" charset="0"/>
                <a:ea typeface="JetBrains Mono" pitchFamily="49" charset="-122"/>
                <a:cs typeface="JetBrains Mono" pitchFamily="49" charset="-120"/>
              </a:rPr>
              <a:t>1</a:t>
            </a:r>
            <a:endParaRPr lang="en-US" sz="1200" dirty="0"/>
          </a:p>
        </p:txBody>
      </p:sp>
      <p:sp>
        <p:nvSpPr>
          <p:cNvPr id="5" name="Text 3"/>
          <p:cNvSpPr/>
          <p:nvPr/>
        </p:nvSpPr>
        <p:spPr>
          <a:xfrm>
            <a:off x="1285240" y="2472057"/>
            <a:ext cx="461497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630"/>
                </a:solidFill>
                <a:latin typeface="Space Grotesk" pitchFamily="34" charset="0"/>
                <a:ea typeface="Space Grotesk" pitchFamily="34" charset="-122"/>
                <a:cs typeface="Space Grotesk" pitchFamily="34" charset="-120"/>
              </a:rPr>
              <a:t>Knows what you're looking at</a:t>
            </a:r>
            <a:endParaRPr lang="en-US" sz="1600" dirty="0"/>
          </a:p>
        </p:txBody>
      </p:sp>
      <p:sp>
        <p:nvSpPr>
          <p:cNvPr id="6" name="Text 4"/>
          <p:cNvSpPr/>
          <p:nvPr/>
        </p:nvSpPr>
        <p:spPr>
          <a:xfrm>
            <a:off x="1285240" y="2766696"/>
            <a:ext cx="4614977"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470"/>
                </a:solidFill>
                <a:latin typeface="DM Sans" pitchFamily="34" charset="0"/>
                <a:ea typeface="DM Sans" pitchFamily="34" charset="-122"/>
                <a:cs typeface="DM Sans" pitchFamily="34" charset="-120"/>
              </a:rPr>
              <a:t>Say "this pump" and it uses the asset or work order you have open.</a:t>
            </a:r>
            <a:endParaRPr lang="en-US" sz="1300" dirty="0"/>
          </a:p>
        </p:txBody>
      </p:sp>
      <p:sp>
        <p:nvSpPr>
          <p:cNvPr id="7" name="Text 5"/>
          <p:cNvSpPr/>
          <p:nvPr/>
        </p:nvSpPr>
        <p:spPr>
          <a:xfrm>
            <a:off x="812800" y="3474086"/>
            <a:ext cx="320040" cy="314960"/>
          </a:xfrm>
          <a:prstGeom prst="roundRect">
            <a:avLst>
              <a:gd name="adj" fmla="val 50000"/>
            </a:avLst>
          </a:prstGeom>
          <a:solidFill>
            <a:srgbClr val="4453E0"/>
          </a:solidFill>
          <a:ln/>
        </p:spPr>
        <p:txBody>
          <a:bodyPr wrap="none" lIns="0" tIns="0" rIns="0" bIns="0" rtlCol="0" anchor="ctr">
            <a:normAutofit/>
          </a:bodyPr>
          <a:lstStyle/>
          <a:p>
            <a:pPr algn="ctr" indent="0" marL="0">
              <a:lnSpc>
                <a:spcPts val="1680"/>
              </a:lnSpc>
              <a:buNone/>
            </a:pPr>
            <a:r>
              <a:rPr lang="en-US" sz="1200" b="1" dirty="0">
                <a:solidFill>
                  <a:srgbClr val="FCFDFF"/>
                </a:solidFill>
                <a:latin typeface="JetBrains Mono" pitchFamily="49" charset="0"/>
                <a:ea typeface="JetBrains Mono" pitchFamily="49" charset="-122"/>
                <a:cs typeface="JetBrains Mono" pitchFamily="49" charset="-120"/>
              </a:rPr>
              <a:t>2</a:t>
            </a:r>
            <a:endParaRPr lang="en-US" sz="1200" dirty="0"/>
          </a:p>
        </p:txBody>
      </p:sp>
      <p:sp>
        <p:nvSpPr>
          <p:cNvPr id="8" name="Text 6"/>
          <p:cNvSpPr/>
          <p:nvPr/>
        </p:nvSpPr>
        <p:spPr>
          <a:xfrm>
            <a:off x="1285240" y="3474086"/>
            <a:ext cx="461497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630"/>
                </a:solidFill>
                <a:latin typeface="Space Grotesk" pitchFamily="34" charset="0"/>
                <a:ea typeface="Space Grotesk" pitchFamily="34" charset="-122"/>
                <a:cs typeface="Space Grotesk" pitchFamily="34" charset="-120"/>
              </a:rPr>
              <a:t>Answers from live data</a:t>
            </a:r>
            <a:endParaRPr lang="en-US" sz="1600" dirty="0"/>
          </a:p>
        </p:txBody>
      </p:sp>
      <p:sp>
        <p:nvSpPr>
          <p:cNvPr id="9" name="Text 7"/>
          <p:cNvSpPr/>
          <p:nvPr/>
        </p:nvSpPr>
        <p:spPr>
          <a:xfrm>
            <a:off x="1285240" y="3768725"/>
            <a:ext cx="4614977"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470"/>
                </a:solidFill>
                <a:latin typeface="DM Sans" pitchFamily="34" charset="0"/>
                <a:ea typeface="DM Sans" pitchFamily="34" charset="-122"/>
                <a:cs typeface="DM Sans" pitchFamily="34" charset="-120"/>
              </a:rPr>
              <a:t>Looks up assets, service history and open jobs. It never makes up records.</a:t>
            </a:r>
            <a:endParaRPr lang="en-US" sz="1300" dirty="0"/>
          </a:p>
        </p:txBody>
      </p:sp>
      <p:sp>
        <p:nvSpPr>
          <p:cNvPr id="10" name="Text 8"/>
          <p:cNvSpPr/>
          <p:nvPr/>
        </p:nvSpPr>
        <p:spPr>
          <a:xfrm>
            <a:off x="812800" y="4476114"/>
            <a:ext cx="320040" cy="314960"/>
          </a:xfrm>
          <a:prstGeom prst="roundRect">
            <a:avLst>
              <a:gd name="adj" fmla="val 50000"/>
            </a:avLst>
          </a:prstGeom>
          <a:solidFill>
            <a:srgbClr val="4453E0"/>
          </a:solidFill>
          <a:ln/>
        </p:spPr>
        <p:txBody>
          <a:bodyPr wrap="none" lIns="0" tIns="0" rIns="0" bIns="0" rtlCol="0" anchor="ctr">
            <a:normAutofit/>
          </a:bodyPr>
          <a:lstStyle/>
          <a:p>
            <a:pPr algn="ctr" indent="0" marL="0">
              <a:lnSpc>
                <a:spcPts val="1680"/>
              </a:lnSpc>
              <a:buNone/>
            </a:pPr>
            <a:r>
              <a:rPr lang="en-US" sz="1200" b="1" dirty="0">
                <a:solidFill>
                  <a:srgbClr val="FCFDFF"/>
                </a:solidFill>
                <a:latin typeface="JetBrains Mono" pitchFamily="49" charset="0"/>
                <a:ea typeface="JetBrains Mono" pitchFamily="49" charset="-122"/>
                <a:cs typeface="JetBrains Mono" pitchFamily="49" charset="-120"/>
              </a:rPr>
              <a:t>3</a:t>
            </a:r>
            <a:endParaRPr lang="en-US" sz="1200" dirty="0"/>
          </a:p>
        </p:txBody>
      </p:sp>
      <p:sp>
        <p:nvSpPr>
          <p:cNvPr id="11" name="Text 9"/>
          <p:cNvSpPr/>
          <p:nvPr/>
        </p:nvSpPr>
        <p:spPr>
          <a:xfrm>
            <a:off x="1285240" y="4476114"/>
            <a:ext cx="461497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630"/>
                </a:solidFill>
                <a:latin typeface="Space Grotesk" pitchFamily="34" charset="0"/>
                <a:ea typeface="Space Grotesk" pitchFamily="34" charset="-122"/>
                <a:cs typeface="Space Grotesk" pitchFamily="34" charset="-120"/>
              </a:rPr>
              <a:t>It drafts, you decide</a:t>
            </a:r>
            <a:endParaRPr lang="en-US" sz="1600" dirty="0"/>
          </a:p>
        </p:txBody>
      </p:sp>
      <p:sp>
        <p:nvSpPr>
          <p:cNvPr id="12" name="Text 10"/>
          <p:cNvSpPr/>
          <p:nvPr/>
        </p:nvSpPr>
        <p:spPr>
          <a:xfrm>
            <a:off x="1285240" y="4770757"/>
            <a:ext cx="4614977"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470"/>
                </a:solidFill>
                <a:latin typeface="DM Sans" pitchFamily="34" charset="0"/>
                <a:ea typeface="DM Sans" pitchFamily="34" charset="-122"/>
                <a:cs typeface="DM Sans" pitchFamily="34" charset="-120"/>
              </a:rPr>
              <a:t>New jobs and status changes appear as a preview. Nothing is saved until you click Confirm.</a:t>
            </a:r>
            <a:endParaRPr lang="en-US" sz="1300" dirty="0"/>
          </a:p>
        </p:txBody>
      </p:sp>
      <p:sp>
        <p:nvSpPr>
          <p:cNvPr id="13" name="Shape 11"/>
          <p:cNvSpPr/>
          <p:nvPr/>
        </p:nvSpPr>
        <p:spPr>
          <a:xfrm>
            <a:off x="6172200" y="1879600"/>
            <a:ext cx="5207000" cy="3962400"/>
          </a:xfrm>
          <a:prstGeom prst="roundRect">
            <a:avLst>
              <a:gd name="adj" fmla="val 4487"/>
            </a:avLst>
          </a:prstGeom>
          <a:solidFill>
            <a:srgbClr val="0E1630"/>
          </a:solidFill>
          <a:ln/>
          <a:effectLst>
            <a:outerShdw sx="100000" sy="100000" kx="0" ky="0" algn="bl" rotWithShape="0" blurRad="304800" dist="152400" dir="5400000">
              <a:srgbClr val="0E1630">
                <a:alpha val="22000"/>
              </a:srgbClr>
            </a:outerShdw>
          </a:effectLst>
        </p:spPr>
      </p:sp>
      <p:sp>
        <p:nvSpPr>
          <p:cNvPr id="14" name="Text 12"/>
          <p:cNvSpPr/>
          <p:nvPr/>
        </p:nvSpPr>
        <p:spPr>
          <a:xfrm>
            <a:off x="6350000" y="2057400"/>
            <a:ext cx="499694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8792B3"/>
                </a:solidFill>
                <a:latin typeface="JetBrains Mono" pitchFamily="49" charset="0"/>
                <a:ea typeface="JetBrains Mono" pitchFamily="49" charset="-122"/>
                <a:cs typeface="JetBrains Mono" pitchFamily="49" charset="-120"/>
              </a:rPr>
              <a:t>EXAMPLE CHAT</a:t>
            </a:r>
            <a:endParaRPr lang="en-US" sz="1200" dirty="0"/>
          </a:p>
        </p:txBody>
      </p:sp>
      <p:sp>
        <p:nvSpPr>
          <p:cNvPr id="15" name="Text 13"/>
          <p:cNvSpPr/>
          <p:nvPr/>
        </p:nvSpPr>
        <p:spPr>
          <a:xfrm>
            <a:off x="7391400" y="2372361"/>
            <a:ext cx="3810000" cy="665480"/>
          </a:xfrm>
          <a:prstGeom prst="roundRect">
            <a:avLst>
              <a:gd name="adj" fmla="val 19084"/>
            </a:avLst>
          </a:prstGeom>
          <a:solidFill>
            <a:srgbClr val="4453E0"/>
          </a:solidFill>
          <a:ln/>
        </p:spPr>
        <p:txBody>
          <a:bodyPr wrap="square" lIns="102503" tIns="64403" rIns="0" bIns="39003" rtlCol="0" anchor="t">
            <a:normAutofit/>
          </a:bodyPr>
          <a:lstStyle/>
          <a:p>
            <a:pPr algn="l" indent="0" marL="0">
              <a:lnSpc>
                <a:spcPts val="1820"/>
              </a:lnSpc>
              <a:buNone/>
            </a:pPr>
            <a:r>
              <a:rPr lang="en-US" sz="1300" dirty="0">
                <a:solidFill>
                  <a:srgbClr val="F3F5FB"/>
                </a:solidFill>
                <a:latin typeface="DM Sans" pitchFamily="34" charset="0"/>
                <a:ea typeface="DM Sans" pitchFamily="34" charset="-122"/>
                <a:cs typeface="DM Sans" pitchFamily="34" charset="-120"/>
              </a:rPr>
              <a:t>When was this pump last serviced? It's leaking again.</a:t>
            </a:r>
            <a:endParaRPr lang="en-US" sz="1300" dirty="0"/>
          </a:p>
        </p:txBody>
      </p:sp>
      <p:sp>
        <p:nvSpPr>
          <p:cNvPr id="16" name="Text 14"/>
          <p:cNvSpPr/>
          <p:nvPr/>
        </p:nvSpPr>
        <p:spPr>
          <a:xfrm>
            <a:off x="6350000" y="3139439"/>
            <a:ext cx="4572000" cy="665480"/>
          </a:xfrm>
          <a:prstGeom prst="roundRect">
            <a:avLst>
              <a:gd name="adj" fmla="val 19084"/>
            </a:avLst>
          </a:prstGeom>
          <a:solidFill>
            <a:srgbClr val="1C2747"/>
          </a:solidFill>
          <a:ln/>
        </p:spPr>
        <p:txBody>
          <a:bodyPr wrap="square" lIns="102503" tIns="64403" rIns="0" bIns="39003" rtlCol="0" anchor="t">
            <a:normAutofit/>
          </a:bodyPr>
          <a:lstStyle/>
          <a:p>
            <a:pPr algn="l" indent="0" marL="0">
              <a:lnSpc>
                <a:spcPts val="1820"/>
              </a:lnSpc>
              <a:buNone/>
            </a:pPr>
            <a:r>
              <a:rPr lang="en-US" sz="1300" dirty="0">
                <a:solidFill>
                  <a:srgbClr val="E8ECF7"/>
                </a:solidFill>
                <a:latin typeface="DM Sans" pitchFamily="34" charset="0"/>
                <a:ea typeface="DM Sans" pitchFamily="34" charset="-122"/>
                <a:cs typeface="DM Sans" pitchFamily="34" charset="-120"/>
              </a:rPr>
              <a:t>Its last completed job was a seal replacement. I've drafted a new work order for you to review.</a:t>
            </a:r>
            <a:endParaRPr lang="en-US" sz="1300" dirty="0"/>
          </a:p>
        </p:txBody>
      </p:sp>
      <p:sp>
        <p:nvSpPr>
          <p:cNvPr id="17" name="Shape 15"/>
          <p:cNvSpPr/>
          <p:nvPr/>
        </p:nvSpPr>
        <p:spPr>
          <a:xfrm>
            <a:off x="6350000" y="3906521"/>
            <a:ext cx="4851400" cy="1515745"/>
          </a:xfrm>
          <a:prstGeom prst="roundRect">
            <a:avLst>
              <a:gd name="adj" fmla="val 8379"/>
            </a:avLst>
          </a:prstGeom>
          <a:solidFill>
            <a:srgbClr val="F3F5FB"/>
          </a:solidFill>
          <a:ln/>
        </p:spPr>
      </p:sp>
      <p:sp>
        <p:nvSpPr>
          <p:cNvPr id="18" name="Text 16"/>
          <p:cNvSpPr/>
          <p:nvPr/>
        </p:nvSpPr>
        <p:spPr>
          <a:xfrm>
            <a:off x="6527800" y="4058921"/>
            <a:ext cx="4630674"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453E0"/>
                </a:solidFill>
                <a:latin typeface="JetBrains Mono" pitchFamily="49" charset="0"/>
                <a:ea typeface="JetBrains Mono" pitchFamily="49" charset="-122"/>
                <a:cs typeface="JetBrains Mono" pitchFamily="49" charset="-120"/>
              </a:rPr>
              <a:t>DRAFT WORK ORDER</a:t>
            </a:r>
            <a:endParaRPr lang="en-US" sz="1200" dirty="0"/>
          </a:p>
        </p:txBody>
      </p:sp>
      <p:sp>
        <p:nvSpPr>
          <p:cNvPr id="19" name="Text 17"/>
          <p:cNvSpPr/>
          <p:nvPr/>
        </p:nvSpPr>
        <p:spPr>
          <a:xfrm>
            <a:off x="6527800" y="4348482"/>
            <a:ext cx="4630674" cy="248285"/>
          </a:xfrm>
          <a:prstGeom prst="rect">
            <a:avLst/>
          </a:prstGeom>
          <a:noFill/>
          <a:ln/>
        </p:spPr>
        <p:txBody>
          <a:bodyPr wrap="square" lIns="0" tIns="0" rIns="0" bIns="0" rtlCol="0" anchor="t">
            <a:normAutofit/>
          </a:bodyPr>
          <a:lstStyle/>
          <a:p>
            <a:pPr algn="l" indent="0" marL="0">
              <a:lnSpc>
                <a:spcPts val="1755"/>
              </a:lnSpc>
              <a:buNone/>
            </a:pPr>
            <a:r>
              <a:rPr lang="en-US" sz="1300" b="1" dirty="0">
                <a:solidFill>
                  <a:srgbClr val="0E1630"/>
                </a:solidFill>
                <a:latin typeface="DM Sans" pitchFamily="34" charset="0"/>
                <a:ea typeface="DM Sans" pitchFamily="34" charset="-122"/>
                <a:cs typeface="DM Sans" pitchFamily="34" charset="-120"/>
              </a:rPr>
              <a:t>Pump leaking again, check seals</a:t>
            </a:r>
            <a:endParaRPr lang="en-US" sz="1300" dirty="0"/>
          </a:p>
        </p:txBody>
      </p:sp>
      <p:sp>
        <p:nvSpPr>
          <p:cNvPr id="20" name="Text 18"/>
          <p:cNvSpPr/>
          <p:nvPr/>
        </p:nvSpPr>
        <p:spPr>
          <a:xfrm>
            <a:off x="6527800" y="4647564"/>
            <a:ext cx="4630674" cy="23114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4A5470"/>
                </a:solidFill>
                <a:latin typeface="DM Sans" pitchFamily="34" charset="0"/>
                <a:ea typeface="DM Sans" pitchFamily="34" charset="-122"/>
                <a:cs typeface="DM Sans" pitchFamily="34" charset="-120"/>
              </a:rPr>
              <a:t>Priority: High · Asset: the pump you have open</a:t>
            </a:r>
            <a:endParaRPr lang="en-US" sz="1200" dirty="0"/>
          </a:p>
        </p:txBody>
      </p:sp>
      <p:sp>
        <p:nvSpPr>
          <p:cNvPr id="21" name="Text 19"/>
          <p:cNvSpPr/>
          <p:nvPr/>
        </p:nvSpPr>
        <p:spPr>
          <a:xfrm>
            <a:off x="6527800" y="4929507"/>
            <a:ext cx="893445" cy="340360"/>
          </a:xfrm>
          <a:prstGeom prst="roundRect">
            <a:avLst>
              <a:gd name="adj" fmla="val 22388"/>
            </a:avLst>
          </a:prstGeom>
          <a:solidFill>
            <a:srgbClr val="2F8A3E"/>
          </a:solidFill>
          <a:ln/>
        </p:spPr>
        <p:txBody>
          <a:bodyPr wrap="none" lIns="0" tIns="0" rIns="0" bIns="0" rtlCol="0" anchor="ctr">
            <a:normAutofit/>
          </a:bodyPr>
          <a:lstStyle/>
          <a:p>
            <a:pPr algn="ctr" indent="0" marL="0">
              <a:lnSpc>
                <a:spcPts val="1680"/>
              </a:lnSpc>
              <a:buNone/>
            </a:pPr>
            <a:r>
              <a:rPr lang="en-US" sz="1200" b="1" dirty="0">
                <a:solidFill>
                  <a:srgbClr val="FCFDFF"/>
                </a:solidFill>
                <a:latin typeface="DM Sans" pitchFamily="34" charset="0"/>
                <a:ea typeface="DM Sans" pitchFamily="34" charset="-122"/>
                <a:cs typeface="DM Sans" pitchFamily="34" charset="-120"/>
              </a:rPr>
              <a:t>Confirm</a:t>
            </a:r>
            <a:endParaRPr lang="en-US" sz="1200" dirty="0"/>
          </a:p>
        </p:txBody>
      </p:sp>
      <p:sp>
        <p:nvSpPr>
          <p:cNvPr id="22" name="Text 20"/>
          <p:cNvSpPr/>
          <p:nvPr/>
        </p:nvSpPr>
        <p:spPr>
          <a:xfrm>
            <a:off x="7522845" y="4929507"/>
            <a:ext cx="815657" cy="340360"/>
          </a:xfrm>
          <a:prstGeom prst="roundRect">
            <a:avLst>
              <a:gd name="adj" fmla="val 22388"/>
            </a:avLst>
          </a:prstGeom>
          <a:solidFill>
            <a:srgbClr val="DCE1F0"/>
          </a:solidFill>
          <a:ln/>
        </p:spPr>
        <p:txBody>
          <a:bodyPr wrap="none" lIns="0" tIns="0" rIns="0" bIns="0" rtlCol="0" anchor="ctr">
            <a:normAutofit/>
          </a:bodyPr>
          <a:lstStyle/>
          <a:p>
            <a:pPr algn="ctr" indent="0" marL="0">
              <a:lnSpc>
                <a:spcPts val="1680"/>
              </a:lnSpc>
              <a:buNone/>
            </a:pPr>
            <a:r>
              <a:rPr lang="en-US" sz="1200" b="1" dirty="0">
                <a:solidFill>
                  <a:srgbClr val="0E1630"/>
                </a:solidFill>
                <a:latin typeface="DM Sans" pitchFamily="34" charset="0"/>
                <a:ea typeface="DM Sans" pitchFamily="34" charset="-122"/>
                <a:cs typeface="DM Sans" pitchFamily="34" charset="-120"/>
              </a:rPr>
              <a:t>Cancel</a:t>
            </a:r>
            <a:endParaRPr lang="en-US" sz="1200" dirty="0"/>
          </a:p>
        </p:txBody>
      </p:sp>
      <p:sp>
        <p:nvSpPr>
          <p:cNvPr id="23" name="Text 21"/>
          <p:cNvSpPr/>
          <p:nvPr/>
        </p:nvSpPr>
        <p:spPr>
          <a:xfrm>
            <a:off x="812800" y="6236971"/>
            <a:ext cx="517093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5B6585"/>
                </a:solidFill>
                <a:latin typeface="JetBrains Mono" pitchFamily="49" charset="0"/>
                <a:ea typeface="JetBrains Mono" pitchFamily="49" charset="-122"/>
                <a:cs typeface="JetBrains Mono" pitchFamily="49" charset="-120"/>
              </a:rPr>
              <a:t>EQUINOX CMMS · POWERED BY GOOGLE GEMINI</a:t>
            </a:r>
            <a:endParaRPr lang="en-US" sz="1200" dirty="0"/>
          </a:p>
        </p:txBody>
      </p:sp>
      <p:sp>
        <p:nvSpPr>
          <p:cNvPr id="24" name="Text 22"/>
          <p:cNvSpPr/>
          <p:nvPr/>
        </p:nvSpPr>
        <p:spPr>
          <a:xfrm>
            <a:off x="11107420" y="6236971"/>
            <a:ext cx="271780" cy="238760"/>
          </a:xfrm>
          <a:prstGeom prst="rect">
            <a:avLst/>
          </a:prstGeom>
          <a:noFill/>
          <a:ln/>
        </p:spPr>
        <p:txBody>
          <a:bodyPr wrap="square" lIns="0" tIns="0" rIns="0" bIns="0" rtlCol="0" anchor="t">
            <a:normAutofit/>
          </a:bodyPr>
          <a:lstStyle/>
          <a:p>
            <a:pPr algn="r" indent="0" marL="0">
              <a:lnSpc>
                <a:spcPts val="1680"/>
              </a:lnSpc>
              <a:buNone/>
            </a:pPr>
            <a:r>
              <a:rPr lang="en-US" sz="1200" spc="150" kern="0" dirty="0">
                <a:solidFill>
                  <a:srgbClr val="5B6585"/>
                </a:solidFill>
                <a:latin typeface="JetBrains Mono" pitchFamily="49" charset="0"/>
                <a:ea typeface="JetBrains Mono" pitchFamily="49" charset="-122"/>
                <a:cs typeface="JetBrains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3FD6E6"/>
                </a:solidFill>
                <a:latin typeface="JetBrains Mono" pitchFamily="49" charset="0"/>
                <a:ea typeface="JetBrains Mono" pitchFamily="49" charset="-122"/>
                <a:cs typeface="JetBrains Mono" pitchFamily="49" charset="-120"/>
              </a:rPr>
              <a:t>VOICEOPS · VOICE AGENT</a:t>
            </a:r>
            <a:endParaRPr lang="en-US" sz="1200" dirty="0"/>
          </a:p>
        </p:txBody>
      </p:sp>
      <p:sp>
        <p:nvSpPr>
          <p:cNvPr id="3" name="Text 1"/>
          <p:cNvSpPr/>
          <p:nvPr>
            <p:ph type="title"/>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E8ECF7"/>
                </a:solidFill>
                <a:latin typeface="Space Grotesk" pitchFamily="34" charset="0"/>
                <a:ea typeface="Space Grotesk" pitchFamily="34" charset="-122"/>
                <a:cs typeface="Space Grotesk" pitchFamily="34" charset="-120"/>
              </a:rPr>
              <a:t>Call it in. The agent does the paperwork.</a:t>
            </a:r>
            <a:endParaRPr lang="en-US" sz="3200" dirty="0"/>
          </a:p>
        </p:txBody>
      </p:sp>
      <p:sp>
        <p:nvSpPr>
          <p:cNvPr id="4" name="Shape 2"/>
          <p:cNvSpPr/>
          <p:nvPr/>
        </p:nvSpPr>
        <p:spPr>
          <a:xfrm>
            <a:off x="815975" y="1882775"/>
            <a:ext cx="4057650" cy="3956050"/>
          </a:xfrm>
          <a:prstGeom prst="roundRect">
            <a:avLst>
              <a:gd name="adj" fmla="val 4414"/>
            </a:avLst>
          </a:prstGeom>
          <a:gradFill rotWithShape="1">
            <a:gsLst>
              <a:gs pos="0">
                <a:srgbClr val="0F3440"/>
              </a:gs>
              <a:gs pos="75000">
                <a:srgbClr val="131C30"/>
              </a:gs>
            </a:gsLst>
            <a:lin ang="4200000" scaled="0"/>
          </a:gradFill>
          <a:ln w="6350">
            <a:solidFill>
              <a:srgbClr val="2BB3C2"/>
            </a:solidFill>
            <a:prstDash val="solid"/>
          </a:ln>
        </p:spPr>
      </p:sp>
      <p:sp>
        <p:nvSpPr>
          <p:cNvPr id="5" name="Text 3"/>
          <p:cNvSpPr/>
          <p:nvPr/>
        </p:nvSpPr>
        <p:spPr>
          <a:xfrm>
            <a:off x="1097280" y="2164082"/>
            <a:ext cx="3599891"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7FE3EE"/>
                </a:solidFill>
                <a:latin typeface="JetBrains Mono" pitchFamily="49" charset="0"/>
                <a:ea typeface="JetBrains Mono" pitchFamily="49" charset="-122"/>
                <a:cs typeface="JetBrains Mono" pitchFamily="49" charset="-120"/>
              </a:rPr>
              <a:t>THE OPERATOR SAYS</a:t>
            </a:r>
            <a:endParaRPr lang="en-US" sz="1200" dirty="0"/>
          </a:p>
        </p:txBody>
      </p:sp>
      <p:sp>
        <p:nvSpPr>
          <p:cNvPr id="6" name="Text 4"/>
          <p:cNvSpPr/>
          <p:nvPr/>
        </p:nvSpPr>
        <p:spPr>
          <a:xfrm>
            <a:off x="1097280" y="2727325"/>
            <a:ext cx="3599891" cy="10731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E8ECF7"/>
                </a:solidFill>
                <a:latin typeface="Space Grotesk" pitchFamily="34" charset="0"/>
                <a:ea typeface="Space Grotesk" pitchFamily="34" charset="-122"/>
                <a:cs typeface="Space Grotesk" pitchFamily="34" charset="-120"/>
              </a:rPr>
              <a:t>"Press number 3 on line B is leaking oil and making a grinding noise."</a:t>
            </a:r>
            <a:endParaRPr lang="en-US" sz="2200" dirty="0"/>
          </a:p>
        </p:txBody>
      </p:sp>
      <p:sp>
        <p:nvSpPr>
          <p:cNvPr id="7" name="Text 5"/>
          <p:cNvSpPr/>
          <p:nvPr/>
        </p:nvSpPr>
        <p:spPr>
          <a:xfrm>
            <a:off x="1097280" y="4124964"/>
            <a:ext cx="3495040" cy="665480"/>
          </a:xfrm>
          <a:prstGeom prst="roundRect">
            <a:avLst>
              <a:gd name="adj" fmla="val 15267"/>
            </a:avLst>
          </a:prstGeom>
          <a:solidFill>
            <a:srgbClr val="3FD6E6">
              <a:alpha val="12000"/>
            </a:srgbClr>
          </a:solidFill>
          <a:ln/>
        </p:spPr>
        <p:txBody>
          <a:bodyPr wrap="square" lIns="97242" tIns="71842" rIns="11" bIns="46442" rtlCol="0" anchor="t">
            <a:normAutofit/>
          </a:bodyPr>
          <a:lstStyle/>
          <a:p>
            <a:pPr algn="l" indent="0" marL="0">
              <a:lnSpc>
                <a:spcPts val="1820"/>
              </a:lnSpc>
              <a:buNone/>
            </a:pPr>
            <a:r>
              <a:rPr lang="en-US" sz="1300" dirty="0">
                <a:solidFill>
                  <a:srgbClr val="C3CBE3"/>
                </a:solidFill>
                <a:latin typeface="DM Sans" pitchFamily="34" charset="0"/>
                <a:ea typeface="DM Sans" pitchFamily="34" charset="-122"/>
                <a:cs typeface="DM Sans" pitchFamily="34" charset="-120"/>
              </a:rPr>
              <a:t>Any language: the caller's exact words are saved on the work order.</a:t>
            </a:r>
            <a:endParaRPr lang="en-US" sz="1300" dirty="0"/>
          </a:p>
        </p:txBody>
      </p:sp>
      <p:sp>
        <p:nvSpPr>
          <p:cNvPr id="8" name="Text 6"/>
          <p:cNvSpPr/>
          <p:nvPr/>
        </p:nvSpPr>
        <p:spPr>
          <a:xfrm>
            <a:off x="1097280" y="4892042"/>
            <a:ext cx="3495040" cy="665480"/>
          </a:xfrm>
          <a:prstGeom prst="roundRect">
            <a:avLst>
              <a:gd name="adj" fmla="val 15267"/>
            </a:avLst>
          </a:prstGeom>
          <a:solidFill>
            <a:srgbClr val="3FD6E6">
              <a:alpha val="12000"/>
            </a:srgbClr>
          </a:solidFill>
          <a:ln/>
        </p:spPr>
        <p:txBody>
          <a:bodyPr wrap="square" lIns="97242" tIns="71842" rIns="11" bIns="46442" rtlCol="0" anchor="t">
            <a:normAutofit/>
          </a:bodyPr>
          <a:lstStyle/>
          <a:p>
            <a:pPr algn="l" indent="0" marL="0">
              <a:lnSpc>
                <a:spcPts val="1820"/>
              </a:lnSpc>
              <a:buNone/>
            </a:pPr>
            <a:r>
              <a:rPr lang="en-US" sz="1300" dirty="0">
                <a:solidFill>
                  <a:srgbClr val="C3CBE3"/>
                </a:solidFill>
                <a:latin typeface="DM Sans" pitchFamily="34" charset="0"/>
                <a:ea typeface="DM Sans" pitchFamily="34" charset="-122"/>
                <a:cs typeface="DM Sans" pitchFamily="34" charset="-120"/>
              </a:rPr>
              <a:t>Works over a real phone line or in the browser.</a:t>
            </a:r>
            <a:endParaRPr lang="en-US" sz="1300" dirty="0"/>
          </a:p>
        </p:txBody>
      </p:sp>
      <p:sp>
        <p:nvSpPr>
          <p:cNvPr id="9" name="Shape 7"/>
          <p:cNvSpPr/>
          <p:nvPr/>
        </p:nvSpPr>
        <p:spPr>
          <a:xfrm>
            <a:off x="5283200" y="1892300"/>
            <a:ext cx="457200" cy="457200"/>
          </a:xfrm>
          <a:prstGeom prst="roundRect">
            <a:avLst>
              <a:gd name="adj" fmla="val 27778"/>
            </a:avLst>
          </a:prstGeom>
          <a:solidFill>
            <a:srgbClr val="1C2747"/>
          </a:solidFill>
          <a:ln/>
        </p:spPr>
      </p:sp>
      <p:pic>
        <p:nvPicPr>
          <p:cNvPr id="10" name="Image 0" descr="Globe">    </p:cNvPr>
          <p:cNvPicPr>
            <a:picLocks noChangeAspect="1"/>
          </p:cNvPicPr>
          <p:nvPr/>
        </p:nvPicPr>
        <p:blipFill>
          <a:blip r:embed="rId1"/>
          <a:srcRect l="0" r="0" t="0" b="0"/>
          <a:stretch/>
        </p:blipFill>
        <p:spPr>
          <a:xfrm>
            <a:off x="5384800" y="1993900"/>
            <a:ext cx="254000" cy="254000"/>
          </a:xfrm>
          <a:prstGeom prst="rect">
            <a:avLst/>
          </a:prstGeom>
        </p:spPr>
      </p:pic>
      <p:sp>
        <p:nvSpPr>
          <p:cNvPr id="11" name="Text 8"/>
          <p:cNvSpPr/>
          <p:nvPr/>
        </p:nvSpPr>
        <p:spPr>
          <a:xfrm>
            <a:off x="5892800" y="1879600"/>
            <a:ext cx="56509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ECF7"/>
                </a:solidFill>
                <a:latin typeface="Space Grotesk" pitchFamily="34" charset="0"/>
                <a:ea typeface="Space Grotesk" pitchFamily="34" charset="-122"/>
                <a:cs typeface="Space Grotesk" pitchFamily="34" charset="-120"/>
              </a:rPr>
              <a:t>Detects the caller's language</a:t>
            </a:r>
            <a:endParaRPr lang="en-US" sz="1600" dirty="0"/>
          </a:p>
        </p:txBody>
      </p:sp>
      <p:sp>
        <p:nvSpPr>
          <p:cNvPr id="12" name="Text 9"/>
          <p:cNvSpPr/>
          <p:nvPr/>
        </p:nvSpPr>
        <p:spPr>
          <a:xfrm>
            <a:off x="5892800" y="2148839"/>
            <a:ext cx="56509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F"/>
                </a:solidFill>
                <a:latin typeface="DM Sans" pitchFamily="34" charset="0"/>
                <a:ea typeface="DM Sans" pitchFamily="34" charset="-122"/>
                <a:cs typeface="DM Sans" pitchFamily="34" charset="-120"/>
              </a:rPr>
              <a:t>and replies in it</a:t>
            </a:r>
            <a:endParaRPr lang="en-US" sz="1200" dirty="0"/>
          </a:p>
        </p:txBody>
      </p:sp>
      <p:sp>
        <p:nvSpPr>
          <p:cNvPr id="13" name="Shape 10"/>
          <p:cNvSpPr/>
          <p:nvPr/>
        </p:nvSpPr>
        <p:spPr>
          <a:xfrm>
            <a:off x="5283200" y="2762250"/>
            <a:ext cx="457200" cy="457200"/>
          </a:xfrm>
          <a:prstGeom prst="roundRect">
            <a:avLst>
              <a:gd name="adj" fmla="val 27778"/>
            </a:avLst>
          </a:prstGeom>
          <a:solidFill>
            <a:srgbClr val="1C2747"/>
          </a:solidFill>
          <a:ln/>
        </p:spPr>
      </p:sp>
      <p:pic>
        <p:nvPicPr>
          <p:cNvPr id="14" name="Image 1" descr="Search">    </p:cNvPr>
          <p:cNvPicPr>
            <a:picLocks noChangeAspect="1"/>
          </p:cNvPicPr>
          <p:nvPr/>
        </p:nvPicPr>
        <p:blipFill>
          <a:blip r:embed="rId2"/>
          <a:srcRect l="0" r="0" t="0" b="0"/>
          <a:stretch/>
        </p:blipFill>
        <p:spPr>
          <a:xfrm>
            <a:off x="5384800" y="2863850"/>
            <a:ext cx="254000" cy="254000"/>
          </a:xfrm>
          <a:prstGeom prst="rect">
            <a:avLst/>
          </a:prstGeom>
        </p:spPr>
      </p:pic>
      <p:sp>
        <p:nvSpPr>
          <p:cNvPr id="15" name="Text 11"/>
          <p:cNvSpPr/>
          <p:nvPr/>
        </p:nvSpPr>
        <p:spPr>
          <a:xfrm>
            <a:off x="5892800" y="2749550"/>
            <a:ext cx="56509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ECF7"/>
                </a:solidFill>
                <a:latin typeface="Space Grotesk" pitchFamily="34" charset="0"/>
                <a:ea typeface="Space Grotesk" pitchFamily="34" charset="-122"/>
                <a:cs typeface="Space Grotesk" pitchFamily="34" charset="-120"/>
              </a:rPr>
              <a:t>Identifies the equipment</a:t>
            </a:r>
            <a:endParaRPr lang="en-US" sz="1600" dirty="0"/>
          </a:p>
        </p:txBody>
      </p:sp>
      <p:sp>
        <p:nvSpPr>
          <p:cNvPr id="16" name="Text 12"/>
          <p:cNvSpPr/>
          <p:nvPr/>
        </p:nvSpPr>
        <p:spPr>
          <a:xfrm>
            <a:off x="5892800" y="3018789"/>
            <a:ext cx="56509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F"/>
                </a:solidFill>
                <a:latin typeface="DM Sans" pitchFamily="34" charset="0"/>
                <a:ea typeface="DM Sans" pitchFamily="34" charset="-122"/>
                <a:cs typeface="DM Sans" pitchFamily="34" charset="-120"/>
              </a:rPr>
              <a:t>by name, code, model or location, and checks its status</a:t>
            </a:r>
            <a:endParaRPr lang="en-US" sz="1200" dirty="0"/>
          </a:p>
        </p:txBody>
      </p:sp>
      <p:sp>
        <p:nvSpPr>
          <p:cNvPr id="17" name="Shape 13"/>
          <p:cNvSpPr/>
          <p:nvPr/>
        </p:nvSpPr>
        <p:spPr>
          <a:xfrm>
            <a:off x="5283200" y="3632200"/>
            <a:ext cx="457200" cy="457200"/>
          </a:xfrm>
          <a:prstGeom prst="roundRect">
            <a:avLst>
              <a:gd name="adj" fmla="val 27778"/>
            </a:avLst>
          </a:prstGeom>
          <a:solidFill>
            <a:srgbClr val="1C2747"/>
          </a:solidFill>
          <a:ln/>
        </p:spPr>
      </p:sp>
      <p:pic>
        <p:nvPicPr>
          <p:cNvPr id="18" name="Image 2" descr="Wrench">    </p:cNvPr>
          <p:cNvPicPr>
            <a:picLocks noChangeAspect="1"/>
          </p:cNvPicPr>
          <p:nvPr/>
        </p:nvPicPr>
        <p:blipFill>
          <a:blip r:embed="rId3"/>
          <a:srcRect l="0" r="0" t="0" b="0"/>
          <a:stretch/>
        </p:blipFill>
        <p:spPr>
          <a:xfrm>
            <a:off x="5384800" y="3733800"/>
            <a:ext cx="254000" cy="254000"/>
          </a:xfrm>
          <a:prstGeom prst="rect">
            <a:avLst/>
          </a:prstGeom>
        </p:spPr>
      </p:pic>
      <p:sp>
        <p:nvSpPr>
          <p:cNvPr id="19" name="Text 14"/>
          <p:cNvSpPr/>
          <p:nvPr/>
        </p:nvSpPr>
        <p:spPr>
          <a:xfrm>
            <a:off x="5892800" y="3619500"/>
            <a:ext cx="56509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ECF7"/>
                </a:solidFill>
                <a:latin typeface="Space Grotesk" pitchFamily="34" charset="0"/>
                <a:ea typeface="Space Grotesk" pitchFamily="34" charset="-122"/>
                <a:cs typeface="Space Grotesk" pitchFamily="34" charset="-120"/>
              </a:rPr>
              <a:t>Creates the work order</a:t>
            </a:r>
            <a:endParaRPr lang="en-US" sz="1600" dirty="0"/>
          </a:p>
        </p:txBody>
      </p:sp>
      <p:sp>
        <p:nvSpPr>
          <p:cNvPr id="20" name="Text 15"/>
          <p:cNvSpPr/>
          <p:nvPr/>
        </p:nvSpPr>
        <p:spPr>
          <a:xfrm>
            <a:off x="5892800" y="3888739"/>
            <a:ext cx="56509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F"/>
                </a:solidFill>
                <a:latin typeface="DM Sans" pitchFamily="34" charset="0"/>
                <a:ea typeface="DM Sans" pitchFamily="34" charset="-122"/>
                <a:cs typeface="DM Sans" pitchFamily="34" charset="-120"/>
              </a:rPr>
              <a:t>with a severity from Low to Critical</a:t>
            </a:r>
            <a:endParaRPr lang="en-US" sz="1200" dirty="0"/>
          </a:p>
        </p:txBody>
      </p:sp>
      <p:sp>
        <p:nvSpPr>
          <p:cNvPr id="21" name="Shape 16"/>
          <p:cNvSpPr/>
          <p:nvPr/>
        </p:nvSpPr>
        <p:spPr>
          <a:xfrm>
            <a:off x="5283200" y="4502150"/>
            <a:ext cx="457200" cy="457200"/>
          </a:xfrm>
          <a:prstGeom prst="roundRect">
            <a:avLst>
              <a:gd name="adj" fmla="val 27778"/>
            </a:avLst>
          </a:prstGeom>
          <a:solidFill>
            <a:srgbClr val="1C2747"/>
          </a:solidFill>
          <a:ln/>
        </p:spPr>
      </p:sp>
      <p:pic>
        <p:nvPicPr>
          <p:cNvPr id="22" name="Image 3" descr="Users">    </p:cNvPr>
          <p:cNvPicPr>
            <a:picLocks noChangeAspect="1"/>
          </p:cNvPicPr>
          <p:nvPr/>
        </p:nvPicPr>
        <p:blipFill>
          <a:blip r:embed="rId4"/>
          <a:srcRect l="0" r="0" t="0" b="0"/>
          <a:stretch/>
        </p:blipFill>
        <p:spPr>
          <a:xfrm>
            <a:off x="5384800" y="4603750"/>
            <a:ext cx="254000" cy="254000"/>
          </a:xfrm>
          <a:prstGeom prst="rect">
            <a:avLst/>
          </a:prstGeom>
        </p:spPr>
      </p:pic>
      <p:sp>
        <p:nvSpPr>
          <p:cNvPr id="23" name="Text 17"/>
          <p:cNvSpPr/>
          <p:nvPr/>
        </p:nvSpPr>
        <p:spPr>
          <a:xfrm>
            <a:off x="5892800" y="4489450"/>
            <a:ext cx="56509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ECF7"/>
                </a:solidFill>
                <a:latin typeface="Space Grotesk" pitchFamily="34" charset="0"/>
                <a:ea typeface="Space Grotesk" pitchFamily="34" charset="-122"/>
                <a:cs typeface="Space Grotesk" pitchFamily="34" charset="-120"/>
              </a:rPr>
              <a:t>Assigns the best technician</a:t>
            </a:r>
            <a:endParaRPr lang="en-US" sz="1600" dirty="0"/>
          </a:p>
        </p:txBody>
      </p:sp>
      <p:sp>
        <p:nvSpPr>
          <p:cNvPr id="24" name="Text 18"/>
          <p:cNvSpPr/>
          <p:nvPr/>
        </p:nvSpPr>
        <p:spPr>
          <a:xfrm>
            <a:off x="5892800" y="4758692"/>
            <a:ext cx="56509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F"/>
                </a:solidFill>
                <a:latin typeface="DM Sans" pitchFamily="34" charset="0"/>
                <a:ea typeface="DM Sans" pitchFamily="34" charset="-122"/>
                <a:cs typeface="DM Sans" pitchFamily="34" charset="-120"/>
              </a:rPr>
              <a:t>ranked automatically, then notified in the app</a:t>
            </a:r>
            <a:endParaRPr lang="en-US" sz="1200" dirty="0"/>
          </a:p>
        </p:txBody>
      </p:sp>
      <p:sp>
        <p:nvSpPr>
          <p:cNvPr id="25" name="Shape 19"/>
          <p:cNvSpPr/>
          <p:nvPr/>
        </p:nvSpPr>
        <p:spPr>
          <a:xfrm>
            <a:off x="5283200" y="5372100"/>
            <a:ext cx="457200" cy="457200"/>
          </a:xfrm>
          <a:prstGeom prst="roundRect">
            <a:avLst>
              <a:gd name="adj" fmla="val 27778"/>
            </a:avLst>
          </a:prstGeom>
          <a:solidFill>
            <a:srgbClr val="3A2A14"/>
          </a:solidFill>
          <a:ln/>
        </p:spPr>
      </p:sp>
      <p:pic>
        <p:nvPicPr>
          <p:cNvPr id="26" name="Image 4" descr="Warning">    </p:cNvPr>
          <p:cNvPicPr>
            <a:picLocks noChangeAspect="1"/>
          </p:cNvPicPr>
          <p:nvPr/>
        </p:nvPicPr>
        <p:blipFill>
          <a:blip r:embed="rId5"/>
          <a:srcRect l="0" r="0" t="0" b="0"/>
          <a:stretch/>
        </p:blipFill>
        <p:spPr>
          <a:xfrm>
            <a:off x="5384800" y="5473700"/>
            <a:ext cx="254000" cy="254000"/>
          </a:xfrm>
          <a:prstGeom prst="rect">
            <a:avLst/>
          </a:prstGeom>
        </p:spPr>
      </p:pic>
      <p:sp>
        <p:nvSpPr>
          <p:cNvPr id="27" name="Text 20"/>
          <p:cNvSpPr/>
          <p:nvPr/>
        </p:nvSpPr>
        <p:spPr>
          <a:xfrm>
            <a:off x="5892800" y="5359400"/>
            <a:ext cx="565099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ECF7"/>
                </a:solidFill>
                <a:latin typeface="Space Grotesk" pitchFamily="34" charset="0"/>
                <a:ea typeface="Space Grotesk" pitchFamily="34" charset="-122"/>
                <a:cs typeface="Space Grotesk" pitchFamily="34" charset="-120"/>
              </a:rPr>
              <a:t>Escalates when it's urgent</a:t>
            </a:r>
            <a:endParaRPr lang="en-US" sz="1600" dirty="0"/>
          </a:p>
        </p:txBody>
      </p:sp>
      <p:sp>
        <p:nvSpPr>
          <p:cNvPr id="28" name="Text 21"/>
          <p:cNvSpPr/>
          <p:nvPr/>
        </p:nvSpPr>
        <p:spPr>
          <a:xfrm>
            <a:off x="5892800" y="5628642"/>
            <a:ext cx="56509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F"/>
                </a:solidFill>
                <a:latin typeface="DM Sans" pitchFamily="34" charset="0"/>
                <a:ea typeface="DM Sans" pitchFamily="34" charset="-122"/>
                <a:cs typeface="DM Sans" pitchFamily="34" charset="-120"/>
              </a:rPr>
              <a:t>raises priority, alerts admins and phones the technician</a:t>
            </a:r>
            <a:endParaRPr lang="en-US" sz="1200" dirty="0"/>
          </a:p>
        </p:txBody>
      </p:sp>
      <p:sp>
        <p:nvSpPr>
          <p:cNvPr id="29" name="Text 22"/>
          <p:cNvSpPr/>
          <p:nvPr/>
        </p:nvSpPr>
        <p:spPr>
          <a:xfrm>
            <a:off x="812800" y="6236971"/>
            <a:ext cx="45079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792B3"/>
                </a:solidFill>
                <a:latin typeface="JetBrains Mono" pitchFamily="49" charset="0"/>
                <a:ea typeface="JetBrains Mono" pitchFamily="49" charset="-122"/>
                <a:cs typeface="JetBrains Mono" pitchFamily="49" charset="-120"/>
              </a:rPr>
              <a:t>EQUINOX CMMS · VOICE BY ELEVENLABS</a:t>
            </a:r>
            <a:endParaRPr lang="en-US" sz="1200" dirty="0"/>
          </a:p>
        </p:txBody>
      </p:sp>
      <p:sp>
        <p:nvSpPr>
          <p:cNvPr id="30" name="Text 23"/>
          <p:cNvSpPr/>
          <p:nvPr/>
        </p:nvSpPr>
        <p:spPr>
          <a:xfrm>
            <a:off x="11107420" y="6236971"/>
            <a:ext cx="271780" cy="238760"/>
          </a:xfrm>
          <a:prstGeom prst="rect">
            <a:avLst/>
          </a:prstGeom>
          <a:noFill/>
          <a:ln/>
        </p:spPr>
        <p:txBody>
          <a:bodyPr wrap="square" lIns="0" tIns="0" rIns="0" bIns="0" rtlCol="0" anchor="t">
            <a:normAutofit/>
          </a:bodyPr>
          <a:lstStyle/>
          <a:p>
            <a:pPr algn="r" indent="0" marL="0">
              <a:lnSpc>
                <a:spcPts val="1680"/>
              </a:lnSpc>
              <a:buNone/>
            </a:pPr>
            <a:r>
              <a:rPr lang="en-US" sz="1200" spc="150" kern="0" dirty="0">
                <a:solidFill>
                  <a:srgbClr val="8792B3"/>
                </a:solidFill>
                <a:latin typeface="JetBrains Mono" pitchFamily="49" charset="0"/>
                <a:ea typeface="JetBrains Mono" pitchFamily="49" charset="-122"/>
                <a:cs typeface="JetBrains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5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453E0"/>
                </a:solidFill>
                <a:latin typeface="JetBrains Mono" pitchFamily="49" charset="0"/>
                <a:ea typeface="JetBrains Mono" pitchFamily="49" charset="-122"/>
                <a:cs typeface="JetBrains Mono" pitchFamily="49" charset="-120"/>
              </a:rPr>
              <a:t>SMART DISPATCH</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E1630"/>
                </a:solidFill>
                <a:latin typeface="Space Grotesk" pitchFamily="34" charset="0"/>
                <a:ea typeface="Space Grotesk" pitchFamily="34" charset="-122"/>
                <a:cs typeface="Space Grotesk" pitchFamily="34" charset="-120"/>
              </a:rPr>
              <a:t>Every assignment comes with its reasons</a:t>
            </a:r>
            <a:endParaRPr lang="en-US" sz="3200" dirty="0"/>
          </a:p>
        </p:txBody>
      </p:sp>
      <p:sp>
        <p:nvSpPr>
          <p:cNvPr id="4" name="Text 2"/>
          <p:cNvSpPr/>
          <p:nvPr/>
        </p:nvSpPr>
        <p:spPr>
          <a:xfrm>
            <a:off x="812800" y="1879600"/>
            <a:ext cx="5153914"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5B6585"/>
                </a:solidFill>
                <a:latin typeface="JetBrains Mono" pitchFamily="49" charset="0"/>
                <a:ea typeface="JetBrains Mono" pitchFamily="49" charset="-122"/>
                <a:cs typeface="JetBrains Mono" pitchFamily="49" charset="-120"/>
              </a:rPr>
              <a:t>HOW THE SCORE IS BUILT</a:t>
            </a:r>
            <a:endParaRPr lang="en-US" sz="1200" dirty="0"/>
          </a:p>
        </p:txBody>
      </p:sp>
      <p:sp>
        <p:nvSpPr>
          <p:cNvPr id="5" name="Shape 3"/>
          <p:cNvSpPr/>
          <p:nvPr/>
        </p:nvSpPr>
        <p:spPr>
          <a:xfrm>
            <a:off x="812800" y="2197739"/>
            <a:ext cx="5003800" cy="0"/>
          </a:xfrm>
          <a:prstGeom prst="line">
            <a:avLst/>
          </a:prstGeom>
          <a:noFill/>
          <a:ln w="6350">
            <a:solidFill>
              <a:srgbClr val="C9D0E6"/>
            </a:solidFill>
            <a:prstDash val="solid"/>
          </a:ln>
        </p:spPr>
      </p:sp>
      <p:sp>
        <p:nvSpPr>
          <p:cNvPr id="6" name="Text 4"/>
          <p:cNvSpPr/>
          <p:nvPr/>
        </p:nvSpPr>
        <p:spPr>
          <a:xfrm>
            <a:off x="812800" y="2339342"/>
            <a:ext cx="2695861"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E1630"/>
                </a:solidFill>
                <a:latin typeface="DM Sans" pitchFamily="34" charset="0"/>
                <a:ea typeface="DM Sans" pitchFamily="34" charset="-122"/>
                <a:cs typeface="DM Sans" pitchFamily="34" charset="-120"/>
              </a:rPr>
              <a:t>Based at the machine's site</a:t>
            </a:r>
            <a:endParaRPr lang="en-US" sz="1400" dirty="0"/>
          </a:p>
        </p:txBody>
      </p:sp>
      <p:sp>
        <p:nvSpPr>
          <p:cNvPr id="7" name="Text 5"/>
          <p:cNvSpPr/>
          <p:nvPr/>
        </p:nvSpPr>
        <p:spPr>
          <a:xfrm>
            <a:off x="5519420" y="2339342"/>
            <a:ext cx="347980" cy="25654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4453E0"/>
                </a:solidFill>
                <a:latin typeface="JetBrains Mono" pitchFamily="49" charset="0"/>
                <a:ea typeface="JetBrains Mono" pitchFamily="49" charset="-122"/>
                <a:cs typeface="JetBrains Mono" pitchFamily="49" charset="-120"/>
              </a:rPr>
              <a:t>+40</a:t>
            </a:r>
            <a:endParaRPr lang="en-US" sz="1300" dirty="0"/>
          </a:p>
        </p:txBody>
      </p:sp>
      <p:sp>
        <p:nvSpPr>
          <p:cNvPr id="8" name="Shape 6"/>
          <p:cNvSpPr/>
          <p:nvPr/>
        </p:nvSpPr>
        <p:spPr>
          <a:xfrm>
            <a:off x="812800" y="2713354"/>
            <a:ext cx="5003800" cy="0"/>
          </a:xfrm>
          <a:prstGeom prst="line">
            <a:avLst/>
          </a:prstGeom>
          <a:noFill/>
          <a:ln w="6350">
            <a:solidFill>
              <a:srgbClr val="C9D0E6"/>
            </a:solidFill>
            <a:prstDash val="solid"/>
          </a:ln>
        </p:spPr>
      </p:sp>
      <p:sp>
        <p:nvSpPr>
          <p:cNvPr id="9" name="Text 7"/>
          <p:cNvSpPr/>
          <p:nvPr/>
        </p:nvSpPr>
        <p:spPr>
          <a:xfrm>
            <a:off x="812800" y="2854964"/>
            <a:ext cx="1872954" cy="4876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E1630"/>
                </a:solidFill>
                <a:latin typeface="DM Sans" pitchFamily="34" charset="0"/>
                <a:ea typeface="DM Sans" pitchFamily="34" charset="-122"/>
                <a:cs typeface="DM Sans" pitchFamily="34" charset="-120"/>
              </a:rPr>
              <a:t>Light workload</a:t>
            </a:r>
            <a:endParaRPr lang="en-US" sz="1400" dirty="0"/>
          </a:p>
          <a:p>
            <a:pPr algn="l" indent="0" marL="0">
              <a:lnSpc>
                <a:spcPts val="1820"/>
              </a:lnSpc>
              <a:buNone/>
            </a:pPr>
            <a:r>
              <a:rPr lang="en-US" sz="1400" dirty="0">
                <a:solidFill>
                  <a:srgbClr val="4A5470"/>
                </a:solidFill>
                <a:latin typeface="DM Sans" pitchFamily="34" charset="0"/>
                <a:ea typeface="DM Sans" pitchFamily="34" charset="-122"/>
                <a:cs typeface="DM Sans" pitchFamily="34" charset="-120"/>
              </a:rPr>
              <a:t>minus 10 per open job</a:t>
            </a:r>
            <a:endParaRPr lang="en-US" sz="1400" dirty="0"/>
          </a:p>
        </p:txBody>
      </p:sp>
      <p:sp>
        <p:nvSpPr>
          <p:cNvPr id="10" name="Text 8"/>
          <p:cNvSpPr/>
          <p:nvPr/>
        </p:nvSpPr>
        <p:spPr>
          <a:xfrm>
            <a:off x="4925060" y="2970529"/>
            <a:ext cx="942340" cy="25654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4453E0"/>
                </a:solidFill>
                <a:latin typeface="JetBrains Mono" pitchFamily="49" charset="0"/>
                <a:ea typeface="JetBrains Mono" pitchFamily="49" charset="-122"/>
                <a:cs typeface="JetBrains Mono" pitchFamily="49" charset="-120"/>
              </a:rPr>
              <a:t>up to +30</a:t>
            </a:r>
            <a:endParaRPr lang="en-US" sz="1300" dirty="0"/>
          </a:p>
        </p:txBody>
      </p:sp>
      <p:sp>
        <p:nvSpPr>
          <p:cNvPr id="11" name="Shape 9"/>
          <p:cNvSpPr/>
          <p:nvPr/>
        </p:nvSpPr>
        <p:spPr>
          <a:xfrm>
            <a:off x="812800" y="3460117"/>
            <a:ext cx="5003800" cy="0"/>
          </a:xfrm>
          <a:prstGeom prst="line">
            <a:avLst/>
          </a:prstGeom>
          <a:noFill/>
          <a:ln w="6350">
            <a:solidFill>
              <a:srgbClr val="C9D0E6"/>
            </a:solidFill>
            <a:prstDash val="solid"/>
          </a:ln>
        </p:spPr>
      </p:sp>
      <p:sp>
        <p:nvSpPr>
          <p:cNvPr id="12" name="Text 10"/>
          <p:cNvSpPr/>
          <p:nvPr/>
        </p:nvSpPr>
        <p:spPr>
          <a:xfrm>
            <a:off x="812800" y="3601721"/>
            <a:ext cx="2457511" cy="48768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E1630"/>
                </a:solidFill>
                <a:latin typeface="DM Sans" pitchFamily="34" charset="0"/>
                <a:ea typeface="DM Sans" pitchFamily="34" charset="-122"/>
                <a:cs typeface="DM Sans" pitchFamily="34" charset="-120"/>
              </a:rPr>
              <a:t>On shift today</a:t>
            </a:r>
            <a:endParaRPr lang="en-US" sz="1400" dirty="0"/>
          </a:p>
          <a:p>
            <a:pPr algn="l" indent="0" marL="0">
              <a:lnSpc>
                <a:spcPts val="1820"/>
              </a:lnSpc>
              <a:buNone/>
            </a:pPr>
            <a:r>
              <a:rPr lang="en-US" sz="1400" dirty="0">
                <a:solidFill>
                  <a:srgbClr val="4A5470"/>
                </a:solidFill>
                <a:latin typeface="DM Sans" pitchFamily="34" charset="0"/>
                <a:ea typeface="DM Sans" pitchFamily="34" charset="-122"/>
                <a:cs typeface="DM Sans" pitchFamily="34" charset="-120"/>
              </a:rPr>
              <a:t>more free hours, more points</a:t>
            </a:r>
            <a:endParaRPr lang="en-US" sz="1400" dirty="0"/>
          </a:p>
        </p:txBody>
      </p:sp>
      <p:sp>
        <p:nvSpPr>
          <p:cNvPr id="13" name="Text 11"/>
          <p:cNvSpPr/>
          <p:nvPr/>
        </p:nvSpPr>
        <p:spPr>
          <a:xfrm>
            <a:off x="4826000" y="3717292"/>
            <a:ext cx="1041400" cy="25654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4453E0"/>
                </a:solidFill>
                <a:latin typeface="JetBrains Mono" pitchFamily="49" charset="0"/>
                <a:ea typeface="JetBrains Mono" pitchFamily="49" charset="-122"/>
                <a:cs typeface="JetBrains Mono" pitchFamily="49" charset="-120"/>
              </a:rPr>
              <a:t>+20 to +30</a:t>
            </a:r>
            <a:endParaRPr lang="en-US" sz="1300" dirty="0"/>
          </a:p>
        </p:txBody>
      </p:sp>
      <p:sp>
        <p:nvSpPr>
          <p:cNvPr id="14" name="Shape 12"/>
          <p:cNvSpPr/>
          <p:nvPr/>
        </p:nvSpPr>
        <p:spPr>
          <a:xfrm>
            <a:off x="812800" y="4206875"/>
            <a:ext cx="5003800" cy="0"/>
          </a:xfrm>
          <a:prstGeom prst="line">
            <a:avLst/>
          </a:prstGeom>
          <a:noFill/>
          <a:ln w="6350">
            <a:solidFill>
              <a:srgbClr val="C9D0E6"/>
            </a:solidFill>
            <a:prstDash val="solid"/>
          </a:ln>
        </p:spPr>
      </p:sp>
      <p:sp>
        <p:nvSpPr>
          <p:cNvPr id="15" name="Text 13"/>
          <p:cNvSpPr/>
          <p:nvPr/>
        </p:nvSpPr>
        <p:spPr>
          <a:xfrm>
            <a:off x="812800" y="4348479"/>
            <a:ext cx="1132999"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E1630"/>
                </a:solidFill>
                <a:latin typeface="DM Sans" pitchFamily="34" charset="0"/>
                <a:ea typeface="DM Sans" pitchFamily="34" charset="-122"/>
                <a:cs typeface="DM Sans" pitchFamily="34" charset="-120"/>
              </a:rPr>
              <a:t>No shift set</a:t>
            </a:r>
            <a:endParaRPr lang="en-US" sz="1400" dirty="0"/>
          </a:p>
        </p:txBody>
      </p:sp>
      <p:sp>
        <p:nvSpPr>
          <p:cNvPr id="16" name="Text 14"/>
          <p:cNvSpPr/>
          <p:nvPr/>
        </p:nvSpPr>
        <p:spPr>
          <a:xfrm>
            <a:off x="5519420" y="4348479"/>
            <a:ext cx="347980" cy="25654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4453E0"/>
                </a:solidFill>
                <a:latin typeface="JetBrains Mono" pitchFamily="49" charset="0"/>
                <a:ea typeface="JetBrains Mono" pitchFamily="49" charset="-122"/>
                <a:cs typeface="JetBrains Mono" pitchFamily="49" charset="-120"/>
              </a:rPr>
              <a:t>+10</a:t>
            </a:r>
            <a:endParaRPr lang="en-US" sz="1300" dirty="0"/>
          </a:p>
        </p:txBody>
      </p:sp>
      <p:sp>
        <p:nvSpPr>
          <p:cNvPr id="17" name="Shape 15"/>
          <p:cNvSpPr/>
          <p:nvPr/>
        </p:nvSpPr>
        <p:spPr>
          <a:xfrm>
            <a:off x="812800" y="4722496"/>
            <a:ext cx="5003800" cy="0"/>
          </a:xfrm>
          <a:prstGeom prst="line">
            <a:avLst/>
          </a:prstGeom>
          <a:noFill/>
          <a:ln w="6350">
            <a:solidFill>
              <a:srgbClr val="C9D0E6"/>
            </a:solidFill>
            <a:prstDash val="solid"/>
          </a:ln>
        </p:spPr>
      </p:sp>
      <p:sp>
        <p:nvSpPr>
          <p:cNvPr id="18" name="Shape 16"/>
          <p:cNvSpPr/>
          <p:nvPr/>
        </p:nvSpPr>
        <p:spPr>
          <a:xfrm>
            <a:off x="812800" y="5236846"/>
            <a:ext cx="5003800" cy="0"/>
          </a:xfrm>
          <a:prstGeom prst="line">
            <a:avLst/>
          </a:prstGeom>
          <a:noFill/>
          <a:ln w="6350">
            <a:solidFill>
              <a:srgbClr val="C9D0E6"/>
            </a:solidFill>
            <a:prstDash val="solid"/>
          </a:ln>
        </p:spPr>
      </p:sp>
      <p:sp>
        <p:nvSpPr>
          <p:cNvPr id="19" name="Text 17"/>
          <p:cNvSpPr/>
          <p:nvPr/>
        </p:nvSpPr>
        <p:spPr>
          <a:xfrm>
            <a:off x="812800" y="4864100"/>
            <a:ext cx="1433417"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0E1630"/>
                </a:solidFill>
                <a:latin typeface="DM Sans" pitchFamily="34" charset="0"/>
                <a:ea typeface="DM Sans" pitchFamily="34" charset="-122"/>
                <a:cs typeface="DM Sans" pitchFamily="34" charset="-120"/>
              </a:rPr>
              <a:t>Off shift today</a:t>
            </a:r>
            <a:endParaRPr lang="en-US" sz="1400" dirty="0"/>
          </a:p>
        </p:txBody>
      </p:sp>
      <p:sp>
        <p:nvSpPr>
          <p:cNvPr id="20" name="Text 18"/>
          <p:cNvSpPr/>
          <p:nvPr/>
        </p:nvSpPr>
        <p:spPr>
          <a:xfrm>
            <a:off x="4627880" y="4864100"/>
            <a:ext cx="1239520" cy="256540"/>
          </a:xfrm>
          <a:prstGeom prst="rect">
            <a:avLst/>
          </a:prstGeom>
          <a:noFill/>
          <a:ln/>
        </p:spPr>
        <p:txBody>
          <a:bodyPr wrap="none" lIns="0" tIns="0" rIns="0" bIns="0" rtlCol="0" anchor="t">
            <a:normAutofit/>
          </a:bodyPr>
          <a:lstStyle/>
          <a:p>
            <a:pPr algn="l" indent="0" marL="0">
              <a:lnSpc>
                <a:spcPts val="1820"/>
              </a:lnSpc>
              <a:buNone/>
            </a:pPr>
            <a:r>
              <a:rPr lang="en-US" sz="1300" b="1" dirty="0">
                <a:solidFill>
                  <a:srgbClr val="B23A48"/>
                </a:solidFill>
                <a:latin typeface="JetBrains Mono" pitchFamily="49" charset="0"/>
                <a:ea typeface="JetBrains Mono" pitchFamily="49" charset="-122"/>
                <a:cs typeface="JetBrains Mono" pitchFamily="49" charset="-120"/>
              </a:rPr>
              <a:t>never picked</a:t>
            </a:r>
            <a:endParaRPr lang="en-US" sz="1300" dirty="0"/>
          </a:p>
        </p:txBody>
      </p:sp>
      <p:sp>
        <p:nvSpPr>
          <p:cNvPr id="21" name="Shape 19"/>
          <p:cNvSpPr/>
          <p:nvPr/>
        </p:nvSpPr>
        <p:spPr>
          <a:xfrm>
            <a:off x="6175375" y="1882775"/>
            <a:ext cx="5200650" cy="3956050"/>
          </a:xfrm>
          <a:prstGeom prst="roundRect">
            <a:avLst>
              <a:gd name="adj" fmla="val 4414"/>
            </a:avLst>
          </a:prstGeom>
          <a:solidFill>
            <a:srgbClr val="FCFDFF"/>
          </a:solidFill>
          <a:ln w="6350">
            <a:solidFill>
              <a:srgbClr val="DCE1F0"/>
            </a:solidFill>
            <a:prstDash val="solid"/>
          </a:ln>
          <a:effectLst>
            <a:outerShdw sx="100000" sy="100000" kx="0" ky="0" algn="bl" rotWithShape="0" blurRad="254000" dist="101600" dir="5400000">
              <a:srgbClr val="0E1630">
                <a:alpha val="8000"/>
              </a:srgbClr>
            </a:outerShdw>
          </a:effectLst>
        </p:spPr>
      </p:sp>
      <p:sp>
        <p:nvSpPr>
          <p:cNvPr id="22" name="Text 20"/>
          <p:cNvSpPr/>
          <p:nvPr/>
        </p:nvSpPr>
        <p:spPr>
          <a:xfrm>
            <a:off x="6431280" y="2138679"/>
            <a:ext cx="4829505" cy="222488"/>
          </a:xfrm>
          <a:prstGeom prst="rect">
            <a:avLst/>
          </a:prstGeom>
          <a:noFill/>
          <a:ln/>
        </p:spPr>
        <p:txBody>
          <a:bodyPr wrap="square" lIns="0" tIns="0" rIns="0" bIns="0" rtlCol="0" anchor="t">
            <a:normAutofit/>
          </a:bodyPr>
          <a:lstStyle/>
          <a:p>
            <a:pPr algn="l" indent="0" marL="0">
              <a:lnSpc>
                <a:spcPts val="1570"/>
              </a:lnSpc>
              <a:buNone/>
            </a:pPr>
            <a:r>
              <a:rPr lang="en-US" sz="1121" spc="100" kern="0" dirty="0">
                <a:solidFill>
                  <a:srgbClr val="5B6585"/>
                </a:solidFill>
                <a:latin typeface="JetBrains Mono" pitchFamily="49" charset="0"/>
                <a:ea typeface="JetBrains Mono" pitchFamily="49" charset="-122"/>
                <a:cs typeface="JetBrains Mono" pitchFamily="49" charset="-120"/>
              </a:rPr>
              <a:t>EXAMPLE: PUMP FAULT AT SITE A</a:t>
            </a:r>
            <a:endParaRPr lang="en-US" sz="1121" dirty="0"/>
          </a:p>
        </p:txBody>
      </p:sp>
      <p:sp>
        <p:nvSpPr>
          <p:cNvPr id="23" name="Text 21"/>
          <p:cNvSpPr/>
          <p:nvPr/>
        </p:nvSpPr>
        <p:spPr>
          <a:xfrm>
            <a:off x="6431280" y="2498570"/>
            <a:ext cx="189242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1630"/>
                </a:solidFill>
                <a:latin typeface="DM Sans" pitchFamily="34" charset="0"/>
                <a:ea typeface="DM Sans" pitchFamily="34" charset="-122"/>
                <a:cs typeface="DM Sans" pitchFamily="34" charset="-120"/>
              </a:rPr>
              <a:t>Ravi K. · assigned</a:t>
            </a:r>
            <a:endParaRPr lang="en-US" sz="1500" dirty="0"/>
          </a:p>
        </p:txBody>
      </p:sp>
      <p:sp>
        <p:nvSpPr>
          <p:cNvPr id="24" name="Text 22"/>
          <p:cNvSpPr/>
          <p:nvPr/>
        </p:nvSpPr>
        <p:spPr>
          <a:xfrm>
            <a:off x="10736072" y="2507456"/>
            <a:ext cx="384048"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4453E0"/>
                </a:solidFill>
                <a:latin typeface="JetBrains Mono" pitchFamily="49" charset="0"/>
                <a:ea typeface="JetBrains Mono" pitchFamily="49" charset="-122"/>
                <a:cs typeface="JetBrains Mono" pitchFamily="49" charset="-120"/>
              </a:rPr>
              <a:t>100</a:t>
            </a:r>
            <a:endParaRPr lang="en-US" sz="1400" dirty="0"/>
          </a:p>
        </p:txBody>
      </p:sp>
      <p:sp>
        <p:nvSpPr>
          <p:cNvPr id="25" name="Shape 23"/>
          <p:cNvSpPr/>
          <p:nvPr/>
        </p:nvSpPr>
        <p:spPr>
          <a:xfrm>
            <a:off x="6431280" y="2813763"/>
            <a:ext cx="4688840" cy="101600"/>
          </a:xfrm>
          <a:prstGeom prst="roundRect">
            <a:avLst>
              <a:gd name="adj" fmla="val 50000"/>
            </a:avLst>
          </a:prstGeom>
          <a:solidFill>
            <a:srgbClr val="E3E7FB"/>
          </a:solidFill>
          <a:ln/>
        </p:spPr>
      </p:sp>
      <p:sp>
        <p:nvSpPr>
          <p:cNvPr id="26" name="Shape 24"/>
          <p:cNvSpPr/>
          <p:nvPr/>
        </p:nvSpPr>
        <p:spPr>
          <a:xfrm>
            <a:off x="6431280" y="2813763"/>
            <a:ext cx="4688840" cy="101600"/>
          </a:xfrm>
          <a:prstGeom prst="roundRect">
            <a:avLst>
              <a:gd name="adj" fmla="val 50000"/>
            </a:avLst>
          </a:prstGeom>
          <a:solidFill>
            <a:srgbClr val="4453E0"/>
          </a:solidFill>
          <a:ln/>
        </p:spPr>
      </p:sp>
      <p:sp>
        <p:nvSpPr>
          <p:cNvPr id="27" name="Text 25"/>
          <p:cNvSpPr/>
          <p:nvPr/>
        </p:nvSpPr>
        <p:spPr>
          <a:xfrm>
            <a:off x="6431280" y="2978863"/>
            <a:ext cx="4829505" cy="214789"/>
          </a:xfrm>
          <a:prstGeom prst="rect">
            <a:avLst/>
          </a:prstGeom>
          <a:noFill/>
          <a:ln/>
        </p:spPr>
        <p:txBody>
          <a:bodyPr wrap="square" lIns="0" tIns="0" rIns="0" bIns="0" rtlCol="0" anchor="t">
            <a:normAutofit/>
          </a:bodyPr>
          <a:lstStyle/>
          <a:p>
            <a:pPr algn="l" indent="0" marL="0">
              <a:lnSpc>
                <a:spcPts val="1523"/>
              </a:lnSpc>
              <a:buNone/>
            </a:pPr>
            <a:r>
              <a:rPr lang="en-US" sz="1088" dirty="0">
                <a:solidFill>
                  <a:srgbClr val="4A5470"/>
                </a:solidFill>
                <a:latin typeface="DM Sans" pitchFamily="34" charset="0"/>
                <a:ea typeface="DM Sans" pitchFamily="34" charset="-122"/>
                <a:cs typeface="DM Sans" pitchFamily="34" charset="-120"/>
              </a:rPr>
              <a:t>same site · on shift, 8h free · 0 open jobs</a:t>
            </a:r>
            <a:endParaRPr lang="en-US" sz="1088" dirty="0"/>
          </a:p>
        </p:txBody>
      </p:sp>
      <p:sp>
        <p:nvSpPr>
          <p:cNvPr id="28" name="Text 26"/>
          <p:cNvSpPr/>
          <p:nvPr/>
        </p:nvSpPr>
        <p:spPr>
          <a:xfrm>
            <a:off x="6431280" y="3331052"/>
            <a:ext cx="201263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1630"/>
                </a:solidFill>
                <a:latin typeface="DM Sans" pitchFamily="34" charset="0"/>
                <a:ea typeface="DM Sans" pitchFamily="34" charset="-122"/>
                <a:cs typeface="DM Sans" pitchFamily="34" charset="-120"/>
              </a:rPr>
              <a:t>Meena S. · backup</a:t>
            </a:r>
            <a:endParaRPr lang="en-US" sz="1500" dirty="0"/>
          </a:p>
        </p:txBody>
      </p:sp>
      <p:sp>
        <p:nvSpPr>
          <p:cNvPr id="29" name="Text 27"/>
          <p:cNvSpPr/>
          <p:nvPr/>
        </p:nvSpPr>
        <p:spPr>
          <a:xfrm>
            <a:off x="10855960" y="3339945"/>
            <a:ext cx="264160"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4453E0"/>
                </a:solidFill>
                <a:latin typeface="JetBrains Mono" pitchFamily="49" charset="0"/>
                <a:ea typeface="JetBrains Mono" pitchFamily="49" charset="-122"/>
                <a:cs typeface="JetBrains Mono" pitchFamily="49" charset="-120"/>
              </a:rPr>
              <a:t>60</a:t>
            </a:r>
            <a:endParaRPr lang="en-US" sz="1400" dirty="0"/>
          </a:p>
        </p:txBody>
      </p:sp>
      <p:sp>
        <p:nvSpPr>
          <p:cNvPr id="30" name="Shape 28"/>
          <p:cNvSpPr/>
          <p:nvPr/>
        </p:nvSpPr>
        <p:spPr>
          <a:xfrm>
            <a:off x="6431280" y="3646252"/>
            <a:ext cx="4688840" cy="101600"/>
          </a:xfrm>
          <a:prstGeom prst="roundRect">
            <a:avLst>
              <a:gd name="adj" fmla="val 50000"/>
            </a:avLst>
          </a:prstGeom>
          <a:solidFill>
            <a:srgbClr val="E3E7FB"/>
          </a:solidFill>
          <a:ln/>
        </p:spPr>
      </p:sp>
      <p:sp>
        <p:nvSpPr>
          <p:cNvPr id="31" name="Shape 29"/>
          <p:cNvSpPr/>
          <p:nvPr/>
        </p:nvSpPr>
        <p:spPr>
          <a:xfrm>
            <a:off x="6431280" y="3646252"/>
            <a:ext cx="4688840" cy="101600"/>
          </a:xfrm>
          <a:prstGeom prst="roundRect">
            <a:avLst>
              <a:gd name="adj" fmla="val 50000"/>
            </a:avLst>
          </a:prstGeom>
          <a:solidFill>
            <a:srgbClr val="8C97F2"/>
          </a:solidFill>
          <a:ln/>
        </p:spPr>
      </p:sp>
      <p:sp>
        <p:nvSpPr>
          <p:cNvPr id="32" name="Text 30"/>
          <p:cNvSpPr/>
          <p:nvPr/>
        </p:nvSpPr>
        <p:spPr>
          <a:xfrm>
            <a:off x="6431280" y="3811352"/>
            <a:ext cx="4829505" cy="214709"/>
          </a:xfrm>
          <a:prstGeom prst="rect">
            <a:avLst/>
          </a:prstGeom>
          <a:noFill/>
          <a:ln/>
        </p:spPr>
        <p:txBody>
          <a:bodyPr wrap="square" lIns="0" tIns="0" rIns="0" bIns="0" rtlCol="0" anchor="t">
            <a:normAutofit/>
          </a:bodyPr>
          <a:lstStyle/>
          <a:p>
            <a:pPr algn="l" indent="0" marL="0">
              <a:lnSpc>
                <a:spcPts val="1523"/>
              </a:lnSpc>
              <a:buNone/>
            </a:pPr>
            <a:r>
              <a:rPr lang="en-US" sz="1088" dirty="0">
                <a:solidFill>
                  <a:srgbClr val="4A5470"/>
                </a:solidFill>
                <a:latin typeface="DM Sans" pitchFamily="34" charset="0"/>
                <a:ea typeface="DM Sans" pitchFamily="34" charset="-122"/>
                <a:cs typeface="DM Sans" pitchFamily="34" charset="-120"/>
              </a:rPr>
              <a:t>same site · no shift set · 2 open jobs</a:t>
            </a:r>
            <a:endParaRPr lang="en-US" sz="1088" dirty="0"/>
          </a:p>
        </p:txBody>
      </p:sp>
      <p:sp>
        <p:nvSpPr>
          <p:cNvPr id="33" name="Text 31"/>
          <p:cNvSpPr/>
          <p:nvPr/>
        </p:nvSpPr>
        <p:spPr>
          <a:xfrm>
            <a:off x="6431280" y="4163461"/>
            <a:ext cx="184642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1630"/>
                </a:solidFill>
                <a:latin typeface="DM Sans" pitchFamily="34" charset="0"/>
                <a:ea typeface="DM Sans" pitchFamily="34" charset="-122"/>
                <a:cs typeface="DM Sans" pitchFamily="34" charset="-120"/>
              </a:rPr>
              <a:t>Arjun P. · backup</a:t>
            </a:r>
            <a:endParaRPr lang="en-US" sz="1500" dirty="0"/>
          </a:p>
        </p:txBody>
      </p:sp>
      <p:sp>
        <p:nvSpPr>
          <p:cNvPr id="34" name="Text 32"/>
          <p:cNvSpPr/>
          <p:nvPr/>
        </p:nvSpPr>
        <p:spPr>
          <a:xfrm>
            <a:off x="10855960" y="4172347"/>
            <a:ext cx="264160" cy="274320"/>
          </a:xfrm>
          <a:prstGeom prst="rect">
            <a:avLst/>
          </a:prstGeom>
          <a:noFill/>
          <a:ln/>
        </p:spPr>
        <p:txBody>
          <a:bodyPr wrap="square" lIns="0" tIns="0" rIns="0" bIns="0" rtlCol="0" anchor="t">
            <a:normAutofit/>
          </a:bodyPr>
          <a:lstStyle/>
          <a:p>
            <a:pPr algn="r" indent="0" marL="0">
              <a:lnSpc>
                <a:spcPts val="1960"/>
              </a:lnSpc>
              <a:buNone/>
            </a:pPr>
            <a:r>
              <a:rPr lang="en-US" sz="1400" b="1" dirty="0">
                <a:solidFill>
                  <a:srgbClr val="4453E0"/>
                </a:solidFill>
                <a:latin typeface="JetBrains Mono" pitchFamily="49" charset="0"/>
                <a:ea typeface="JetBrains Mono" pitchFamily="49" charset="-122"/>
                <a:cs typeface="JetBrains Mono" pitchFamily="49" charset="-120"/>
              </a:rPr>
              <a:t>47</a:t>
            </a:r>
            <a:endParaRPr lang="en-US" sz="1400" dirty="0"/>
          </a:p>
        </p:txBody>
      </p:sp>
      <p:sp>
        <p:nvSpPr>
          <p:cNvPr id="35" name="Shape 33"/>
          <p:cNvSpPr/>
          <p:nvPr/>
        </p:nvSpPr>
        <p:spPr>
          <a:xfrm>
            <a:off x="6431280" y="4478654"/>
            <a:ext cx="4688840" cy="101600"/>
          </a:xfrm>
          <a:prstGeom prst="roundRect">
            <a:avLst>
              <a:gd name="adj" fmla="val 50000"/>
            </a:avLst>
          </a:prstGeom>
          <a:solidFill>
            <a:srgbClr val="E3E7FB"/>
          </a:solidFill>
          <a:ln/>
        </p:spPr>
      </p:sp>
      <p:sp>
        <p:nvSpPr>
          <p:cNvPr id="36" name="Shape 34"/>
          <p:cNvSpPr/>
          <p:nvPr/>
        </p:nvSpPr>
        <p:spPr>
          <a:xfrm>
            <a:off x="6431280" y="4478654"/>
            <a:ext cx="4688840" cy="101600"/>
          </a:xfrm>
          <a:prstGeom prst="roundRect">
            <a:avLst>
              <a:gd name="adj" fmla="val 50000"/>
            </a:avLst>
          </a:prstGeom>
          <a:solidFill>
            <a:srgbClr val="8C97F2"/>
          </a:solidFill>
          <a:ln/>
        </p:spPr>
      </p:sp>
      <p:sp>
        <p:nvSpPr>
          <p:cNvPr id="37" name="Text 35"/>
          <p:cNvSpPr/>
          <p:nvPr/>
        </p:nvSpPr>
        <p:spPr>
          <a:xfrm>
            <a:off x="6431280" y="4643754"/>
            <a:ext cx="4829505" cy="214789"/>
          </a:xfrm>
          <a:prstGeom prst="rect">
            <a:avLst/>
          </a:prstGeom>
          <a:noFill/>
          <a:ln/>
        </p:spPr>
        <p:txBody>
          <a:bodyPr wrap="square" lIns="0" tIns="0" rIns="0" bIns="0" rtlCol="0" anchor="t">
            <a:normAutofit/>
          </a:bodyPr>
          <a:lstStyle/>
          <a:p>
            <a:pPr algn="l" indent="0" marL="0">
              <a:lnSpc>
                <a:spcPts val="1523"/>
              </a:lnSpc>
              <a:buNone/>
            </a:pPr>
            <a:r>
              <a:rPr lang="en-US" sz="1088" dirty="0">
                <a:solidFill>
                  <a:srgbClr val="4A5470"/>
                </a:solidFill>
                <a:latin typeface="DM Sans" pitchFamily="34" charset="0"/>
                <a:ea typeface="DM Sans" pitchFamily="34" charset="-122"/>
                <a:cs typeface="DM Sans" pitchFamily="34" charset="-120"/>
              </a:rPr>
              <a:t>other site · on shift, 6h free · 1 open job</a:t>
            </a:r>
            <a:endParaRPr lang="en-US" sz="1088" dirty="0"/>
          </a:p>
        </p:txBody>
      </p:sp>
      <p:sp>
        <p:nvSpPr>
          <p:cNvPr id="38" name="Text 36"/>
          <p:cNvSpPr/>
          <p:nvPr/>
        </p:nvSpPr>
        <p:spPr>
          <a:xfrm>
            <a:off x="6431280" y="5010944"/>
            <a:ext cx="4688840" cy="571976"/>
          </a:xfrm>
          <a:prstGeom prst="roundRect">
            <a:avLst>
              <a:gd name="adj" fmla="val 15543"/>
            </a:avLst>
          </a:prstGeom>
          <a:solidFill>
            <a:srgbClr val="E3E7FB"/>
          </a:solidFill>
          <a:ln/>
        </p:spPr>
        <p:txBody>
          <a:bodyPr wrap="square" lIns="88262" tIns="62862" rIns="0" bIns="37462" rtlCol="0" anchor="t">
            <a:normAutofit/>
          </a:bodyPr>
          <a:lstStyle/>
          <a:p>
            <a:pPr algn="l" indent="0" marL="0">
              <a:lnSpc>
                <a:spcPts val="1559"/>
              </a:lnSpc>
              <a:buNone/>
            </a:pPr>
            <a:r>
              <a:rPr lang="en-US" sz="1114" dirty="0">
                <a:solidFill>
                  <a:srgbClr val="0E1630"/>
                </a:solidFill>
                <a:latin typeface="DM Sans" pitchFamily="34" charset="0"/>
                <a:ea typeface="DM Sans" pitchFamily="34" charset="-122"/>
                <a:cs typeface="DM Sans" pitchFamily="34" charset="-120"/>
              </a:rPr>
              <a:t>The top three and their reasons are saved with the assignment, so anyone can see why.</a:t>
            </a:r>
            <a:endParaRPr lang="en-US" sz="1114" dirty="0"/>
          </a:p>
        </p:txBody>
      </p:sp>
      <p:sp>
        <p:nvSpPr>
          <p:cNvPr id="39" name="Text 37"/>
          <p:cNvSpPr/>
          <p:nvPr/>
        </p:nvSpPr>
        <p:spPr>
          <a:xfrm>
            <a:off x="812800" y="6236971"/>
            <a:ext cx="4905756"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5B6585"/>
                </a:solidFill>
                <a:latin typeface="JetBrains Mono" pitchFamily="49" charset="0"/>
                <a:ea typeface="JetBrains Mono" pitchFamily="49" charset="-122"/>
                <a:cs typeface="JetBrains Mono" pitchFamily="49" charset="-120"/>
              </a:rPr>
              <a:t>EQUINOX CMMS · NAMES ARE ILLUSTRATIVE</a:t>
            </a:r>
            <a:endParaRPr lang="en-US" sz="1200" dirty="0"/>
          </a:p>
        </p:txBody>
      </p:sp>
      <p:sp>
        <p:nvSpPr>
          <p:cNvPr id="40" name="Text 38"/>
          <p:cNvSpPr/>
          <p:nvPr/>
        </p:nvSpPr>
        <p:spPr>
          <a:xfrm>
            <a:off x="11107420" y="6236971"/>
            <a:ext cx="271780" cy="238760"/>
          </a:xfrm>
          <a:prstGeom prst="rect">
            <a:avLst/>
          </a:prstGeom>
          <a:noFill/>
          <a:ln/>
        </p:spPr>
        <p:txBody>
          <a:bodyPr wrap="square" lIns="0" tIns="0" rIns="0" bIns="0" rtlCol="0" anchor="t">
            <a:normAutofit/>
          </a:bodyPr>
          <a:lstStyle/>
          <a:p>
            <a:pPr algn="r" indent="0" marL="0">
              <a:lnSpc>
                <a:spcPts val="1680"/>
              </a:lnSpc>
              <a:buNone/>
            </a:pPr>
            <a:r>
              <a:rPr lang="en-US" sz="1200" spc="150" kern="0" dirty="0">
                <a:solidFill>
                  <a:srgbClr val="5B6585"/>
                </a:solidFill>
                <a:latin typeface="JetBrains Mono" pitchFamily="49" charset="0"/>
                <a:ea typeface="JetBrains Mono" pitchFamily="49" charset="-122"/>
                <a:cs typeface="JetBrains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3FD6E6"/>
                </a:solidFill>
                <a:latin typeface="JetBrains Mono" pitchFamily="49" charset="0"/>
                <a:ea typeface="JetBrains Mono" pitchFamily="49" charset="-122"/>
                <a:cs typeface="JetBrains Mono" pitchFamily="49" charset="-120"/>
              </a:rPr>
              <a:t>LIVE ACTIVITY</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E8ECF7"/>
                </a:solidFill>
                <a:latin typeface="Space Grotesk" pitchFamily="34" charset="0"/>
                <a:ea typeface="Space Grotesk" pitchFamily="34" charset="-122"/>
                <a:cs typeface="Space Grotesk" pitchFamily="34" charset="-120"/>
              </a:rPr>
              <a:t>Every call leaves a complete, live trail</a:t>
            </a:r>
            <a:endParaRPr lang="en-US" sz="3200" dirty="0"/>
          </a:p>
        </p:txBody>
      </p:sp>
      <p:sp>
        <p:nvSpPr>
          <p:cNvPr id="4" name="Text 2"/>
          <p:cNvSpPr/>
          <p:nvPr/>
        </p:nvSpPr>
        <p:spPr>
          <a:xfrm>
            <a:off x="812800" y="1879600"/>
            <a:ext cx="3662680"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C3CBE3"/>
                </a:solidFill>
                <a:latin typeface="DM Sans" pitchFamily="34" charset="0"/>
                <a:ea typeface="DM Sans" pitchFamily="34" charset="-122"/>
                <a:cs typeface="DM Sans" pitchFamily="34" charset="-120"/>
              </a:rPr>
              <a:t>Each step the agent takes is saved as an event and pushed instantly to the operations team.</a:t>
            </a:r>
            <a:endParaRPr lang="en-US" sz="1500" dirty="0"/>
          </a:p>
        </p:txBody>
      </p:sp>
      <p:sp>
        <p:nvSpPr>
          <p:cNvPr id="5" name="Text 3"/>
          <p:cNvSpPr/>
          <p:nvPr/>
        </p:nvSpPr>
        <p:spPr>
          <a:xfrm>
            <a:off x="812800" y="2940050"/>
            <a:ext cx="3662680" cy="8826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C3CBE3"/>
                </a:solidFill>
                <a:latin typeface="DM Sans" pitchFamily="34" charset="0"/>
                <a:ea typeface="DM Sans" pitchFamily="34" charset="-122"/>
                <a:cs typeface="DM Sans" pitchFamily="34" charset="-120"/>
              </a:rPr>
              <a:t>Supervisors can watch a call unfold live, then review the full transcript and every action afterwards.</a:t>
            </a:r>
            <a:endParaRPr lang="en-US" sz="1500" dirty="0"/>
          </a:p>
        </p:txBody>
      </p:sp>
      <p:sp>
        <p:nvSpPr>
          <p:cNvPr id="6" name="Text 4"/>
          <p:cNvSpPr/>
          <p:nvPr/>
        </p:nvSpPr>
        <p:spPr>
          <a:xfrm>
            <a:off x="812800" y="4000500"/>
            <a:ext cx="940991" cy="314960"/>
          </a:xfrm>
          <a:prstGeom prst="roundRect">
            <a:avLst>
              <a:gd name="adj" fmla="val 50000"/>
            </a:avLst>
          </a:prstGeom>
          <a:solidFill>
            <a:srgbClr val="1C2747"/>
          </a:solidFill>
          <a:ln/>
        </p:spPr>
        <p:txBody>
          <a:bodyPr wrap="none" lIns="0" tIns="0" rIns="0" bIns="0" rtlCol="0" anchor="ctr">
            <a:normAutofit/>
          </a:bodyPr>
          <a:lstStyle/>
          <a:p>
            <a:pPr algn="ctr" indent="0" marL="0">
              <a:lnSpc>
                <a:spcPts val="1680"/>
              </a:lnSpc>
              <a:buNone/>
            </a:pPr>
            <a:r>
              <a:rPr lang="en-US" sz="1200" dirty="0">
                <a:solidFill>
                  <a:srgbClr val="E8ECF7"/>
                </a:solidFill>
                <a:latin typeface="DM Sans" pitchFamily="34" charset="0"/>
                <a:ea typeface="DM Sans" pitchFamily="34" charset="-122"/>
                <a:cs typeface="DM Sans" pitchFamily="34" charset="-120"/>
              </a:rPr>
              <a:t>Transcript</a:t>
            </a:r>
            <a:endParaRPr lang="en-US" sz="1200" dirty="0"/>
          </a:p>
        </p:txBody>
      </p:sp>
      <p:sp>
        <p:nvSpPr>
          <p:cNvPr id="7" name="Text 5"/>
          <p:cNvSpPr/>
          <p:nvPr/>
        </p:nvSpPr>
        <p:spPr>
          <a:xfrm>
            <a:off x="1829991" y="4000500"/>
            <a:ext cx="1397714" cy="314960"/>
          </a:xfrm>
          <a:prstGeom prst="roundRect">
            <a:avLst>
              <a:gd name="adj" fmla="val 50000"/>
            </a:avLst>
          </a:prstGeom>
          <a:solidFill>
            <a:srgbClr val="1C2747"/>
          </a:solidFill>
          <a:ln/>
        </p:spPr>
        <p:txBody>
          <a:bodyPr wrap="none" lIns="0" tIns="0" rIns="0" bIns="0" rtlCol="0" anchor="ctr">
            <a:normAutofit/>
          </a:bodyPr>
          <a:lstStyle/>
          <a:p>
            <a:pPr algn="ctr" indent="0" marL="0">
              <a:lnSpc>
                <a:spcPts val="1680"/>
              </a:lnSpc>
              <a:buNone/>
            </a:pPr>
            <a:r>
              <a:rPr lang="en-US" sz="1200" dirty="0">
                <a:solidFill>
                  <a:srgbClr val="E8ECF7"/>
                </a:solidFill>
                <a:latin typeface="DM Sans" pitchFamily="34" charset="0"/>
                <a:ea typeface="DM Sans" pitchFamily="34" charset="-122"/>
                <a:cs typeface="DM Sans" pitchFamily="34" charset="-120"/>
              </a:rPr>
              <a:t>Questions asked</a:t>
            </a:r>
            <a:endParaRPr lang="en-US" sz="1200" dirty="0"/>
          </a:p>
        </p:txBody>
      </p:sp>
      <p:sp>
        <p:nvSpPr>
          <p:cNvPr id="8" name="Text 6"/>
          <p:cNvSpPr/>
          <p:nvPr/>
        </p:nvSpPr>
        <p:spPr>
          <a:xfrm>
            <a:off x="3303905" y="4000500"/>
            <a:ext cx="870268" cy="314960"/>
          </a:xfrm>
          <a:prstGeom prst="roundRect">
            <a:avLst>
              <a:gd name="adj" fmla="val 50000"/>
            </a:avLst>
          </a:prstGeom>
          <a:solidFill>
            <a:srgbClr val="1C2747"/>
          </a:solidFill>
          <a:ln/>
        </p:spPr>
        <p:txBody>
          <a:bodyPr wrap="none" lIns="0" tIns="0" rIns="0" bIns="0" rtlCol="0" anchor="ctr">
            <a:normAutofit/>
          </a:bodyPr>
          <a:lstStyle/>
          <a:p>
            <a:pPr algn="ctr" indent="0" marL="0">
              <a:lnSpc>
                <a:spcPts val="1680"/>
              </a:lnSpc>
              <a:buNone/>
            </a:pPr>
            <a:r>
              <a:rPr lang="en-US" sz="1200" dirty="0">
                <a:solidFill>
                  <a:srgbClr val="E8ECF7"/>
                </a:solidFill>
                <a:latin typeface="DM Sans" pitchFamily="34" charset="0"/>
                <a:ea typeface="DM Sans" pitchFamily="34" charset="-122"/>
                <a:cs typeface="DM Sans" pitchFamily="34" charset="-120"/>
              </a:rPr>
              <a:t>Tool calls</a:t>
            </a:r>
            <a:endParaRPr lang="en-US" sz="1200" dirty="0"/>
          </a:p>
        </p:txBody>
      </p:sp>
      <p:sp>
        <p:nvSpPr>
          <p:cNvPr id="9" name="Text 7"/>
          <p:cNvSpPr/>
          <p:nvPr/>
        </p:nvSpPr>
        <p:spPr>
          <a:xfrm>
            <a:off x="812800" y="4391664"/>
            <a:ext cx="772081" cy="314960"/>
          </a:xfrm>
          <a:prstGeom prst="roundRect">
            <a:avLst>
              <a:gd name="adj" fmla="val 50000"/>
            </a:avLst>
          </a:prstGeom>
          <a:solidFill>
            <a:srgbClr val="1C2747"/>
          </a:solidFill>
          <a:ln/>
        </p:spPr>
        <p:txBody>
          <a:bodyPr wrap="none" lIns="0" tIns="0" rIns="0" bIns="0" rtlCol="0" anchor="ctr">
            <a:normAutofit/>
          </a:bodyPr>
          <a:lstStyle/>
          <a:p>
            <a:pPr algn="ctr" indent="0" marL="0">
              <a:lnSpc>
                <a:spcPts val="1680"/>
              </a:lnSpc>
              <a:buNone/>
            </a:pPr>
            <a:r>
              <a:rPr lang="en-US" sz="1200" dirty="0">
                <a:solidFill>
                  <a:srgbClr val="E8ECF7"/>
                </a:solidFill>
                <a:latin typeface="DM Sans" pitchFamily="34" charset="0"/>
                <a:ea typeface="DM Sans" pitchFamily="34" charset="-122"/>
                <a:cs typeface="DM Sans" pitchFamily="34" charset="-120"/>
              </a:rPr>
              <a:t>Timings</a:t>
            </a:r>
            <a:endParaRPr lang="en-US" sz="1200" dirty="0"/>
          </a:p>
        </p:txBody>
      </p:sp>
      <p:sp>
        <p:nvSpPr>
          <p:cNvPr id="10" name="Text 8"/>
          <p:cNvSpPr/>
          <p:nvPr/>
        </p:nvSpPr>
        <p:spPr>
          <a:xfrm>
            <a:off x="1661081" y="4391664"/>
            <a:ext cx="762318" cy="314960"/>
          </a:xfrm>
          <a:prstGeom prst="roundRect">
            <a:avLst>
              <a:gd name="adj" fmla="val 50000"/>
            </a:avLst>
          </a:prstGeom>
          <a:solidFill>
            <a:srgbClr val="1C2747"/>
          </a:solidFill>
          <a:ln/>
        </p:spPr>
        <p:txBody>
          <a:bodyPr wrap="none" lIns="0" tIns="0" rIns="0" bIns="0" rtlCol="0" anchor="ctr">
            <a:normAutofit/>
          </a:bodyPr>
          <a:lstStyle/>
          <a:p>
            <a:pPr algn="ctr" indent="0" marL="0">
              <a:lnSpc>
                <a:spcPts val="1680"/>
              </a:lnSpc>
              <a:buNone/>
            </a:pPr>
            <a:r>
              <a:rPr lang="en-US" sz="1200" dirty="0">
                <a:solidFill>
                  <a:srgbClr val="E8ECF7"/>
                </a:solidFill>
                <a:latin typeface="DM Sans" pitchFamily="34" charset="0"/>
                <a:ea typeface="DM Sans" pitchFamily="34" charset="-122"/>
                <a:cs typeface="DM Sans" pitchFamily="34" charset="-120"/>
              </a:rPr>
              <a:t>Failures</a:t>
            </a:r>
            <a:endParaRPr lang="en-US" sz="1200" dirty="0"/>
          </a:p>
        </p:txBody>
      </p:sp>
      <p:sp>
        <p:nvSpPr>
          <p:cNvPr id="11" name="Shape 9"/>
          <p:cNvSpPr/>
          <p:nvPr/>
        </p:nvSpPr>
        <p:spPr>
          <a:xfrm>
            <a:off x="4778375" y="1882775"/>
            <a:ext cx="6597650" cy="3956050"/>
          </a:xfrm>
          <a:prstGeom prst="roundRect">
            <a:avLst>
              <a:gd name="adj" fmla="val 4414"/>
            </a:avLst>
          </a:prstGeom>
          <a:solidFill>
            <a:srgbClr val="131C30"/>
          </a:solidFill>
          <a:ln w="6350">
            <a:solidFill>
              <a:srgbClr val="24304D"/>
            </a:solidFill>
            <a:prstDash val="solid"/>
          </a:ln>
        </p:spPr>
      </p:sp>
      <p:sp>
        <p:nvSpPr>
          <p:cNvPr id="12" name="Text 10"/>
          <p:cNvSpPr/>
          <p:nvPr/>
        </p:nvSpPr>
        <p:spPr>
          <a:xfrm>
            <a:off x="5034280" y="2194241"/>
            <a:ext cx="1003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2B3"/>
                </a:solidFill>
                <a:latin typeface="JetBrains Mono" pitchFamily="49" charset="0"/>
                <a:ea typeface="JetBrains Mono" pitchFamily="49" charset="-122"/>
                <a:cs typeface="JetBrains Mono" pitchFamily="49" charset="-120"/>
              </a:rPr>
              <a:t>10:02:04</a:t>
            </a:r>
            <a:endParaRPr lang="en-US" sz="1200" dirty="0"/>
          </a:p>
        </p:txBody>
      </p:sp>
      <p:sp>
        <p:nvSpPr>
          <p:cNvPr id="13" name="Shape 11"/>
          <p:cNvSpPr/>
          <p:nvPr/>
        </p:nvSpPr>
        <p:spPr>
          <a:xfrm>
            <a:off x="6139180" y="2250126"/>
            <a:ext cx="101600" cy="101600"/>
          </a:xfrm>
          <a:prstGeom prst="roundRect">
            <a:avLst>
              <a:gd name="adj" fmla="val 50000"/>
            </a:avLst>
          </a:prstGeom>
          <a:solidFill>
            <a:srgbClr val="7B88FF"/>
          </a:solidFill>
          <a:ln/>
        </p:spPr>
      </p:sp>
      <p:sp>
        <p:nvSpPr>
          <p:cNvPr id="14" name="Text 12"/>
          <p:cNvSpPr/>
          <p:nvPr/>
        </p:nvSpPr>
        <p:spPr>
          <a:xfrm>
            <a:off x="6393180" y="2189479"/>
            <a:ext cx="486874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8ECF7"/>
                </a:solidFill>
                <a:latin typeface="DM Sans" pitchFamily="34" charset="0"/>
                <a:ea typeface="DM Sans" pitchFamily="34" charset="-122"/>
                <a:cs typeface="DM Sans" pitchFamily="34" charset="-120"/>
              </a:rPr>
              <a:t>Inbound call started</a:t>
            </a:r>
            <a:endParaRPr lang="en-US" sz="1300" dirty="0"/>
          </a:p>
        </p:txBody>
      </p:sp>
      <p:sp>
        <p:nvSpPr>
          <p:cNvPr id="15" name="Text 13"/>
          <p:cNvSpPr/>
          <p:nvPr/>
        </p:nvSpPr>
        <p:spPr>
          <a:xfrm>
            <a:off x="5034280" y="2607630"/>
            <a:ext cx="1003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2B3"/>
                </a:solidFill>
                <a:latin typeface="JetBrains Mono" pitchFamily="49" charset="0"/>
                <a:ea typeface="JetBrains Mono" pitchFamily="49" charset="-122"/>
                <a:cs typeface="JetBrains Mono" pitchFamily="49" charset="-120"/>
              </a:rPr>
              <a:t>10:02:11</a:t>
            </a:r>
            <a:endParaRPr lang="en-US" sz="1200" dirty="0"/>
          </a:p>
        </p:txBody>
      </p:sp>
      <p:sp>
        <p:nvSpPr>
          <p:cNvPr id="16" name="Shape 14"/>
          <p:cNvSpPr/>
          <p:nvPr/>
        </p:nvSpPr>
        <p:spPr>
          <a:xfrm>
            <a:off x="6139180" y="2663509"/>
            <a:ext cx="101600" cy="101600"/>
          </a:xfrm>
          <a:prstGeom prst="roundRect">
            <a:avLst>
              <a:gd name="adj" fmla="val 50000"/>
            </a:avLst>
          </a:prstGeom>
          <a:solidFill>
            <a:srgbClr val="7B88FF"/>
          </a:solidFill>
          <a:ln/>
        </p:spPr>
      </p:sp>
      <p:sp>
        <p:nvSpPr>
          <p:cNvPr id="17" name="Text 15"/>
          <p:cNvSpPr/>
          <p:nvPr/>
        </p:nvSpPr>
        <p:spPr>
          <a:xfrm>
            <a:off x="6393180" y="2602867"/>
            <a:ext cx="486874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8ECF7"/>
                </a:solidFill>
                <a:latin typeface="DM Sans" pitchFamily="34" charset="0"/>
                <a:ea typeface="DM Sans" pitchFamily="34" charset="-122"/>
                <a:cs typeface="DM Sans" pitchFamily="34" charset="-120"/>
              </a:rPr>
              <a:t>Caller language: Tamil (ta)</a:t>
            </a:r>
            <a:endParaRPr lang="en-US" sz="1300" dirty="0"/>
          </a:p>
        </p:txBody>
      </p:sp>
      <p:sp>
        <p:nvSpPr>
          <p:cNvPr id="18" name="Text 16"/>
          <p:cNvSpPr/>
          <p:nvPr/>
        </p:nvSpPr>
        <p:spPr>
          <a:xfrm>
            <a:off x="5034280" y="3021013"/>
            <a:ext cx="1003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2B3"/>
                </a:solidFill>
                <a:latin typeface="JetBrains Mono" pitchFamily="49" charset="0"/>
                <a:ea typeface="JetBrains Mono" pitchFamily="49" charset="-122"/>
                <a:cs typeface="JetBrains Mono" pitchFamily="49" charset="-120"/>
              </a:rPr>
              <a:t>10:02:26</a:t>
            </a:r>
            <a:endParaRPr lang="en-US" sz="1200" dirty="0"/>
          </a:p>
        </p:txBody>
      </p:sp>
      <p:sp>
        <p:nvSpPr>
          <p:cNvPr id="19" name="Shape 17"/>
          <p:cNvSpPr/>
          <p:nvPr/>
        </p:nvSpPr>
        <p:spPr>
          <a:xfrm>
            <a:off x="6139180" y="3076891"/>
            <a:ext cx="101600" cy="101600"/>
          </a:xfrm>
          <a:prstGeom prst="roundRect">
            <a:avLst>
              <a:gd name="adj" fmla="val 50000"/>
            </a:avLst>
          </a:prstGeom>
          <a:solidFill>
            <a:srgbClr val="3FD6E6"/>
          </a:solidFill>
          <a:ln/>
        </p:spPr>
      </p:sp>
      <p:sp>
        <p:nvSpPr>
          <p:cNvPr id="20" name="Text 18"/>
          <p:cNvSpPr/>
          <p:nvPr/>
        </p:nvSpPr>
        <p:spPr>
          <a:xfrm>
            <a:off x="6393180" y="3016250"/>
            <a:ext cx="486874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8ECF7"/>
                </a:solidFill>
                <a:latin typeface="DM Sans" pitchFamily="34" charset="0"/>
                <a:ea typeface="DM Sans" pitchFamily="34" charset="-122"/>
                <a:cs typeface="DM Sans" pitchFamily="34" charset="-120"/>
              </a:rPr>
              <a:t>Equipment identified: Press 3 at Line B</a:t>
            </a:r>
            <a:endParaRPr lang="en-US" sz="1300" dirty="0"/>
          </a:p>
        </p:txBody>
      </p:sp>
      <p:sp>
        <p:nvSpPr>
          <p:cNvPr id="21" name="Text 19"/>
          <p:cNvSpPr/>
          <p:nvPr/>
        </p:nvSpPr>
        <p:spPr>
          <a:xfrm>
            <a:off x="5034280" y="3434401"/>
            <a:ext cx="1003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2B3"/>
                </a:solidFill>
                <a:latin typeface="JetBrains Mono" pitchFamily="49" charset="0"/>
                <a:ea typeface="JetBrains Mono" pitchFamily="49" charset="-122"/>
                <a:cs typeface="JetBrains Mono" pitchFamily="49" charset="-120"/>
              </a:rPr>
              <a:t>10:02:31</a:t>
            </a:r>
            <a:endParaRPr lang="en-US" sz="1200" dirty="0"/>
          </a:p>
        </p:txBody>
      </p:sp>
      <p:sp>
        <p:nvSpPr>
          <p:cNvPr id="22" name="Shape 20"/>
          <p:cNvSpPr/>
          <p:nvPr/>
        </p:nvSpPr>
        <p:spPr>
          <a:xfrm>
            <a:off x="6139180" y="3490280"/>
            <a:ext cx="101600" cy="101600"/>
          </a:xfrm>
          <a:prstGeom prst="roundRect">
            <a:avLst>
              <a:gd name="adj" fmla="val 50000"/>
            </a:avLst>
          </a:prstGeom>
          <a:solidFill>
            <a:srgbClr val="7B88FF"/>
          </a:solidFill>
          <a:ln/>
        </p:spPr>
      </p:sp>
      <p:sp>
        <p:nvSpPr>
          <p:cNvPr id="23" name="Text 21"/>
          <p:cNvSpPr/>
          <p:nvPr/>
        </p:nvSpPr>
        <p:spPr>
          <a:xfrm>
            <a:off x="6393180" y="3429639"/>
            <a:ext cx="486874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8ECF7"/>
                </a:solidFill>
                <a:latin typeface="DM Sans" pitchFamily="34" charset="0"/>
                <a:ea typeface="DM Sans" pitchFamily="34" charset="-122"/>
                <a:cs typeface="DM Sans" pitchFamily="34" charset="-120"/>
              </a:rPr>
              <a:t>Severity: High</a:t>
            </a:r>
            <a:endParaRPr lang="en-US" sz="1300" dirty="0"/>
          </a:p>
        </p:txBody>
      </p:sp>
      <p:sp>
        <p:nvSpPr>
          <p:cNvPr id="24" name="Text 22"/>
          <p:cNvSpPr/>
          <p:nvPr/>
        </p:nvSpPr>
        <p:spPr>
          <a:xfrm>
            <a:off x="5034280" y="3847784"/>
            <a:ext cx="1003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2B3"/>
                </a:solidFill>
                <a:latin typeface="JetBrains Mono" pitchFamily="49" charset="0"/>
                <a:ea typeface="JetBrains Mono" pitchFamily="49" charset="-122"/>
                <a:cs typeface="JetBrains Mono" pitchFamily="49" charset="-120"/>
              </a:rPr>
              <a:t>10:02:32</a:t>
            </a:r>
            <a:endParaRPr lang="en-US" sz="1200" dirty="0"/>
          </a:p>
        </p:txBody>
      </p:sp>
      <p:sp>
        <p:nvSpPr>
          <p:cNvPr id="25" name="Shape 23"/>
          <p:cNvSpPr/>
          <p:nvPr/>
        </p:nvSpPr>
        <p:spPr>
          <a:xfrm>
            <a:off x="6139180" y="3903663"/>
            <a:ext cx="101600" cy="101600"/>
          </a:xfrm>
          <a:prstGeom prst="roundRect">
            <a:avLst>
              <a:gd name="adj" fmla="val 50000"/>
            </a:avLst>
          </a:prstGeom>
          <a:solidFill>
            <a:srgbClr val="3FD6E6"/>
          </a:solidFill>
          <a:ln/>
        </p:spPr>
      </p:sp>
      <p:sp>
        <p:nvSpPr>
          <p:cNvPr id="26" name="Text 24"/>
          <p:cNvSpPr/>
          <p:nvPr/>
        </p:nvSpPr>
        <p:spPr>
          <a:xfrm>
            <a:off x="6393180" y="3843021"/>
            <a:ext cx="486874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8ECF7"/>
                </a:solidFill>
                <a:latin typeface="DM Sans" pitchFamily="34" charset="0"/>
                <a:ea typeface="DM Sans" pitchFamily="34" charset="-122"/>
                <a:cs typeface="DM Sans" pitchFamily="34" charset="-120"/>
              </a:rPr>
              <a:t>Work order WO-142 created: oil leak</a:t>
            </a:r>
            <a:endParaRPr lang="en-US" sz="1300" dirty="0"/>
          </a:p>
        </p:txBody>
      </p:sp>
      <p:sp>
        <p:nvSpPr>
          <p:cNvPr id="27" name="Text 25"/>
          <p:cNvSpPr/>
          <p:nvPr/>
        </p:nvSpPr>
        <p:spPr>
          <a:xfrm>
            <a:off x="5034280" y="4261166"/>
            <a:ext cx="1003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2B3"/>
                </a:solidFill>
                <a:latin typeface="JetBrains Mono" pitchFamily="49" charset="0"/>
                <a:ea typeface="JetBrains Mono" pitchFamily="49" charset="-122"/>
                <a:cs typeface="JetBrains Mono" pitchFamily="49" charset="-120"/>
              </a:rPr>
              <a:t>10:02:34</a:t>
            </a:r>
            <a:endParaRPr lang="en-US" sz="1200" dirty="0"/>
          </a:p>
        </p:txBody>
      </p:sp>
      <p:sp>
        <p:nvSpPr>
          <p:cNvPr id="28" name="Shape 26"/>
          <p:cNvSpPr/>
          <p:nvPr/>
        </p:nvSpPr>
        <p:spPr>
          <a:xfrm>
            <a:off x="6139180" y="4317051"/>
            <a:ext cx="101600" cy="101600"/>
          </a:xfrm>
          <a:prstGeom prst="roundRect">
            <a:avLst>
              <a:gd name="adj" fmla="val 50000"/>
            </a:avLst>
          </a:prstGeom>
          <a:solidFill>
            <a:srgbClr val="3FD6E6"/>
          </a:solidFill>
          <a:ln/>
        </p:spPr>
      </p:sp>
      <p:sp>
        <p:nvSpPr>
          <p:cNvPr id="29" name="Text 27"/>
          <p:cNvSpPr/>
          <p:nvPr/>
        </p:nvSpPr>
        <p:spPr>
          <a:xfrm>
            <a:off x="6393180" y="4256404"/>
            <a:ext cx="486874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8ECF7"/>
                </a:solidFill>
                <a:latin typeface="DM Sans" pitchFamily="34" charset="0"/>
                <a:ea typeface="DM Sans" pitchFamily="34" charset="-122"/>
                <a:cs typeface="DM Sans" pitchFamily="34" charset="-120"/>
              </a:rPr>
              <a:t>Ravi K. assigned to WO-142</a:t>
            </a:r>
            <a:endParaRPr lang="en-US" sz="1300" dirty="0"/>
          </a:p>
        </p:txBody>
      </p:sp>
      <p:sp>
        <p:nvSpPr>
          <p:cNvPr id="30" name="Text 28"/>
          <p:cNvSpPr/>
          <p:nvPr/>
        </p:nvSpPr>
        <p:spPr>
          <a:xfrm>
            <a:off x="5034280" y="4674555"/>
            <a:ext cx="1003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792B3"/>
                </a:solidFill>
                <a:latin typeface="JetBrains Mono" pitchFamily="49" charset="0"/>
                <a:ea typeface="JetBrains Mono" pitchFamily="49" charset="-122"/>
                <a:cs typeface="JetBrains Mono" pitchFamily="49" charset="-120"/>
              </a:rPr>
              <a:t>10:02:34</a:t>
            </a:r>
            <a:endParaRPr lang="en-US" sz="1200" dirty="0"/>
          </a:p>
        </p:txBody>
      </p:sp>
      <p:sp>
        <p:nvSpPr>
          <p:cNvPr id="31" name="Shape 29"/>
          <p:cNvSpPr/>
          <p:nvPr/>
        </p:nvSpPr>
        <p:spPr>
          <a:xfrm>
            <a:off x="6139180" y="4730434"/>
            <a:ext cx="101600" cy="101600"/>
          </a:xfrm>
          <a:prstGeom prst="roundRect">
            <a:avLst>
              <a:gd name="adj" fmla="val 50000"/>
            </a:avLst>
          </a:prstGeom>
          <a:solidFill>
            <a:srgbClr val="3FD6E6"/>
          </a:solidFill>
          <a:ln/>
        </p:spPr>
      </p:sp>
      <p:sp>
        <p:nvSpPr>
          <p:cNvPr id="32" name="Text 30"/>
          <p:cNvSpPr/>
          <p:nvPr/>
        </p:nvSpPr>
        <p:spPr>
          <a:xfrm>
            <a:off x="6393180" y="4669792"/>
            <a:ext cx="4868748"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8ECF7"/>
                </a:solidFill>
                <a:latin typeface="DM Sans" pitchFamily="34" charset="0"/>
                <a:ea typeface="DM Sans" pitchFamily="34" charset="-122"/>
                <a:cs typeface="DM Sans" pitchFamily="34" charset="-120"/>
              </a:rPr>
              <a:t>In-app notification sent to Ravi K.</a:t>
            </a:r>
            <a:endParaRPr lang="en-US" sz="1300" dirty="0"/>
          </a:p>
        </p:txBody>
      </p:sp>
      <p:sp>
        <p:nvSpPr>
          <p:cNvPr id="33" name="Text 31"/>
          <p:cNvSpPr/>
          <p:nvPr/>
        </p:nvSpPr>
        <p:spPr>
          <a:xfrm>
            <a:off x="812800" y="6236971"/>
            <a:ext cx="4242816"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792B3"/>
                </a:solidFill>
                <a:latin typeface="JetBrains Mono" pitchFamily="49" charset="0"/>
                <a:ea typeface="JetBrains Mono" pitchFamily="49" charset="-122"/>
                <a:cs typeface="JetBrains Mono" pitchFamily="49" charset="-120"/>
              </a:rPr>
              <a:t>EQUINOX CMMS · ILLUSTRATIVE CALL</a:t>
            </a:r>
            <a:endParaRPr lang="en-US" sz="1200" dirty="0"/>
          </a:p>
        </p:txBody>
      </p:sp>
      <p:sp>
        <p:nvSpPr>
          <p:cNvPr id="34" name="Text 32"/>
          <p:cNvSpPr/>
          <p:nvPr/>
        </p:nvSpPr>
        <p:spPr>
          <a:xfrm>
            <a:off x="11107420" y="6236971"/>
            <a:ext cx="271780" cy="238760"/>
          </a:xfrm>
          <a:prstGeom prst="rect">
            <a:avLst/>
          </a:prstGeom>
          <a:noFill/>
          <a:ln/>
        </p:spPr>
        <p:txBody>
          <a:bodyPr wrap="square" lIns="0" tIns="0" rIns="0" bIns="0" rtlCol="0" anchor="t">
            <a:normAutofit/>
          </a:bodyPr>
          <a:lstStyle/>
          <a:p>
            <a:pPr algn="r" indent="0" marL="0">
              <a:lnSpc>
                <a:spcPts val="1680"/>
              </a:lnSpc>
              <a:buNone/>
            </a:pPr>
            <a:r>
              <a:rPr lang="en-US" sz="1200" spc="150" kern="0" dirty="0">
                <a:solidFill>
                  <a:srgbClr val="8792B3"/>
                </a:solidFill>
                <a:latin typeface="JetBrains Mono" pitchFamily="49" charset="0"/>
                <a:ea typeface="JetBrains Mono" pitchFamily="49" charset="-122"/>
                <a:cs typeface="JetBrains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5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453E0"/>
                </a:solidFill>
                <a:latin typeface="JetBrains Mono" pitchFamily="49" charset="0"/>
                <a:ea typeface="JetBrains Mono" pitchFamily="49" charset="-122"/>
                <a:cs typeface="JetBrains Mono" pitchFamily="49" charset="-120"/>
              </a:rPr>
              <a:t>TRUST BY DESIGN</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E1630"/>
                </a:solidFill>
                <a:latin typeface="Space Grotesk" pitchFamily="34" charset="0"/>
                <a:ea typeface="Space Grotesk" pitchFamily="34" charset="-122"/>
                <a:cs typeface="Space Grotesk" pitchFamily="34" charset="-120"/>
              </a:rPr>
              <a:t>Guardrails built into every AI action</a:t>
            </a:r>
            <a:endParaRPr lang="en-US" sz="3200" dirty="0"/>
          </a:p>
        </p:txBody>
      </p:sp>
      <p:sp>
        <p:nvSpPr>
          <p:cNvPr id="4" name="Shape 2"/>
          <p:cNvSpPr/>
          <p:nvPr/>
        </p:nvSpPr>
        <p:spPr>
          <a:xfrm>
            <a:off x="815975" y="1882775"/>
            <a:ext cx="3380264" cy="1610995"/>
          </a:xfrm>
          <a:prstGeom prst="roundRect">
            <a:avLst>
              <a:gd name="adj" fmla="val 9263"/>
            </a:avLst>
          </a:prstGeom>
          <a:solidFill>
            <a:srgbClr val="FCFDFF"/>
          </a:solidFill>
          <a:ln w="6350">
            <a:solidFill>
              <a:srgbClr val="DCE1F0"/>
            </a:solidFill>
            <a:prstDash val="solid"/>
          </a:ln>
        </p:spPr>
      </p:sp>
      <p:pic>
        <p:nvPicPr>
          <p:cNvPr id="5" name="Image 0" descr="Lock">    </p:cNvPr>
          <p:cNvPicPr>
            <a:picLocks noChangeAspect="1"/>
          </p:cNvPicPr>
          <p:nvPr/>
        </p:nvPicPr>
        <p:blipFill>
          <a:blip r:embed="rId1"/>
          <a:srcRect l="0" r="0" t="0" b="0"/>
          <a:stretch/>
        </p:blipFill>
        <p:spPr>
          <a:xfrm>
            <a:off x="1071880" y="2138679"/>
            <a:ext cx="279400" cy="279400"/>
          </a:xfrm>
          <a:prstGeom prst="rect">
            <a:avLst/>
          </a:prstGeom>
        </p:spPr>
      </p:pic>
      <p:sp>
        <p:nvSpPr>
          <p:cNvPr id="6" name="Text 3"/>
          <p:cNvSpPr/>
          <p:nvPr/>
        </p:nvSpPr>
        <p:spPr>
          <a:xfrm>
            <a:off x="1452880" y="2156464"/>
            <a:ext cx="2702243"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630"/>
                </a:solidFill>
                <a:latin typeface="Space Grotesk" pitchFamily="34" charset="0"/>
                <a:ea typeface="Space Grotesk" pitchFamily="34" charset="-122"/>
                <a:cs typeface="Space Grotesk" pitchFamily="34" charset="-120"/>
              </a:rPr>
              <a:t>Changes need consent</a:t>
            </a:r>
            <a:endParaRPr lang="en-US" sz="1600" dirty="0"/>
          </a:p>
        </p:txBody>
      </p:sp>
      <p:sp>
        <p:nvSpPr>
          <p:cNvPr id="7" name="Text 4"/>
          <p:cNvSpPr/>
          <p:nvPr/>
        </p:nvSpPr>
        <p:spPr>
          <a:xfrm>
            <a:off x="1071880" y="2519679"/>
            <a:ext cx="2954507"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470"/>
                </a:solidFill>
                <a:latin typeface="DM Sans" pitchFamily="34" charset="0"/>
                <a:ea typeface="DM Sans" pitchFamily="34" charset="-122"/>
                <a:cs typeface="DM Sans" pitchFamily="34" charset="-120"/>
              </a:rPr>
              <a:t>The chat assistant previews every change. Nothing is saved until a person confirms it.</a:t>
            </a:r>
            <a:endParaRPr lang="en-US" sz="1300" dirty="0"/>
          </a:p>
        </p:txBody>
      </p:sp>
      <p:sp>
        <p:nvSpPr>
          <p:cNvPr id="8" name="Shape 5"/>
          <p:cNvSpPr/>
          <p:nvPr/>
        </p:nvSpPr>
        <p:spPr>
          <a:xfrm>
            <a:off x="4405789" y="1882775"/>
            <a:ext cx="3380343" cy="1610995"/>
          </a:xfrm>
          <a:prstGeom prst="roundRect">
            <a:avLst>
              <a:gd name="adj" fmla="val 9263"/>
            </a:avLst>
          </a:prstGeom>
          <a:solidFill>
            <a:srgbClr val="FCFDFF"/>
          </a:solidFill>
          <a:ln w="6350">
            <a:solidFill>
              <a:srgbClr val="DCE1F0"/>
            </a:solidFill>
            <a:prstDash val="solid"/>
          </a:ln>
        </p:spPr>
      </p:sp>
      <p:pic>
        <p:nvPicPr>
          <p:cNvPr id="9" name="Image 1" descr="Key">    </p:cNvPr>
          <p:cNvPicPr>
            <a:picLocks noChangeAspect="1"/>
          </p:cNvPicPr>
          <p:nvPr/>
        </p:nvPicPr>
        <p:blipFill>
          <a:blip r:embed="rId2"/>
          <a:srcRect l="0" r="0" t="0" b="0"/>
          <a:stretch/>
        </p:blipFill>
        <p:spPr>
          <a:xfrm>
            <a:off x="4661694" y="2138679"/>
            <a:ext cx="279400" cy="279400"/>
          </a:xfrm>
          <a:prstGeom prst="rect">
            <a:avLst/>
          </a:prstGeom>
        </p:spPr>
      </p:pic>
      <p:sp>
        <p:nvSpPr>
          <p:cNvPr id="10" name="Text 6"/>
          <p:cNvSpPr/>
          <p:nvPr/>
        </p:nvSpPr>
        <p:spPr>
          <a:xfrm>
            <a:off x="5042694" y="2156464"/>
            <a:ext cx="2113121"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630"/>
                </a:solidFill>
                <a:latin typeface="Space Grotesk" pitchFamily="34" charset="0"/>
                <a:ea typeface="Space Grotesk" pitchFamily="34" charset="-122"/>
                <a:cs typeface="Space Grotesk" pitchFamily="34" charset="-120"/>
              </a:rPr>
              <a:t>Same permissions</a:t>
            </a:r>
            <a:endParaRPr lang="en-US" sz="1600" dirty="0"/>
          </a:p>
        </p:txBody>
      </p:sp>
      <p:sp>
        <p:nvSpPr>
          <p:cNvPr id="11" name="Text 7"/>
          <p:cNvSpPr/>
          <p:nvPr/>
        </p:nvSpPr>
        <p:spPr>
          <a:xfrm>
            <a:off x="4661694" y="2519679"/>
            <a:ext cx="2954589"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470"/>
                </a:solidFill>
                <a:latin typeface="DM Sans" pitchFamily="34" charset="0"/>
                <a:ea typeface="DM Sans" pitchFamily="34" charset="-122"/>
                <a:cs typeface="DM Sans" pitchFamily="34" charset="-120"/>
              </a:rPr>
              <a:t>AI actions run under a real account, so every role and access rule still applies.</a:t>
            </a:r>
            <a:endParaRPr lang="en-US" sz="1300" dirty="0"/>
          </a:p>
        </p:txBody>
      </p:sp>
      <p:sp>
        <p:nvSpPr>
          <p:cNvPr id="12" name="Shape 8"/>
          <p:cNvSpPr/>
          <p:nvPr/>
        </p:nvSpPr>
        <p:spPr>
          <a:xfrm>
            <a:off x="7995682" y="1882775"/>
            <a:ext cx="3380343" cy="1610995"/>
          </a:xfrm>
          <a:prstGeom prst="roundRect">
            <a:avLst>
              <a:gd name="adj" fmla="val 9263"/>
            </a:avLst>
          </a:prstGeom>
          <a:solidFill>
            <a:srgbClr val="FCFDFF"/>
          </a:solidFill>
          <a:ln w="6350">
            <a:solidFill>
              <a:srgbClr val="DCE1F0"/>
            </a:solidFill>
            <a:prstDash val="solid"/>
          </a:ln>
        </p:spPr>
      </p:sp>
      <p:pic>
        <p:nvPicPr>
          <p:cNvPr id="13" name="Image 2" descr="Search">    </p:cNvPr>
          <p:cNvPicPr>
            <a:picLocks noChangeAspect="1"/>
          </p:cNvPicPr>
          <p:nvPr/>
        </p:nvPicPr>
        <p:blipFill>
          <a:blip r:embed="rId3"/>
          <a:srcRect l="0" r="0" t="0" b="0"/>
          <a:stretch/>
        </p:blipFill>
        <p:spPr>
          <a:xfrm>
            <a:off x="8251587" y="2138679"/>
            <a:ext cx="279400" cy="279400"/>
          </a:xfrm>
          <a:prstGeom prst="rect">
            <a:avLst/>
          </a:prstGeom>
        </p:spPr>
      </p:pic>
      <p:sp>
        <p:nvSpPr>
          <p:cNvPr id="14" name="Text 9"/>
          <p:cNvSpPr/>
          <p:nvPr/>
        </p:nvSpPr>
        <p:spPr>
          <a:xfrm>
            <a:off x="8632587" y="2156464"/>
            <a:ext cx="218875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630"/>
                </a:solidFill>
                <a:latin typeface="Space Grotesk" pitchFamily="34" charset="0"/>
                <a:ea typeface="Space Grotesk" pitchFamily="34" charset="-122"/>
                <a:cs typeface="Space Grotesk" pitchFamily="34" charset="-120"/>
              </a:rPr>
              <a:t>Grounded answers</a:t>
            </a:r>
            <a:endParaRPr lang="en-US" sz="1600" dirty="0"/>
          </a:p>
        </p:txBody>
      </p:sp>
      <p:sp>
        <p:nvSpPr>
          <p:cNvPr id="15" name="Text 10"/>
          <p:cNvSpPr/>
          <p:nvPr/>
        </p:nvSpPr>
        <p:spPr>
          <a:xfrm>
            <a:off x="8251587" y="2519679"/>
            <a:ext cx="2954589"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470"/>
                </a:solidFill>
                <a:latin typeface="DM Sans" pitchFamily="34" charset="0"/>
                <a:ea typeface="DM Sans" pitchFamily="34" charset="-122"/>
                <a:cs typeface="DM Sans" pitchFamily="34" charset="-120"/>
              </a:rPr>
              <a:t>Answers come from database lookups. If nothing is found, the assistant says so.</a:t>
            </a:r>
            <a:endParaRPr lang="en-US" sz="1300" dirty="0"/>
          </a:p>
        </p:txBody>
      </p:sp>
      <p:sp>
        <p:nvSpPr>
          <p:cNvPr id="16" name="Shape 11"/>
          <p:cNvSpPr/>
          <p:nvPr/>
        </p:nvSpPr>
        <p:spPr>
          <a:xfrm>
            <a:off x="815975" y="3703321"/>
            <a:ext cx="3380264" cy="1610995"/>
          </a:xfrm>
          <a:prstGeom prst="roundRect">
            <a:avLst>
              <a:gd name="adj" fmla="val 9263"/>
            </a:avLst>
          </a:prstGeom>
          <a:solidFill>
            <a:srgbClr val="FCFDFF"/>
          </a:solidFill>
          <a:ln w="6350">
            <a:solidFill>
              <a:srgbClr val="DCE1F0"/>
            </a:solidFill>
            <a:prstDash val="solid"/>
          </a:ln>
        </p:spPr>
      </p:sp>
      <p:pic>
        <p:nvPicPr>
          <p:cNvPr id="17" name="Image 3" descr="Settings">    </p:cNvPr>
          <p:cNvPicPr>
            <a:picLocks noChangeAspect="1"/>
          </p:cNvPicPr>
          <p:nvPr/>
        </p:nvPicPr>
        <p:blipFill>
          <a:blip r:embed="rId4"/>
          <a:srcRect l="0" r="0" t="0" b="0"/>
          <a:stretch/>
        </p:blipFill>
        <p:spPr>
          <a:xfrm>
            <a:off x="1071880" y="3959225"/>
            <a:ext cx="279400" cy="279400"/>
          </a:xfrm>
          <a:prstGeom prst="rect">
            <a:avLst/>
          </a:prstGeom>
        </p:spPr>
      </p:pic>
      <p:sp>
        <p:nvSpPr>
          <p:cNvPr id="18" name="Text 12"/>
          <p:cNvSpPr/>
          <p:nvPr/>
        </p:nvSpPr>
        <p:spPr>
          <a:xfrm>
            <a:off x="1452880" y="3977004"/>
            <a:ext cx="232190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630"/>
                </a:solidFill>
                <a:latin typeface="Space Grotesk" pitchFamily="34" charset="0"/>
                <a:ea typeface="Space Grotesk" pitchFamily="34" charset="-122"/>
                <a:cs typeface="Space Grotesk" pitchFamily="34" charset="-120"/>
              </a:rPr>
              <a:t>Fixed set of actions</a:t>
            </a:r>
            <a:endParaRPr lang="en-US" sz="1600" dirty="0"/>
          </a:p>
        </p:txBody>
      </p:sp>
      <p:sp>
        <p:nvSpPr>
          <p:cNvPr id="19" name="Text 13"/>
          <p:cNvSpPr/>
          <p:nvPr/>
        </p:nvSpPr>
        <p:spPr>
          <a:xfrm>
            <a:off x="1071880" y="4340225"/>
            <a:ext cx="2954507"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470"/>
                </a:solidFill>
                <a:latin typeface="DM Sans" pitchFamily="34" charset="0"/>
                <a:ea typeface="DM Sans" pitchFamily="34" charset="-122"/>
                <a:cs typeface="DM Sans" pitchFamily="34" charset="-120"/>
              </a:rPr>
              <a:t>The voice agent can only use six server actions, and each one validates its input.</a:t>
            </a:r>
            <a:endParaRPr lang="en-US" sz="1300" dirty="0"/>
          </a:p>
        </p:txBody>
      </p:sp>
      <p:sp>
        <p:nvSpPr>
          <p:cNvPr id="20" name="Shape 14"/>
          <p:cNvSpPr/>
          <p:nvPr/>
        </p:nvSpPr>
        <p:spPr>
          <a:xfrm>
            <a:off x="4405789" y="3703321"/>
            <a:ext cx="3380343" cy="1610995"/>
          </a:xfrm>
          <a:prstGeom prst="roundRect">
            <a:avLst>
              <a:gd name="adj" fmla="val 9263"/>
            </a:avLst>
          </a:prstGeom>
          <a:solidFill>
            <a:srgbClr val="FCFDFF"/>
          </a:solidFill>
          <a:ln w="6350">
            <a:solidFill>
              <a:srgbClr val="DCE1F0"/>
            </a:solidFill>
            <a:prstDash val="solid"/>
          </a:ln>
        </p:spPr>
      </p:sp>
      <p:pic>
        <p:nvPicPr>
          <p:cNvPr id="21" name="Image 4" descr="Verified">    </p:cNvPr>
          <p:cNvPicPr>
            <a:picLocks noChangeAspect="1"/>
          </p:cNvPicPr>
          <p:nvPr/>
        </p:nvPicPr>
        <p:blipFill>
          <a:blip r:embed="rId5"/>
          <a:srcRect l="0" r="0" t="0" b="0"/>
          <a:stretch/>
        </p:blipFill>
        <p:spPr>
          <a:xfrm>
            <a:off x="4661694" y="3959225"/>
            <a:ext cx="279400" cy="279400"/>
          </a:xfrm>
          <a:prstGeom prst="rect">
            <a:avLst/>
          </a:prstGeom>
        </p:spPr>
      </p:pic>
      <p:sp>
        <p:nvSpPr>
          <p:cNvPr id="22" name="Text 15"/>
          <p:cNvSpPr/>
          <p:nvPr/>
        </p:nvSpPr>
        <p:spPr>
          <a:xfrm>
            <a:off x="5042694" y="3977004"/>
            <a:ext cx="198901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630"/>
                </a:solidFill>
                <a:latin typeface="Space Grotesk" pitchFamily="34" charset="0"/>
                <a:ea typeface="Space Grotesk" pitchFamily="34" charset="-122"/>
                <a:cs typeface="Space Grotesk" pitchFamily="34" charset="-120"/>
              </a:rPr>
              <a:t>Signed callbacks</a:t>
            </a:r>
            <a:endParaRPr lang="en-US" sz="1600" dirty="0"/>
          </a:p>
        </p:txBody>
      </p:sp>
      <p:sp>
        <p:nvSpPr>
          <p:cNvPr id="23" name="Text 16"/>
          <p:cNvSpPr/>
          <p:nvPr/>
        </p:nvSpPr>
        <p:spPr>
          <a:xfrm>
            <a:off x="4661694" y="4340225"/>
            <a:ext cx="2954589"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470"/>
                </a:solidFill>
                <a:latin typeface="DM Sans" pitchFamily="34" charset="0"/>
                <a:ea typeface="DM Sans" pitchFamily="34" charset="-122"/>
                <a:cs typeface="DM Sans" pitchFamily="34" charset="-120"/>
              </a:rPr>
              <a:t>Messages from the voice service are checked against a secret signature before use.</a:t>
            </a:r>
            <a:endParaRPr lang="en-US" sz="1300" dirty="0"/>
          </a:p>
        </p:txBody>
      </p:sp>
      <p:sp>
        <p:nvSpPr>
          <p:cNvPr id="24" name="Shape 17"/>
          <p:cNvSpPr/>
          <p:nvPr/>
        </p:nvSpPr>
        <p:spPr>
          <a:xfrm>
            <a:off x="7995682" y="3703321"/>
            <a:ext cx="3380343" cy="1610995"/>
          </a:xfrm>
          <a:prstGeom prst="roundRect">
            <a:avLst>
              <a:gd name="adj" fmla="val 9263"/>
            </a:avLst>
          </a:prstGeom>
          <a:solidFill>
            <a:srgbClr val="FCFDFF"/>
          </a:solidFill>
          <a:ln w="6350">
            <a:solidFill>
              <a:srgbClr val="DCE1F0"/>
            </a:solidFill>
            <a:prstDash val="solid"/>
          </a:ln>
        </p:spPr>
      </p:sp>
      <p:pic>
        <p:nvPicPr>
          <p:cNvPr id="25" name="Image 5" descr="CheckCircle">    </p:cNvPr>
          <p:cNvPicPr>
            <a:picLocks noChangeAspect="1"/>
          </p:cNvPicPr>
          <p:nvPr/>
        </p:nvPicPr>
        <p:blipFill>
          <a:blip r:embed="rId6"/>
          <a:srcRect l="0" r="0" t="0" b="0"/>
          <a:stretch/>
        </p:blipFill>
        <p:spPr>
          <a:xfrm>
            <a:off x="8251587" y="3959225"/>
            <a:ext cx="279400" cy="279400"/>
          </a:xfrm>
          <a:prstGeom prst="rect">
            <a:avLst/>
          </a:prstGeom>
        </p:spPr>
      </p:pic>
      <p:sp>
        <p:nvSpPr>
          <p:cNvPr id="26" name="Text 18"/>
          <p:cNvSpPr/>
          <p:nvPr/>
        </p:nvSpPr>
        <p:spPr>
          <a:xfrm>
            <a:off x="8632587" y="3977004"/>
            <a:ext cx="2048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630"/>
                </a:solidFill>
                <a:latin typeface="Space Grotesk" pitchFamily="34" charset="0"/>
                <a:ea typeface="Space Grotesk" pitchFamily="34" charset="-122"/>
                <a:cs typeface="Space Grotesk" pitchFamily="34" charset="-120"/>
              </a:rPr>
              <a:t>No duplicate jobs</a:t>
            </a:r>
            <a:endParaRPr lang="en-US" sz="1600" dirty="0"/>
          </a:p>
        </p:txBody>
      </p:sp>
      <p:sp>
        <p:nvSpPr>
          <p:cNvPr id="27" name="Text 19"/>
          <p:cNvSpPr/>
          <p:nvPr/>
        </p:nvSpPr>
        <p:spPr>
          <a:xfrm>
            <a:off x="8251587" y="4340225"/>
            <a:ext cx="2954589"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470"/>
                </a:solidFill>
                <a:latin typeface="DM Sans" pitchFamily="34" charset="0"/>
                <a:ea typeface="DM Sans" pitchFamily="34" charset="-122"/>
                <a:cs typeface="DM Sans" pitchFamily="34" charset="-120"/>
              </a:rPr>
              <a:t>If the AI retries a step, it gets the same work order back instead of a second one.</a:t>
            </a:r>
            <a:endParaRPr lang="en-US" sz="1300" dirty="0"/>
          </a:p>
        </p:txBody>
      </p:sp>
      <p:sp>
        <p:nvSpPr>
          <p:cNvPr id="28" name="Text 20"/>
          <p:cNvSpPr/>
          <p:nvPr/>
        </p:nvSpPr>
        <p:spPr>
          <a:xfrm>
            <a:off x="812800" y="6236971"/>
            <a:ext cx="1591056"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5B6585"/>
                </a:solidFill>
                <a:latin typeface="JetBrains Mono" pitchFamily="49" charset="0"/>
                <a:ea typeface="JetBrains Mono" pitchFamily="49" charset="-122"/>
                <a:cs typeface="JetBrains Mono" pitchFamily="49" charset="-120"/>
              </a:rPr>
              <a:t>EQUINOX CMMS</a:t>
            </a:r>
            <a:endParaRPr lang="en-US" sz="1200" dirty="0"/>
          </a:p>
        </p:txBody>
      </p:sp>
      <p:sp>
        <p:nvSpPr>
          <p:cNvPr id="29" name="Text 21"/>
          <p:cNvSpPr/>
          <p:nvPr/>
        </p:nvSpPr>
        <p:spPr>
          <a:xfrm>
            <a:off x="11107420" y="6236971"/>
            <a:ext cx="271780" cy="238760"/>
          </a:xfrm>
          <a:prstGeom prst="rect">
            <a:avLst/>
          </a:prstGeom>
          <a:noFill/>
          <a:ln/>
        </p:spPr>
        <p:txBody>
          <a:bodyPr wrap="square" lIns="0" tIns="0" rIns="0" bIns="0" rtlCol="0" anchor="t">
            <a:normAutofit/>
          </a:bodyPr>
          <a:lstStyle/>
          <a:p>
            <a:pPr algn="r" indent="0" marL="0">
              <a:lnSpc>
                <a:spcPts val="1680"/>
              </a:lnSpc>
              <a:buNone/>
            </a:pPr>
            <a:r>
              <a:rPr lang="en-US" sz="1200" spc="150" kern="0" dirty="0">
                <a:solidFill>
                  <a:srgbClr val="5B6585"/>
                </a:solidFill>
                <a:latin typeface="JetBrains Mono" pitchFamily="49" charset="0"/>
                <a:ea typeface="JetBrains Mono" pitchFamily="49" charset="-122"/>
                <a:cs typeface="JetBrains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3FD6E6"/>
                </a:solidFill>
                <a:latin typeface="JetBrains Mono" pitchFamily="49" charset="0"/>
                <a:ea typeface="JetBrains Mono" pitchFamily="49" charset="-122"/>
                <a:cs typeface="JetBrains Mono" pitchFamily="49" charset="-120"/>
              </a:rPr>
              <a:t>ARCHITECTURE</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E8ECF7"/>
                </a:solidFill>
                <a:latin typeface="Space Grotesk" pitchFamily="34" charset="0"/>
                <a:ea typeface="Space Grotesk" pitchFamily="34" charset="-122"/>
                <a:cs typeface="Space Grotesk" pitchFamily="34" charset="-120"/>
              </a:rPr>
              <a:t>A modern stack that runs anywhere</a:t>
            </a:r>
            <a:endParaRPr lang="en-US" sz="3200" dirty="0"/>
          </a:p>
        </p:txBody>
      </p:sp>
      <p:sp>
        <p:nvSpPr>
          <p:cNvPr id="4" name="Shape 2"/>
          <p:cNvSpPr/>
          <p:nvPr/>
        </p:nvSpPr>
        <p:spPr>
          <a:xfrm>
            <a:off x="815975" y="1831975"/>
            <a:ext cx="10560050" cy="641350"/>
          </a:xfrm>
          <a:prstGeom prst="roundRect">
            <a:avLst>
              <a:gd name="adj" fmla="val 19307"/>
            </a:avLst>
          </a:prstGeom>
          <a:solidFill>
            <a:srgbClr val="131C30"/>
          </a:solidFill>
          <a:ln w="6350">
            <a:solidFill>
              <a:srgbClr val="24304D"/>
            </a:solidFill>
            <a:prstDash val="solid"/>
          </a:ln>
        </p:spPr>
      </p:sp>
      <p:sp>
        <p:nvSpPr>
          <p:cNvPr id="5" name="Text 3"/>
          <p:cNvSpPr/>
          <p:nvPr/>
        </p:nvSpPr>
        <p:spPr>
          <a:xfrm>
            <a:off x="1021080" y="2045971"/>
            <a:ext cx="144780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FD6E6"/>
                </a:solidFill>
                <a:latin typeface="JetBrains Mono" pitchFamily="49" charset="0"/>
                <a:ea typeface="JetBrains Mono" pitchFamily="49" charset="-122"/>
                <a:cs typeface="JetBrains Mono" pitchFamily="49" charset="-120"/>
              </a:rPr>
              <a:t>USERS</a:t>
            </a:r>
            <a:endParaRPr lang="en-US" sz="1200" dirty="0"/>
          </a:p>
        </p:txBody>
      </p:sp>
      <p:sp>
        <p:nvSpPr>
          <p:cNvPr id="6" name="Text 4"/>
          <p:cNvSpPr/>
          <p:nvPr/>
        </p:nvSpPr>
        <p:spPr>
          <a:xfrm>
            <a:off x="2621280" y="1973579"/>
            <a:ext cx="2476262" cy="358140"/>
          </a:xfrm>
          <a:prstGeom prst="roundRect">
            <a:avLst>
              <a:gd name="adj" fmla="val 21277"/>
            </a:avLst>
          </a:prstGeom>
          <a:solidFill>
            <a:srgbClr val="1C2747"/>
          </a:solidFill>
          <a:ln/>
        </p:spPr>
        <p:txBody>
          <a:bodyPr wrap="none" lIns="0" tIns="0" rIns="0" bIns="0" rtlCol="0" anchor="ctr">
            <a:normAutofit/>
          </a:bodyPr>
          <a:lstStyle/>
          <a:p>
            <a:pPr algn="ctr" indent="0" marL="0">
              <a:lnSpc>
                <a:spcPts val="1820"/>
              </a:lnSpc>
              <a:buNone/>
            </a:pPr>
            <a:r>
              <a:rPr lang="en-US" sz="1300" dirty="0">
                <a:solidFill>
                  <a:srgbClr val="E8ECF7"/>
                </a:solidFill>
                <a:latin typeface="DM Sans" pitchFamily="34" charset="0"/>
                <a:ea typeface="DM Sans" pitchFamily="34" charset="-122"/>
                <a:cs typeface="DM Sans" pitchFamily="34" charset="-120"/>
              </a:rPr>
              <a:t>Web app · React + Material UI</a:t>
            </a:r>
            <a:endParaRPr lang="en-US" sz="1300" dirty="0"/>
          </a:p>
        </p:txBody>
      </p:sp>
      <p:sp>
        <p:nvSpPr>
          <p:cNvPr id="7" name="Text 5"/>
          <p:cNvSpPr/>
          <p:nvPr/>
        </p:nvSpPr>
        <p:spPr>
          <a:xfrm>
            <a:off x="5173742" y="1973579"/>
            <a:ext cx="1847771" cy="358140"/>
          </a:xfrm>
          <a:prstGeom prst="roundRect">
            <a:avLst>
              <a:gd name="adj" fmla="val 21277"/>
            </a:avLst>
          </a:prstGeom>
          <a:solidFill>
            <a:srgbClr val="1C2747"/>
          </a:solidFill>
          <a:ln/>
        </p:spPr>
        <p:txBody>
          <a:bodyPr wrap="none" lIns="0" tIns="0" rIns="0" bIns="0" rtlCol="0" anchor="ctr">
            <a:normAutofit/>
          </a:bodyPr>
          <a:lstStyle/>
          <a:p>
            <a:pPr algn="ctr" indent="0" marL="0">
              <a:lnSpc>
                <a:spcPts val="1820"/>
              </a:lnSpc>
              <a:buNone/>
            </a:pPr>
            <a:r>
              <a:rPr lang="en-US" sz="1300" dirty="0">
                <a:solidFill>
                  <a:srgbClr val="E8ECF7"/>
                </a:solidFill>
                <a:latin typeface="DM Sans" pitchFamily="34" charset="0"/>
                <a:ea typeface="DM Sans" pitchFamily="34" charset="-122"/>
                <a:cs typeface="DM Sans" pitchFamily="34" charset="-120"/>
              </a:rPr>
              <a:t>Public request portal</a:t>
            </a:r>
            <a:endParaRPr lang="en-US" sz="1300" dirty="0"/>
          </a:p>
        </p:txBody>
      </p:sp>
      <p:sp>
        <p:nvSpPr>
          <p:cNvPr id="8" name="Text 6"/>
          <p:cNvSpPr/>
          <p:nvPr/>
        </p:nvSpPr>
        <p:spPr>
          <a:xfrm>
            <a:off x="7097713" y="1973579"/>
            <a:ext cx="2179399" cy="358140"/>
          </a:xfrm>
          <a:prstGeom prst="roundRect">
            <a:avLst>
              <a:gd name="adj" fmla="val 21277"/>
            </a:avLst>
          </a:prstGeom>
          <a:solidFill>
            <a:srgbClr val="1C2747"/>
          </a:solidFill>
          <a:ln/>
        </p:spPr>
        <p:txBody>
          <a:bodyPr wrap="none" lIns="0" tIns="0" rIns="0" bIns="0" rtlCol="0" anchor="ctr">
            <a:normAutofit/>
          </a:bodyPr>
          <a:lstStyle/>
          <a:p>
            <a:pPr algn="ctr" indent="0" marL="0">
              <a:lnSpc>
                <a:spcPts val="1820"/>
              </a:lnSpc>
              <a:buNone/>
            </a:pPr>
            <a:r>
              <a:rPr lang="en-US" sz="1300" dirty="0">
                <a:solidFill>
                  <a:srgbClr val="E8ECF7"/>
                </a:solidFill>
                <a:latin typeface="DM Sans" pitchFamily="34" charset="0"/>
                <a:ea typeface="DM Sans" pitchFamily="34" charset="-122"/>
                <a:cs typeface="DM Sans" pitchFamily="34" charset="-120"/>
              </a:rPr>
              <a:t>Phone and browser voice</a:t>
            </a:r>
            <a:endParaRPr lang="en-US" sz="1300" dirty="0"/>
          </a:p>
        </p:txBody>
      </p:sp>
      <p:sp>
        <p:nvSpPr>
          <p:cNvPr id="9" name="Shape 7"/>
          <p:cNvSpPr/>
          <p:nvPr/>
        </p:nvSpPr>
        <p:spPr>
          <a:xfrm>
            <a:off x="815975" y="2581275"/>
            <a:ext cx="10560050" cy="641350"/>
          </a:xfrm>
          <a:prstGeom prst="roundRect">
            <a:avLst>
              <a:gd name="adj" fmla="val 19307"/>
            </a:avLst>
          </a:prstGeom>
          <a:solidFill>
            <a:srgbClr val="131C30"/>
          </a:solidFill>
          <a:ln w="6350">
            <a:solidFill>
              <a:srgbClr val="24304D"/>
            </a:solidFill>
            <a:prstDash val="solid"/>
          </a:ln>
        </p:spPr>
      </p:sp>
      <p:sp>
        <p:nvSpPr>
          <p:cNvPr id="10" name="Text 8"/>
          <p:cNvSpPr/>
          <p:nvPr/>
        </p:nvSpPr>
        <p:spPr>
          <a:xfrm>
            <a:off x="1021080" y="2795271"/>
            <a:ext cx="144780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FD6E6"/>
                </a:solidFill>
                <a:latin typeface="JetBrains Mono" pitchFamily="49" charset="0"/>
                <a:ea typeface="JetBrains Mono" pitchFamily="49" charset="-122"/>
                <a:cs typeface="JetBrains Mono" pitchFamily="49" charset="-120"/>
              </a:rPr>
              <a:t>GATEWAY</a:t>
            </a:r>
            <a:endParaRPr lang="en-US" sz="1200" dirty="0"/>
          </a:p>
        </p:txBody>
      </p:sp>
      <p:sp>
        <p:nvSpPr>
          <p:cNvPr id="11" name="Text 9"/>
          <p:cNvSpPr/>
          <p:nvPr/>
        </p:nvSpPr>
        <p:spPr>
          <a:xfrm>
            <a:off x="2621280" y="2722879"/>
            <a:ext cx="4125833" cy="358140"/>
          </a:xfrm>
          <a:prstGeom prst="roundRect">
            <a:avLst>
              <a:gd name="adj" fmla="val 21277"/>
            </a:avLst>
          </a:prstGeom>
          <a:solidFill>
            <a:srgbClr val="1C2747"/>
          </a:solidFill>
          <a:ln/>
        </p:spPr>
        <p:txBody>
          <a:bodyPr wrap="none" lIns="0" tIns="0" rIns="0" bIns="0" rtlCol="0" anchor="ctr">
            <a:normAutofit/>
          </a:bodyPr>
          <a:lstStyle/>
          <a:p>
            <a:pPr algn="ctr" indent="0" marL="0">
              <a:lnSpc>
                <a:spcPts val="1820"/>
              </a:lnSpc>
              <a:buNone/>
            </a:pPr>
            <a:r>
              <a:rPr lang="en-US" sz="1300" dirty="0">
                <a:solidFill>
                  <a:srgbClr val="E8ECF7"/>
                </a:solidFill>
                <a:latin typeface="DM Sans" pitchFamily="34" charset="0"/>
                <a:ea typeface="DM Sans" pitchFamily="34" charset="-122"/>
                <a:cs typeface="DM Sans" pitchFamily="34" charset="-120"/>
              </a:rPr>
              <a:t>Nginx: one entry point for the app, the API and files</a:t>
            </a:r>
            <a:endParaRPr lang="en-US" sz="1300" dirty="0"/>
          </a:p>
        </p:txBody>
      </p:sp>
      <p:sp>
        <p:nvSpPr>
          <p:cNvPr id="12" name="Shape 10"/>
          <p:cNvSpPr/>
          <p:nvPr/>
        </p:nvSpPr>
        <p:spPr>
          <a:xfrm>
            <a:off x="819150" y="3333750"/>
            <a:ext cx="10553700" cy="1079500"/>
          </a:xfrm>
          <a:prstGeom prst="roundRect">
            <a:avLst>
              <a:gd name="adj" fmla="val 11176"/>
            </a:avLst>
          </a:prstGeom>
          <a:solidFill>
            <a:srgbClr val="16204A"/>
          </a:solidFill>
          <a:ln w="12700">
            <a:solidFill>
              <a:srgbClr val="4A57D9"/>
            </a:solidFill>
            <a:prstDash val="solid"/>
          </a:ln>
        </p:spPr>
      </p:sp>
      <p:sp>
        <p:nvSpPr>
          <p:cNvPr id="13" name="Text 11"/>
          <p:cNvSpPr/>
          <p:nvPr/>
        </p:nvSpPr>
        <p:spPr>
          <a:xfrm>
            <a:off x="1026160" y="3553464"/>
            <a:ext cx="1447800" cy="66548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A8B1FF"/>
                </a:solidFill>
                <a:latin typeface="JetBrains Mono" pitchFamily="49" charset="0"/>
                <a:ea typeface="JetBrains Mono" pitchFamily="49" charset="-122"/>
                <a:cs typeface="JetBrains Mono" pitchFamily="49" charset="-120"/>
              </a:rPr>
              <a:t>CORE API</a:t>
            </a:r>
            <a:endParaRPr lang="en-US" sz="1200" dirty="0"/>
          </a:p>
          <a:p>
            <a:pPr algn="l" indent="0" marL="0">
              <a:lnSpc>
                <a:spcPts val="1680"/>
              </a:lnSpc>
              <a:buNone/>
            </a:pPr>
            <a:r>
              <a:rPr lang="en-US" sz="1200" spc="100" kern="0" dirty="0">
                <a:solidFill>
                  <a:srgbClr val="A8B1FF"/>
                </a:solidFill>
                <a:latin typeface="JetBrains Mono" pitchFamily="49" charset="0"/>
                <a:ea typeface="JetBrains Mono" pitchFamily="49" charset="-122"/>
                <a:cs typeface="JetBrains Mono" pitchFamily="49" charset="-120"/>
              </a:rPr>
              <a:t>Spring Boot</a:t>
            </a:r>
            <a:endParaRPr lang="en-US" sz="1200" dirty="0"/>
          </a:p>
          <a:p>
            <a:pPr algn="l" indent="0" marL="0">
              <a:lnSpc>
                <a:spcPts val="1680"/>
              </a:lnSpc>
              <a:buNone/>
            </a:pPr>
            <a:r>
              <a:rPr lang="en-US" sz="1200" spc="100" kern="0" dirty="0">
                <a:solidFill>
                  <a:srgbClr val="A8B1FF"/>
                </a:solidFill>
                <a:latin typeface="JetBrains Mono" pitchFamily="49" charset="0"/>
                <a:ea typeface="JetBrains Mono" pitchFamily="49" charset="-122"/>
                <a:cs typeface="JetBrains Mono" pitchFamily="49" charset="-120"/>
              </a:rPr>
              <a:t>Java 17</a:t>
            </a:r>
            <a:endParaRPr lang="en-US" sz="1200" dirty="0"/>
          </a:p>
        </p:txBody>
      </p:sp>
      <p:sp>
        <p:nvSpPr>
          <p:cNvPr id="14" name="Text 12"/>
          <p:cNvSpPr/>
          <p:nvPr/>
        </p:nvSpPr>
        <p:spPr>
          <a:xfrm>
            <a:off x="2626360" y="3477264"/>
            <a:ext cx="1188641" cy="358140"/>
          </a:xfrm>
          <a:prstGeom prst="roundRect">
            <a:avLst>
              <a:gd name="adj" fmla="val 21277"/>
            </a:avLst>
          </a:prstGeom>
          <a:solidFill>
            <a:srgbClr val="24306A"/>
          </a:solidFill>
          <a:ln/>
        </p:spPr>
        <p:txBody>
          <a:bodyPr wrap="none" lIns="0" tIns="0" rIns="0" bIns="0" rtlCol="0" anchor="ctr">
            <a:normAutofit/>
          </a:bodyPr>
          <a:lstStyle/>
          <a:p>
            <a:pPr algn="ctr" indent="0" marL="0">
              <a:lnSpc>
                <a:spcPts val="1820"/>
              </a:lnSpc>
              <a:buNone/>
            </a:pPr>
            <a:r>
              <a:rPr lang="en-US" sz="1300" dirty="0">
                <a:solidFill>
                  <a:srgbClr val="E8ECF7"/>
                </a:solidFill>
                <a:latin typeface="DM Sans" pitchFamily="34" charset="0"/>
                <a:ea typeface="DM Sans" pitchFamily="34" charset="-122"/>
                <a:cs typeface="DM Sans" pitchFamily="34" charset="-120"/>
              </a:rPr>
              <a:t>Work orders</a:t>
            </a:r>
            <a:endParaRPr lang="en-US" sz="1300" dirty="0"/>
          </a:p>
        </p:txBody>
      </p:sp>
      <p:sp>
        <p:nvSpPr>
          <p:cNvPr id="15" name="Text 13"/>
          <p:cNvSpPr/>
          <p:nvPr/>
        </p:nvSpPr>
        <p:spPr>
          <a:xfrm>
            <a:off x="3891201" y="3477264"/>
            <a:ext cx="768033" cy="358140"/>
          </a:xfrm>
          <a:prstGeom prst="roundRect">
            <a:avLst>
              <a:gd name="adj" fmla="val 21277"/>
            </a:avLst>
          </a:prstGeom>
          <a:solidFill>
            <a:srgbClr val="24306A"/>
          </a:solidFill>
          <a:ln/>
        </p:spPr>
        <p:txBody>
          <a:bodyPr wrap="none" lIns="0" tIns="0" rIns="0" bIns="0" rtlCol="0" anchor="ctr">
            <a:normAutofit/>
          </a:bodyPr>
          <a:lstStyle/>
          <a:p>
            <a:pPr algn="ctr" indent="0" marL="0">
              <a:lnSpc>
                <a:spcPts val="1820"/>
              </a:lnSpc>
              <a:buNone/>
            </a:pPr>
            <a:r>
              <a:rPr lang="en-US" sz="1300" dirty="0">
                <a:solidFill>
                  <a:srgbClr val="E8ECF7"/>
                </a:solidFill>
                <a:latin typeface="DM Sans" pitchFamily="34" charset="0"/>
                <a:ea typeface="DM Sans" pitchFamily="34" charset="-122"/>
                <a:cs typeface="DM Sans" pitchFamily="34" charset="-120"/>
              </a:rPr>
              <a:t>Assets</a:t>
            </a:r>
            <a:endParaRPr lang="en-US" sz="1300" dirty="0"/>
          </a:p>
        </p:txBody>
      </p:sp>
      <p:sp>
        <p:nvSpPr>
          <p:cNvPr id="16" name="Text 14"/>
          <p:cNvSpPr/>
          <p:nvPr/>
        </p:nvSpPr>
        <p:spPr>
          <a:xfrm>
            <a:off x="4735433" y="3477264"/>
            <a:ext cx="970439" cy="358140"/>
          </a:xfrm>
          <a:prstGeom prst="roundRect">
            <a:avLst>
              <a:gd name="adj" fmla="val 21277"/>
            </a:avLst>
          </a:prstGeom>
          <a:solidFill>
            <a:srgbClr val="24306A"/>
          </a:solidFill>
          <a:ln/>
        </p:spPr>
        <p:txBody>
          <a:bodyPr wrap="none" lIns="0" tIns="0" rIns="0" bIns="0" rtlCol="0" anchor="ctr">
            <a:normAutofit/>
          </a:bodyPr>
          <a:lstStyle/>
          <a:p>
            <a:pPr algn="ctr" indent="0" marL="0">
              <a:lnSpc>
                <a:spcPts val="1820"/>
              </a:lnSpc>
              <a:buNone/>
            </a:pPr>
            <a:r>
              <a:rPr lang="en-US" sz="1300" dirty="0">
                <a:solidFill>
                  <a:srgbClr val="E8ECF7"/>
                </a:solidFill>
                <a:latin typeface="DM Sans" pitchFamily="34" charset="0"/>
                <a:ea typeface="DM Sans" pitchFamily="34" charset="-122"/>
                <a:cs typeface="DM Sans" pitchFamily="34" charset="-120"/>
              </a:rPr>
              <a:t>Inventory</a:t>
            </a:r>
            <a:endParaRPr lang="en-US" sz="1300" dirty="0"/>
          </a:p>
        </p:txBody>
      </p:sp>
      <p:sp>
        <p:nvSpPr>
          <p:cNvPr id="17" name="Text 15"/>
          <p:cNvSpPr/>
          <p:nvPr/>
        </p:nvSpPr>
        <p:spPr>
          <a:xfrm>
            <a:off x="5782072" y="3477264"/>
            <a:ext cx="1044178" cy="358140"/>
          </a:xfrm>
          <a:prstGeom prst="roundRect">
            <a:avLst>
              <a:gd name="adj" fmla="val 21277"/>
            </a:avLst>
          </a:prstGeom>
          <a:solidFill>
            <a:srgbClr val="24306A"/>
          </a:solidFill>
          <a:ln/>
        </p:spPr>
        <p:txBody>
          <a:bodyPr wrap="none" lIns="0" tIns="0" rIns="0" bIns="0" rtlCol="0" anchor="ctr">
            <a:normAutofit/>
          </a:bodyPr>
          <a:lstStyle/>
          <a:p>
            <a:pPr algn="ctr" indent="0" marL="0">
              <a:lnSpc>
                <a:spcPts val="1820"/>
              </a:lnSpc>
              <a:buNone/>
            </a:pPr>
            <a:r>
              <a:rPr lang="en-US" sz="1300" dirty="0">
                <a:solidFill>
                  <a:srgbClr val="E8ECF7"/>
                </a:solidFill>
                <a:latin typeface="DM Sans" pitchFamily="34" charset="0"/>
                <a:ea typeface="DM Sans" pitchFamily="34" charset="-122"/>
                <a:cs typeface="DM Sans" pitchFamily="34" charset="-120"/>
              </a:rPr>
              <a:t>Workflows</a:t>
            </a:r>
            <a:endParaRPr lang="en-US" sz="1300" dirty="0"/>
          </a:p>
        </p:txBody>
      </p:sp>
      <p:sp>
        <p:nvSpPr>
          <p:cNvPr id="18" name="Text 16"/>
          <p:cNvSpPr/>
          <p:nvPr/>
        </p:nvSpPr>
        <p:spPr>
          <a:xfrm>
            <a:off x="6902450" y="3477264"/>
            <a:ext cx="958532" cy="358140"/>
          </a:xfrm>
          <a:prstGeom prst="roundRect">
            <a:avLst>
              <a:gd name="adj" fmla="val 21277"/>
            </a:avLst>
          </a:prstGeom>
          <a:solidFill>
            <a:srgbClr val="24306A"/>
          </a:solidFill>
          <a:ln/>
        </p:spPr>
        <p:txBody>
          <a:bodyPr wrap="none" lIns="0" tIns="0" rIns="0" bIns="0" rtlCol="0" anchor="ctr">
            <a:normAutofit/>
          </a:bodyPr>
          <a:lstStyle/>
          <a:p>
            <a:pPr algn="ctr" indent="0" marL="0">
              <a:lnSpc>
                <a:spcPts val="1820"/>
              </a:lnSpc>
              <a:buNone/>
            </a:pPr>
            <a:r>
              <a:rPr lang="en-US" sz="1300" dirty="0">
                <a:solidFill>
                  <a:srgbClr val="E8ECF7"/>
                </a:solidFill>
                <a:latin typeface="DM Sans" pitchFamily="34" charset="0"/>
                <a:ea typeface="DM Sans" pitchFamily="34" charset="-122"/>
                <a:cs typeface="DM Sans" pitchFamily="34" charset="-120"/>
              </a:rPr>
              <a:t>Analytics</a:t>
            </a:r>
            <a:endParaRPr lang="en-US" sz="1300" dirty="0"/>
          </a:p>
        </p:txBody>
      </p:sp>
      <p:sp>
        <p:nvSpPr>
          <p:cNvPr id="19" name="Text 17"/>
          <p:cNvSpPr/>
          <p:nvPr/>
        </p:nvSpPr>
        <p:spPr>
          <a:xfrm>
            <a:off x="7937183" y="3477264"/>
            <a:ext cx="1221819" cy="358140"/>
          </a:xfrm>
          <a:prstGeom prst="roundRect">
            <a:avLst>
              <a:gd name="adj" fmla="val 21277"/>
            </a:avLst>
          </a:prstGeom>
          <a:solidFill>
            <a:srgbClr val="24306A"/>
          </a:solidFill>
          <a:ln/>
        </p:spPr>
        <p:txBody>
          <a:bodyPr wrap="none" lIns="0" tIns="0" rIns="0" bIns="0" rtlCol="0" anchor="ctr">
            <a:normAutofit/>
          </a:bodyPr>
          <a:lstStyle/>
          <a:p>
            <a:pPr algn="ctr" indent="0" marL="0">
              <a:lnSpc>
                <a:spcPts val="1820"/>
              </a:lnSpc>
              <a:buNone/>
            </a:pPr>
            <a:r>
              <a:rPr lang="en-US" sz="1300" dirty="0">
                <a:solidFill>
                  <a:srgbClr val="E8ECF7"/>
                </a:solidFill>
                <a:latin typeface="DM Sans" pitchFamily="34" charset="0"/>
                <a:ea typeface="DM Sans" pitchFamily="34" charset="-122"/>
                <a:cs typeface="DM Sans" pitchFamily="34" charset="-120"/>
              </a:rPr>
              <a:t>Notifications</a:t>
            </a:r>
            <a:endParaRPr lang="en-US" sz="1300" dirty="0"/>
          </a:p>
        </p:txBody>
      </p:sp>
      <p:sp>
        <p:nvSpPr>
          <p:cNvPr id="20" name="Text 18"/>
          <p:cNvSpPr/>
          <p:nvPr/>
        </p:nvSpPr>
        <p:spPr>
          <a:xfrm>
            <a:off x="9235202" y="3477264"/>
            <a:ext cx="1199277" cy="358140"/>
          </a:xfrm>
          <a:prstGeom prst="roundRect">
            <a:avLst>
              <a:gd name="adj" fmla="val 21277"/>
            </a:avLst>
          </a:prstGeom>
          <a:solidFill>
            <a:srgbClr val="7B88FF"/>
          </a:solidFill>
          <a:ln/>
        </p:spPr>
        <p:txBody>
          <a:bodyPr wrap="none" lIns="0" tIns="0" rIns="0" bIns="0" rtlCol="0" anchor="ctr">
            <a:normAutofit/>
          </a:bodyPr>
          <a:lstStyle/>
          <a:p>
            <a:pPr algn="ctr" indent="0" marL="0">
              <a:lnSpc>
                <a:spcPts val="1820"/>
              </a:lnSpc>
              <a:buNone/>
            </a:pPr>
            <a:r>
              <a:rPr lang="en-US" sz="1300" b="1" dirty="0">
                <a:solidFill>
                  <a:srgbClr val="0B1220"/>
                </a:solidFill>
                <a:latin typeface="DM Sans" pitchFamily="34" charset="0"/>
                <a:ea typeface="DM Sans" pitchFamily="34" charset="-122"/>
                <a:cs typeface="DM Sans" pitchFamily="34" charset="-120"/>
              </a:rPr>
              <a:t>AI assistant</a:t>
            </a:r>
            <a:endParaRPr lang="en-US" sz="1300" dirty="0"/>
          </a:p>
        </p:txBody>
      </p:sp>
      <p:sp>
        <p:nvSpPr>
          <p:cNvPr id="21" name="Text 19"/>
          <p:cNvSpPr/>
          <p:nvPr/>
        </p:nvSpPr>
        <p:spPr>
          <a:xfrm>
            <a:off x="2626360" y="3911600"/>
            <a:ext cx="1031399" cy="358140"/>
          </a:xfrm>
          <a:prstGeom prst="roundRect">
            <a:avLst>
              <a:gd name="adj" fmla="val 21277"/>
            </a:avLst>
          </a:prstGeom>
          <a:solidFill>
            <a:srgbClr val="3FD6E6"/>
          </a:solidFill>
          <a:ln/>
        </p:spPr>
        <p:txBody>
          <a:bodyPr wrap="none" lIns="0" tIns="0" rIns="0" bIns="0" rtlCol="0" anchor="ctr">
            <a:normAutofit/>
          </a:bodyPr>
          <a:lstStyle/>
          <a:p>
            <a:pPr algn="ctr" indent="0" marL="0">
              <a:lnSpc>
                <a:spcPts val="1820"/>
              </a:lnSpc>
              <a:buNone/>
            </a:pPr>
            <a:r>
              <a:rPr lang="en-US" sz="1300" b="1" dirty="0">
                <a:solidFill>
                  <a:srgbClr val="0B1220"/>
                </a:solidFill>
                <a:latin typeface="DM Sans" pitchFamily="34" charset="0"/>
                <a:ea typeface="DM Sans" pitchFamily="34" charset="-122"/>
                <a:cs typeface="DM Sans" pitchFamily="34" charset="-120"/>
              </a:rPr>
              <a:t>VoiceOps</a:t>
            </a:r>
            <a:endParaRPr lang="en-US" sz="1300" dirty="0"/>
          </a:p>
        </p:txBody>
      </p:sp>
      <p:sp>
        <p:nvSpPr>
          <p:cNvPr id="22" name="Text 20"/>
          <p:cNvSpPr/>
          <p:nvPr/>
        </p:nvSpPr>
        <p:spPr>
          <a:xfrm>
            <a:off x="3733959" y="3911600"/>
            <a:ext cx="2518251" cy="358140"/>
          </a:xfrm>
          <a:prstGeom prst="roundRect">
            <a:avLst>
              <a:gd name="adj" fmla="val 21277"/>
            </a:avLst>
          </a:prstGeom>
          <a:solidFill>
            <a:srgbClr val="24306A"/>
          </a:solidFill>
          <a:ln/>
        </p:spPr>
        <p:txBody>
          <a:bodyPr wrap="none" lIns="0" tIns="0" rIns="0" bIns="0" rtlCol="0" anchor="ctr">
            <a:normAutofit/>
          </a:bodyPr>
          <a:lstStyle/>
          <a:p>
            <a:pPr algn="ctr" indent="0" marL="0">
              <a:lnSpc>
                <a:spcPts val="1820"/>
              </a:lnSpc>
              <a:buNone/>
            </a:pPr>
            <a:r>
              <a:rPr lang="en-US" sz="1300" dirty="0">
                <a:solidFill>
                  <a:srgbClr val="E8ECF7"/>
                </a:solidFill>
                <a:latin typeface="DM Sans" pitchFamily="34" charset="0"/>
                <a:ea typeface="DM Sans" pitchFamily="34" charset="-122"/>
                <a:cs typeface="DM Sans" pitchFamily="34" charset="-120"/>
              </a:rPr>
              <a:t>Live updates over WebSocket</a:t>
            </a:r>
            <a:endParaRPr lang="en-US" sz="1300" dirty="0"/>
          </a:p>
        </p:txBody>
      </p:sp>
      <p:sp>
        <p:nvSpPr>
          <p:cNvPr id="23" name="Shape 21"/>
          <p:cNvSpPr/>
          <p:nvPr/>
        </p:nvSpPr>
        <p:spPr>
          <a:xfrm>
            <a:off x="815975" y="4524375"/>
            <a:ext cx="10560050" cy="641350"/>
          </a:xfrm>
          <a:prstGeom prst="roundRect">
            <a:avLst>
              <a:gd name="adj" fmla="val 19307"/>
            </a:avLst>
          </a:prstGeom>
          <a:solidFill>
            <a:srgbClr val="131C30"/>
          </a:solidFill>
          <a:ln w="6350">
            <a:solidFill>
              <a:srgbClr val="24304D"/>
            </a:solidFill>
            <a:prstDash val="solid"/>
          </a:ln>
        </p:spPr>
      </p:sp>
      <p:sp>
        <p:nvSpPr>
          <p:cNvPr id="24" name="Text 22"/>
          <p:cNvSpPr/>
          <p:nvPr/>
        </p:nvSpPr>
        <p:spPr>
          <a:xfrm>
            <a:off x="1021080" y="4738371"/>
            <a:ext cx="144780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3FD6E6"/>
                </a:solidFill>
                <a:latin typeface="JetBrains Mono" pitchFamily="49" charset="0"/>
                <a:ea typeface="JetBrains Mono" pitchFamily="49" charset="-122"/>
                <a:cs typeface="JetBrains Mono" pitchFamily="49" charset="-120"/>
              </a:rPr>
              <a:t>DATA AND AI</a:t>
            </a:r>
            <a:endParaRPr lang="en-US" sz="1200" dirty="0"/>
          </a:p>
        </p:txBody>
      </p:sp>
      <p:sp>
        <p:nvSpPr>
          <p:cNvPr id="25" name="Text 23"/>
          <p:cNvSpPr/>
          <p:nvPr/>
        </p:nvSpPr>
        <p:spPr>
          <a:xfrm>
            <a:off x="2621280" y="4665979"/>
            <a:ext cx="1340406" cy="358140"/>
          </a:xfrm>
          <a:prstGeom prst="roundRect">
            <a:avLst>
              <a:gd name="adj" fmla="val 21277"/>
            </a:avLst>
          </a:prstGeom>
          <a:solidFill>
            <a:srgbClr val="1C2747"/>
          </a:solidFill>
          <a:ln/>
        </p:spPr>
        <p:txBody>
          <a:bodyPr wrap="none" lIns="0" tIns="0" rIns="0" bIns="0" rtlCol="0" anchor="ctr">
            <a:normAutofit/>
          </a:bodyPr>
          <a:lstStyle/>
          <a:p>
            <a:pPr algn="ctr" indent="0" marL="0">
              <a:lnSpc>
                <a:spcPts val="1820"/>
              </a:lnSpc>
              <a:buNone/>
            </a:pPr>
            <a:r>
              <a:rPr lang="en-US" sz="1300" dirty="0">
                <a:solidFill>
                  <a:srgbClr val="E8ECF7"/>
                </a:solidFill>
                <a:latin typeface="DM Sans" pitchFamily="34" charset="0"/>
                <a:ea typeface="DM Sans" pitchFamily="34" charset="-122"/>
                <a:cs typeface="DM Sans" pitchFamily="34" charset="-120"/>
              </a:rPr>
              <a:t>PostgreSQL 16</a:t>
            </a:r>
            <a:endParaRPr lang="en-US" sz="1300" dirty="0"/>
          </a:p>
        </p:txBody>
      </p:sp>
      <p:sp>
        <p:nvSpPr>
          <p:cNvPr id="26" name="Text 24"/>
          <p:cNvSpPr/>
          <p:nvPr/>
        </p:nvSpPr>
        <p:spPr>
          <a:xfrm>
            <a:off x="4037886" y="4665979"/>
            <a:ext cx="1578134" cy="358140"/>
          </a:xfrm>
          <a:prstGeom prst="roundRect">
            <a:avLst>
              <a:gd name="adj" fmla="val 21277"/>
            </a:avLst>
          </a:prstGeom>
          <a:solidFill>
            <a:srgbClr val="1C2747"/>
          </a:solidFill>
          <a:ln/>
        </p:spPr>
        <p:txBody>
          <a:bodyPr wrap="none" lIns="0" tIns="0" rIns="0" bIns="0" rtlCol="0" anchor="ctr">
            <a:normAutofit/>
          </a:bodyPr>
          <a:lstStyle/>
          <a:p>
            <a:pPr algn="ctr" indent="0" marL="0">
              <a:lnSpc>
                <a:spcPts val="1820"/>
              </a:lnSpc>
              <a:buNone/>
            </a:pPr>
            <a:r>
              <a:rPr lang="en-US" sz="1300" dirty="0">
                <a:solidFill>
                  <a:srgbClr val="E8ECF7"/>
                </a:solidFill>
                <a:latin typeface="DM Sans" pitchFamily="34" charset="0"/>
                <a:ea typeface="DM Sans" pitchFamily="34" charset="-122"/>
                <a:cs typeface="DM Sans" pitchFamily="34" charset="-120"/>
              </a:rPr>
              <a:t>MinIO file storage</a:t>
            </a:r>
            <a:endParaRPr lang="en-US" sz="1300" dirty="0"/>
          </a:p>
        </p:txBody>
      </p:sp>
      <p:sp>
        <p:nvSpPr>
          <p:cNvPr id="27" name="Text 25"/>
          <p:cNvSpPr/>
          <p:nvPr/>
        </p:nvSpPr>
        <p:spPr>
          <a:xfrm>
            <a:off x="5692220" y="4665979"/>
            <a:ext cx="1378188" cy="358140"/>
          </a:xfrm>
          <a:prstGeom prst="roundRect">
            <a:avLst>
              <a:gd name="adj" fmla="val 21277"/>
            </a:avLst>
          </a:prstGeom>
          <a:solidFill>
            <a:srgbClr val="1C2747"/>
          </a:solidFill>
          <a:ln/>
        </p:spPr>
        <p:txBody>
          <a:bodyPr wrap="none" lIns="0" tIns="0" rIns="0" bIns="0" rtlCol="0" anchor="ctr">
            <a:normAutofit/>
          </a:bodyPr>
          <a:lstStyle/>
          <a:p>
            <a:pPr algn="ctr" indent="0" marL="0">
              <a:lnSpc>
                <a:spcPts val="1820"/>
              </a:lnSpc>
              <a:buNone/>
            </a:pPr>
            <a:r>
              <a:rPr lang="en-US" sz="1300" dirty="0">
                <a:solidFill>
                  <a:srgbClr val="E8ECF7"/>
                </a:solidFill>
                <a:latin typeface="DM Sans" pitchFamily="34" charset="0"/>
                <a:ea typeface="DM Sans" pitchFamily="34" charset="-122"/>
                <a:cs typeface="DM Sans" pitchFamily="34" charset="-120"/>
              </a:rPr>
              <a:t>Google Gemini</a:t>
            </a:r>
            <a:endParaRPr lang="en-US" sz="1300" dirty="0"/>
          </a:p>
        </p:txBody>
      </p:sp>
      <p:sp>
        <p:nvSpPr>
          <p:cNvPr id="28" name="Text 26"/>
          <p:cNvSpPr/>
          <p:nvPr/>
        </p:nvSpPr>
        <p:spPr>
          <a:xfrm>
            <a:off x="7146608" y="4665979"/>
            <a:ext cx="1561624" cy="358140"/>
          </a:xfrm>
          <a:prstGeom prst="roundRect">
            <a:avLst>
              <a:gd name="adj" fmla="val 21277"/>
            </a:avLst>
          </a:prstGeom>
          <a:solidFill>
            <a:srgbClr val="1C2747"/>
          </a:solidFill>
          <a:ln/>
        </p:spPr>
        <p:txBody>
          <a:bodyPr wrap="none" lIns="0" tIns="0" rIns="0" bIns="0" rtlCol="0" anchor="ctr">
            <a:normAutofit/>
          </a:bodyPr>
          <a:lstStyle/>
          <a:p>
            <a:pPr algn="ctr" indent="0" marL="0">
              <a:lnSpc>
                <a:spcPts val="1820"/>
              </a:lnSpc>
              <a:buNone/>
            </a:pPr>
            <a:r>
              <a:rPr lang="en-US" sz="1300" dirty="0">
                <a:solidFill>
                  <a:srgbClr val="E8ECF7"/>
                </a:solidFill>
                <a:latin typeface="DM Sans" pitchFamily="34" charset="0"/>
                <a:ea typeface="DM Sans" pitchFamily="34" charset="-122"/>
                <a:cs typeface="DM Sans" pitchFamily="34" charset="-120"/>
              </a:rPr>
              <a:t>ElevenLabs voice</a:t>
            </a:r>
            <a:endParaRPr lang="en-US" sz="1300" dirty="0"/>
          </a:p>
        </p:txBody>
      </p:sp>
      <p:sp>
        <p:nvSpPr>
          <p:cNvPr id="29" name="Text 27"/>
          <p:cNvSpPr/>
          <p:nvPr/>
        </p:nvSpPr>
        <p:spPr>
          <a:xfrm>
            <a:off x="815975" y="5426075"/>
            <a:ext cx="1941830" cy="361950"/>
          </a:xfrm>
          <a:prstGeom prst="roundRect">
            <a:avLst>
              <a:gd name="adj" fmla="val 20175"/>
            </a:avLst>
          </a:prstGeom>
          <a:solidFill>
            <a:srgbClr val="0F2A33"/>
          </a:solidFill>
          <a:ln w="6350">
            <a:solidFill>
              <a:srgbClr val="2BB3C2"/>
            </a:solidFill>
            <a:prstDash val="solid"/>
          </a:ln>
        </p:spPr>
        <p:txBody>
          <a:bodyPr wrap="none" lIns="0" tIns="0" rIns="0" bIns="0" rtlCol="0" anchor="ctr">
            <a:normAutofit/>
          </a:bodyPr>
          <a:lstStyle/>
          <a:p>
            <a:pPr algn="ctr" indent="0" marL="0">
              <a:lnSpc>
                <a:spcPts val="1820"/>
              </a:lnSpc>
              <a:buNone/>
            </a:pPr>
            <a:r>
              <a:rPr lang="en-US" sz="1300" dirty="0">
                <a:solidFill>
                  <a:srgbClr val="3FD6E6"/>
                </a:solidFill>
                <a:latin typeface="JetBrains Mono" pitchFamily="49" charset="0"/>
                <a:ea typeface="JetBrains Mono" pitchFamily="49" charset="-122"/>
                <a:cs typeface="JetBrains Mono" pitchFamily="49" charset="-120"/>
              </a:rPr>
              <a:t>docker compose up</a:t>
            </a:r>
            <a:endParaRPr lang="en-US" sz="1300" dirty="0"/>
          </a:p>
        </p:txBody>
      </p:sp>
      <p:sp>
        <p:nvSpPr>
          <p:cNvPr id="30" name="Text 28"/>
          <p:cNvSpPr/>
          <p:nvPr/>
        </p:nvSpPr>
        <p:spPr>
          <a:xfrm>
            <a:off x="2887980" y="5482592"/>
            <a:ext cx="652776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CBE3"/>
                </a:solidFill>
                <a:latin typeface="DM Sans" pitchFamily="34" charset="0"/>
                <a:ea typeface="DM Sans" pitchFamily="34" charset="-122"/>
                <a:cs typeface="DM Sans" pitchFamily="34" charset="-120"/>
              </a:rPr>
              <a:t>The whole stack starts with one command, on a laptop or a server.</a:t>
            </a:r>
            <a:endParaRPr lang="en-US" sz="1400" dirty="0"/>
          </a:p>
        </p:txBody>
      </p:sp>
      <p:sp>
        <p:nvSpPr>
          <p:cNvPr id="31" name="Text 29"/>
          <p:cNvSpPr/>
          <p:nvPr/>
        </p:nvSpPr>
        <p:spPr>
          <a:xfrm>
            <a:off x="812800" y="6236971"/>
            <a:ext cx="1591056"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792B3"/>
                </a:solidFill>
                <a:latin typeface="JetBrains Mono" pitchFamily="49" charset="0"/>
                <a:ea typeface="JetBrains Mono" pitchFamily="49" charset="-122"/>
                <a:cs typeface="JetBrains Mono" pitchFamily="49" charset="-120"/>
              </a:rPr>
              <a:t>EQUINOX CMMS</a:t>
            </a:r>
            <a:endParaRPr lang="en-US" sz="1200" dirty="0"/>
          </a:p>
        </p:txBody>
      </p:sp>
      <p:sp>
        <p:nvSpPr>
          <p:cNvPr id="32" name="Text 30"/>
          <p:cNvSpPr/>
          <p:nvPr/>
        </p:nvSpPr>
        <p:spPr>
          <a:xfrm>
            <a:off x="11107420" y="6236971"/>
            <a:ext cx="271780" cy="238760"/>
          </a:xfrm>
          <a:prstGeom prst="rect">
            <a:avLst/>
          </a:prstGeom>
          <a:noFill/>
          <a:ln/>
        </p:spPr>
        <p:txBody>
          <a:bodyPr wrap="square" lIns="0" tIns="0" rIns="0" bIns="0" rtlCol="0" anchor="t">
            <a:normAutofit/>
          </a:bodyPr>
          <a:lstStyle/>
          <a:p>
            <a:pPr algn="r" indent="0" marL="0">
              <a:lnSpc>
                <a:spcPts val="1680"/>
              </a:lnSpc>
              <a:buNone/>
            </a:pPr>
            <a:r>
              <a:rPr lang="en-US" sz="1200" spc="150" kern="0" dirty="0">
                <a:solidFill>
                  <a:srgbClr val="8792B3"/>
                </a:solidFill>
                <a:latin typeface="JetBrains Mono" pitchFamily="49" charset="0"/>
                <a:ea typeface="JetBrains Mono" pitchFamily="49" charset="-122"/>
                <a:cs typeface="JetBrains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5F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4453E0"/>
                </a:solidFill>
                <a:latin typeface="JetBrains Mono" pitchFamily="49" charset="0"/>
                <a:ea typeface="JetBrains Mono" pitchFamily="49" charset="-122"/>
                <a:cs typeface="JetBrains Mono" pitchFamily="49" charset="-120"/>
              </a:rPr>
              <a:t>SECURITY</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0E1630"/>
                </a:solidFill>
                <a:latin typeface="Space Grotesk" pitchFamily="34" charset="0"/>
                <a:ea typeface="Space Grotesk" pitchFamily="34" charset="-122"/>
                <a:cs typeface="Space Grotesk" pitchFamily="34" charset="-120"/>
              </a:rPr>
              <a:t>Enterprise-ready from day one</a:t>
            </a:r>
            <a:endParaRPr lang="en-US" sz="3200" dirty="0"/>
          </a:p>
        </p:txBody>
      </p:sp>
      <p:sp>
        <p:nvSpPr>
          <p:cNvPr id="4" name="Shape 2"/>
          <p:cNvSpPr/>
          <p:nvPr/>
        </p:nvSpPr>
        <p:spPr>
          <a:xfrm>
            <a:off x="815975" y="1882775"/>
            <a:ext cx="3380264" cy="1610995"/>
          </a:xfrm>
          <a:prstGeom prst="roundRect">
            <a:avLst>
              <a:gd name="adj" fmla="val 9263"/>
            </a:avLst>
          </a:prstGeom>
          <a:solidFill>
            <a:srgbClr val="FCFDFF"/>
          </a:solidFill>
          <a:ln w="6350">
            <a:solidFill>
              <a:srgbClr val="DCE1F0"/>
            </a:solidFill>
            <a:prstDash val="solid"/>
          </a:ln>
        </p:spPr>
      </p:sp>
      <p:pic>
        <p:nvPicPr>
          <p:cNvPr id="5" name="Image 0" descr="Key">    </p:cNvPr>
          <p:cNvPicPr>
            <a:picLocks noChangeAspect="1"/>
          </p:cNvPicPr>
          <p:nvPr/>
        </p:nvPicPr>
        <p:blipFill>
          <a:blip r:embed="rId1"/>
          <a:srcRect l="0" r="0" t="0" b="0"/>
          <a:stretch/>
        </p:blipFill>
        <p:spPr>
          <a:xfrm>
            <a:off x="1071880" y="2138679"/>
            <a:ext cx="279400" cy="279400"/>
          </a:xfrm>
          <a:prstGeom prst="rect">
            <a:avLst/>
          </a:prstGeom>
        </p:spPr>
      </p:pic>
      <p:sp>
        <p:nvSpPr>
          <p:cNvPr id="6" name="Text 3"/>
          <p:cNvSpPr/>
          <p:nvPr/>
        </p:nvSpPr>
        <p:spPr>
          <a:xfrm>
            <a:off x="1452880" y="2156464"/>
            <a:ext cx="169526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630"/>
                </a:solidFill>
                <a:latin typeface="Space Grotesk" pitchFamily="34" charset="0"/>
                <a:ea typeface="Space Grotesk" pitchFamily="34" charset="-122"/>
                <a:cs typeface="Space Grotesk" pitchFamily="34" charset="-120"/>
              </a:rPr>
              <a:t>Secure sign-in</a:t>
            </a:r>
            <a:endParaRPr lang="en-US" sz="1600" dirty="0"/>
          </a:p>
        </p:txBody>
      </p:sp>
      <p:sp>
        <p:nvSpPr>
          <p:cNvPr id="7" name="Text 4"/>
          <p:cNvSpPr/>
          <p:nvPr/>
        </p:nvSpPr>
        <p:spPr>
          <a:xfrm>
            <a:off x="1071880" y="2519679"/>
            <a:ext cx="2954507" cy="74358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470"/>
                </a:solidFill>
                <a:latin typeface="DM Sans" pitchFamily="34" charset="0"/>
                <a:ea typeface="DM Sans" pitchFamily="34" charset="-122"/>
                <a:cs typeface="DM Sans" pitchFamily="34" charset="-120"/>
              </a:rPr>
              <a:t>Token-based login, plus single sign-on and LDAP for company directories.</a:t>
            </a:r>
            <a:endParaRPr lang="en-US" sz="1300" dirty="0"/>
          </a:p>
        </p:txBody>
      </p:sp>
      <p:sp>
        <p:nvSpPr>
          <p:cNvPr id="8" name="Shape 5"/>
          <p:cNvSpPr/>
          <p:nvPr/>
        </p:nvSpPr>
        <p:spPr>
          <a:xfrm>
            <a:off x="4405789" y="1882775"/>
            <a:ext cx="3380343" cy="1610995"/>
          </a:xfrm>
          <a:prstGeom prst="roundRect">
            <a:avLst>
              <a:gd name="adj" fmla="val 9263"/>
            </a:avLst>
          </a:prstGeom>
          <a:solidFill>
            <a:srgbClr val="FCFDFF"/>
          </a:solidFill>
          <a:ln w="6350">
            <a:solidFill>
              <a:srgbClr val="DCE1F0"/>
            </a:solidFill>
            <a:prstDash val="solid"/>
          </a:ln>
        </p:spPr>
      </p:sp>
      <p:pic>
        <p:nvPicPr>
          <p:cNvPr id="9" name="Image 1" descr="Users">    </p:cNvPr>
          <p:cNvPicPr>
            <a:picLocks noChangeAspect="1"/>
          </p:cNvPicPr>
          <p:nvPr/>
        </p:nvPicPr>
        <p:blipFill>
          <a:blip r:embed="rId2"/>
          <a:srcRect l="0" r="0" t="0" b="0"/>
          <a:stretch/>
        </p:blipFill>
        <p:spPr>
          <a:xfrm>
            <a:off x="4661694" y="2138679"/>
            <a:ext cx="279400" cy="279400"/>
          </a:xfrm>
          <a:prstGeom prst="rect">
            <a:avLst/>
          </a:prstGeom>
        </p:spPr>
      </p:pic>
      <p:sp>
        <p:nvSpPr>
          <p:cNvPr id="10" name="Text 6"/>
          <p:cNvSpPr/>
          <p:nvPr/>
        </p:nvSpPr>
        <p:spPr>
          <a:xfrm>
            <a:off x="5042694" y="2156464"/>
            <a:ext cx="221627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630"/>
                </a:solidFill>
                <a:latin typeface="Space Grotesk" pitchFamily="34" charset="0"/>
                <a:ea typeface="Space Grotesk" pitchFamily="34" charset="-122"/>
                <a:cs typeface="Space Grotesk" pitchFamily="34" charset="-120"/>
              </a:rPr>
              <a:t>Role-based access</a:t>
            </a:r>
            <a:endParaRPr lang="en-US" sz="1600" dirty="0"/>
          </a:p>
        </p:txBody>
      </p:sp>
      <p:sp>
        <p:nvSpPr>
          <p:cNvPr id="11" name="Text 7"/>
          <p:cNvSpPr/>
          <p:nvPr/>
        </p:nvSpPr>
        <p:spPr>
          <a:xfrm>
            <a:off x="4661694" y="2519679"/>
            <a:ext cx="2954589"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470"/>
                </a:solidFill>
                <a:latin typeface="DM Sans" pitchFamily="34" charset="0"/>
                <a:ea typeface="DM Sans" pitchFamily="34" charset="-122"/>
                <a:cs typeface="DM Sans" pitchFamily="34" charset="-120"/>
              </a:rPr>
              <a:t>Separate view, create, edit and delete rights for every module.</a:t>
            </a:r>
            <a:endParaRPr lang="en-US" sz="1300" dirty="0"/>
          </a:p>
        </p:txBody>
      </p:sp>
      <p:sp>
        <p:nvSpPr>
          <p:cNvPr id="12" name="Shape 8"/>
          <p:cNvSpPr/>
          <p:nvPr/>
        </p:nvSpPr>
        <p:spPr>
          <a:xfrm>
            <a:off x="7995682" y="1882775"/>
            <a:ext cx="3380343" cy="1610995"/>
          </a:xfrm>
          <a:prstGeom prst="roundRect">
            <a:avLst>
              <a:gd name="adj" fmla="val 9263"/>
            </a:avLst>
          </a:prstGeom>
          <a:solidFill>
            <a:srgbClr val="FCFDFF"/>
          </a:solidFill>
          <a:ln w="6350">
            <a:solidFill>
              <a:srgbClr val="DCE1F0"/>
            </a:solidFill>
            <a:prstDash val="solid"/>
          </a:ln>
        </p:spPr>
      </p:sp>
      <p:pic>
        <p:nvPicPr>
          <p:cNvPr id="13" name="Image 2" descr="Home">    </p:cNvPr>
          <p:cNvPicPr>
            <a:picLocks noChangeAspect="1"/>
          </p:cNvPicPr>
          <p:nvPr/>
        </p:nvPicPr>
        <p:blipFill>
          <a:blip r:embed="rId3"/>
          <a:srcRect l="0" r="0" t="0" b="0"/>
          <a:stretch/>
        </p:blipFill>
        <p:spPr>
          <a:xfrm>
            <a:off x="8251587" y="2138679"/>
            <a:ext cx="279400" cy="279400"/>
          </a:xfrm>
          <a:prstGeom prst="rect">
            <a:avLst/>
          </a:prstGeom>
        </p:spPr>
      </p:pic>
      <p:sp>
        <p:nvSpPr>
          <p:cNvPr id="14" name="Text 9"/>
          <p:cNvSpPr/>
          <p:nvPr/>
        </p:nvSpPr>
        <p:spPr>
          <a:xfrm>
            <a:off x="8632587" y="2156464"/>
            <a:ext cx="218579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630"/>
                </a:solidFill>
                <a:latin typeface="Space Grotesk" pitchFamily="34" charset="0"/>
                <a:ea typeface="Space Grotesk" pitchFamily="34" charset="-122"/>
                <a:cs typeface="Space Grotesk" pitchFamily="34" charset="-120"/>
              </a:rPr>
              <a:t>Company isolation</a:t>
            </a:r>
            <a:endParaRPr lang="en-US" sz="1600" dirty="0"/>
          </a:p>
        </p:txBody>
      </p:sp>
      <p:sp>
        <p:nvSpPr>
          <p:cNvPr id="15" name="Text 10"/>
          <p:cNvSpPr/>
          <p:nvPr/>
        </p:nvSpPr>
        <p:spPr>
          <a:xfrm>
            <a:off x="8251587" y="2519679"/>
            <a:ext cx="2954589"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470"/>
                </a:solidFill>
                <a:latin typeface="DM Sans" pitchFamily="34" charset="0"/>
                <a:ea typeface="DM Sans" pitchFamily="34" charset="-122"/>
                <a:cs typeface="DM Sans" pitchFamily="34" charset="-120"/>
              </a:rPr>
              <a:t>Each organisation only ever sees its own assets, people and records.</a:t>
            </a:r>
            <a:endParaRPr lang="en-US" sz="1300" dirty="0"/>
          </a:p>
        </p:txBody>
      </p:sp>
      <p:sp>
        <p:nvSpPr>
          <p:cNvPr id="16" name="Shape 11"/>
          <p:cNvSpPr/>
          <p:nvPr/>
        </p:nvSpPr>
        <p:spPr>
          <a:xfrm>
            <a:off x="815975" y="3703321"/>
            <a:ext cx="3380264" cy="1371600"/>
          </a:xfrm>
          <a:prstGeom prst="roundRect">
            <a:avLst>
              <a:gd name="adj" fmla="val 10880"/>
            </a:avLst>
          </a:prstGeom>
          <a:solidFill>
            <a:srgbClr val="FCFDFF"/>
          </a:solidFill>
          <a:ln w="6350">
            <a:solidFill>
              <a:srgbClr val="DCE1F0"/>
            </a:solidFill>
            <a:prstDash val="solid"/>
          </a:ln>
        </p:spPr>
      </p:sp>
      <p:pic>
        <p:nvPicPr>
          <p:cNvPr id="17" name="Image 3" descr="Link">    </p:cNvPr>
          <p:cNvPicPr>
            <a:picLocks noChangeAspect="1"/>
          </p:cNvPicPr>
          <p:nvPr/>
        </p:nvPicPr>
        <p:blipFill>
          <a:blip r:embed="rId4"/>
          <a:srcRect l="0" r="0" t="0" b="0"/>
          <a:stretch/>
        </p:blipFill>
        <p:spPr>
          <a:xfrm>
            <a:off x="1071880" y="3959225"/>
            <a:ext cx="279400" cy="279400"/>
          </a:xfrm>
          <a:prstGeom prst="rect">
            <a:avLst/>
          </a:prstGeom>
        </p:spPr>
      </p:pic>
      <p:sp>
        <p:nvSpPr>
          <p:cNvPr id="18" name="Text 12"/>
          <p:cNvSpPr/>
          <p:nvPr/>
        </p:nvSpPr>
        <p:spPr>
          <a:xfrm>
            <a:off x="1452880" y="3977004"/>
            <a:ext cx="97707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630"/>
                </a:solidFill>
                <a:latin typeface="Space Grotesk" pitchFamily="34" charset="0"/>
                <a:ea typeface="Space Grotesk" pitchFamily="34" charset="-122"/>
                <a:cs typeface="Space Grotesk" pitchFamily="34" charset="-120"/>
              </a:rPr>
              <a:t>API keys</a:t>
            </a:r>
            <a:endParaRPr lang="en-US" sz="1600" dirty="0"/>
          </a:p>
        </p:txBody>
      </p:sp>
      <p:sp>
        <p:nvSpPr>
          <p:cNvPr id="19" name="Text 13"/>
          <p:cNvSpPr/>
          <p:nvPr/>
        </p:nvSpPr>
        <p:spPr>
          <a:xfrm>
            <a:off x="1071880" y="4340225"/>
            <a:ext cx="2954507"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470"/>
                </a:solidFill>
                <a:latin typeface="DM Sans" pitchFamily="34" charset="0"/>
                <a:ea typeface="DM Sans" pitchFamily="34" charset="-122"/>
                <a:cs typeface="DM Sans" pitchFamily="34" charset="-120"/>
              </a:rPr>
              <a:t>Connect ERP, BI or sensor systems without sharing anyone's password.</a:t>
            </a:r>
            <a:endParaRPr lang="en-US" sz="1300" dirty="0"/>
          </a:p>
        </p:txBody>
      </p:sp>
      <p:sp>
        <p:nvSpPr>
          <p:cNvPr id="20" name="Shape 14"/>
          <p:cNvSpPr/>
          <p:nvPr/>
        </p:nvSpPr>
        <p:spPr>
          <a:xfrm>
            <a:off x="4405789" y="3703321"/>
            <a:ext cx="3380343" cy="1371600"/>
          </a:xfrm>
          <a:prstGeom prst="roundRect">
            <a:avLst>
              <a:gd name="adj" fmla="val 10880"/>
            </a:avLst>
          </a:prstGeom>
          <a:solidFill>
            <a:srgbClr val="FCFDFF"/>
          </a:solidFill>
          <a:ln w="6350">
            <a:solidFill>
              <a:srgbClr val="DCE1F0"/>
            </a:solidFill>
            <a:prstDash val="solid"/>
          </a:ln>
        </p:spPr>
      </p:sp>
      <p:pic>
        <p:nvPicPr>
          <p:cNvPr id="21" name="Image 4" descr="Database">    </p:cNvPr>
          <p:cNvPicPr>
            <a:picLocks noChangeAspect="1"/>
          </p:cNvPicPr>
          <p:nvPr/>
        </p:nvPicPr>
        <p:blipFill>
          <a:blip r:embed="rId5"/>
          <a:srcRect l="0" r="0" t="0" b="0"/>
          <a:stretch/>
        </p:blipFill>
        <p:spPr>
          <a:xfrm>
            <a:off x="4661694" y="3959225"/>
            <a:ext cx="279400" cy="279400"/>
          </a:xfrm>
          <a:prstGeom prst="rect">
            <a:avLst/>
          </a:prstGeom>
        </p:spPr>
      </p:pic>
      <p:sp>
        <p:nvSpPr>
          <p:cNvPr id="22" name="Text 15"/>
          <p:cNvSpPr/>
          <p:nvPr/>
        </p:nvSpPr>
        <p:spPr>
          <a:xfrm>
            <a:off x="5042694" y="3977004"/>
            <a:ext cx="1799844"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630"/>
                </a:solidFill>
                <a:latin typeface="Space Grotesk" pitchFamily="34" charset="0"/>
                <a:ea typeface="Space Grotesk" pitchFamily="34" charset="-122"/>
                <a:cs typeface="Space Grotesk" pitchFamily="34" charset="-120"/>
              </a:rPr>
              <a:t>Change history</a:t>
            </a:r>
            <a:endParaRPr lang="en-US" sz="1600" dirty="0"/>
          </a:p>
        </p:txBody>
      </p:sp>
      <p:sp>
        <p:nvSpPr>
          <p:cNvPr id="23" name="Text 16"/>
          <p:cNvSpPr/>
          <p:nvPr/>
        </p:nvSpPr>
        <p:spPr>
          <a:xfrm>
            <a:off x="4661694" y="4340225"/>
            <a:ext cx="2954589"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470"/>
                </a:solidFill>
                <a:latin typeface="DM Sans" pitchFamily="34" charset="0"/>
                <a:ea typeface="DM Sans" pitchFamily="34" charset="-122"/>
                <a:cs typeface="DM Sans" pitchFamily="34" charset="-120"/>
              </a:rPr>
              <a:t>Work order edits are versioned, ready for audits and trend analysis.</a:t>
            </a:r>
            <a:endParaRPr lang="en-US" sz="1300" dirty="0"/>
          </a:p>
        </p:txBody>
      </p:sp>
      <p:sp>
        <p:nvSpPr>
          <p:cNvPr id="24" name="Shape 17"/>
          <p:cNvSpPr/>
          <p:nvPr/>
        </p:nvSpPr>
        <p:spPr>
          <a:xfrm>
            <a:off x="7995682" y="3703321"/>
            <a:ext cx="3380343" cy="1371600"/>
          </a:xfrm>
          <a:prstGeom prst="roundRect">
            <a:avLst>
              <a:gd name="adj" fmla="val 10880"/>
            </a:avLst>
          </a:prstGeom>
          <a:solidFill>
            <a:srgbClr val="FCFDFF"/>
          </a:solidFill>
          <a:ln w="6350">
            <a:solidFill>
              <a:srgbClr val="DCE1F0"/>
            </a:solidFill>
            <a:prstDash val="solid"/>
          </a:ln>
        </p:spPr>
      </p:sp>
      <p:pic>
        <p:nvPicPr>
          <p:cNvPr id="25" name="Image 5" descr="Cloud">    </p:cNvPr>
          <p:cNvPicPr>
            <a:picLocks noChangeAspect="1"/>
          </p:cNvPicPr>
          <p:nvPr/>
        </p:nvPicPr>
        <p:blipFill>
          <a:blip r:embed="rId6"/>
          <a:srcRect l="0" r="0" t="0" b="0"/>
          <a:stretch/>
        </p:blipFill>
        <p:spPr>
          <a:xfrm>
            <a:off x="8251587" y="3959225"/>
            <a:ext cx="279400" cy="279400"/>
          </a:xfrm>
          <a:prstGeom prst="rect">
            <a:avLst/>
          </a:prstGeom>
        </p:spPr>
      </p:pic>
      <p:sp>
        <p:nvSpPr>
          <p:cNvPr id="26" name="Text 18"/>
          <p:cNvSpPr/>
          <p:nvPr/>
        </p:nvSpPr>
        <p:spPr>
          <a:xfrm>
            <a:off x="8632587" y="3977004"/>
            <a:ext cx="1998059"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630"/>
                </a:solidFill>
                <a:latin typeface="Space Grotesk" pitchFamily="34" charset="0"/>
                <a:ea typeface="Space Grotesk" pitchFamily="34" charset="-122"/>
                <a:cs typeface="Space Grotesk" pitchFamily="34" charset="-120"/>
              </a:rPr>
              <a:t>Your own servers</a:t>
            </a:r>
            <a:endParaRPr lang="en-US" sz="1600" dirty="0"/>
          </a:p>
        </p:txBody>
      </p:sp>
      <p:sp>
        <p:nvSpPr>
          <p:cNvPr id="27" name="Text 19"/>
          <p:cNvSpPr/>
          <p:nvPr/>
        </p:nvSpPr>
        <p:spPr>
          <a:xfrm>
            <a:off x="8251587" y="4340225"/>
            <a:ext cx="2954589" cy="50419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470"/>
                </a:solidFill>
                <a:latin typeface="DM Sans" pitchFamily="34" charset="0"/>
                <a:ea typeface="DM Sans" pitchFamily="34" charset="-122"/>
                <a:cs typeface="DM Sans" pitchFamily="34" charset="-120"/>
              </a:rPr>
              <a:t>Self-hosted with Docker, so data and files stay on your infrastructure.</a:t>
            </a:r>
            <a:endParaRPr lang="en-US" sz="1300" dirty="0"/>
          </a:p>
        </p:txBody>
      </p:sp>
      <p:sp>
        <p:nvSpPr>
          <p:cNvPr id="28" name="Text 20"/>
          <p:cNvSpPr/>
          <p:nvPr/>
        </p:nvSpPr>
        <p:spPr>
          <a:xfrm>
            <a:off x="812800" y="6236971"/>
            <a:ext cx="1591056"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5B6585"/>
                </a:solidFill>
                <a:latin typeface="JetBrains Mono" pitchFamily="49" charset="0"/>
                <a:ea typeface="JetBrains Mono" pitchFamily="49" charset="-122"/>
                <a:cs typeface="JetBrains Mono" pitchFamily="49" charset="-120"/>
              </a:rPr>
              <a:t>EQUINOX CMMS</a:t>
            </a:r>
            <a:endParaRPr lang="en-US" sz="1200" dirty="0"/>
          </a:p>
        </p:txBody>
      </p:sp>
      <p:sp>
        <p:nvSpPr>
          <p:cNvPr id="29" name="Text 21"/>
          <p:cNvSpPr/>
          <p:nvPr/>
        </p:nvSpPr>
        <p:spPr>
          <a:xfrm>
            <a:off x="11107420" y="6236971"/>
            <a:ext cx="271780" cy="238760"/>
          </a:xfrm>
          <a:prstGeom prst="rect">
            <a:avLst/>
          </a:prstGeom>
          <a:noFill/>
          <a:ln/>
        </p:spPr>
        <p:txBody>
          <a:bodyPr wrap="square" lIns="0" tIns="0" rIns="0" bIns="0" rtlCol="0" anchor="t">
            <a:normAutofit/>
          </a:bodyPr>
          <a:lstStyle/>
          <a:p>
            <a:pPr algn="r" indent="0" marL="0">
              <a:lnSpc>
                <a:spcPts val="1680"/>
              </a:lnSpc>
              <a:buNone/>
            </a:pPr>
            <a:r>
              <a:rPr lang="en-US" sz="1200" spc="150" kern="0" dirty="0">
                <a:solidFill>
                  <a:srgbClr val="5B6585"/>
                </a:solidFill>
                <a:latin typeface="JetBrains Mono" pitchFamily="49" charset="0"/>
                <a:ea typeface="JetBrains Mono" pitchFamily="49" charset="-122"/>
                <a:cs typeface="JetBrains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220"/>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200" kern="0" dirty="0">
                <a:solidFill>
                  <a:srgbClr val="3FD6E6"/>
                </a:solidFill>
                <a:latin typeface="JetBrains Mono" pitchFamily="49" charset="0"/>
                <a:ea typeface="JetBrains Mono" pitchFamily="49" charset="-122"/>
                <a:cs typeface="JetBrains Mono" pitchFamily="49" charset="-120"/>
              </a:rPr>
              <a:t>ROADMAP</a:t>
            </a:r>
            <a:endParaRPr lang="en-US" sz="1200" dirty="0"/>
          </a:p>
        </p:txBody>
      </p:sp>
      <p:sp>
        <p:nvSpPr>
          <p:cNvPr id="3" name="Text 1"/>
          <p:cNvSpPr/>
          <p:nvPr>
            <p:ph type="title"/>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E8ECF7"/>
                </a:solidFill>
                <a:latin typeface="Space Grotesk" pitchFamily="34" charset="0"/>
                <a:ea typeface="Space Grotesk" pitchFamily="34" charset="-122"/>
                <a:cs typeface="Space Grotesk" pitchFamily="34" charset="-120"/>
              </a:rPr>
              <a:t>Where Equinox goes next</a:t>
            </a:r>
            <a:endParaRPr lang="en-US" sz="3200" dirty="0"/>
          </a:p>
        </p:txBody>
      </p:sp>
      <p:sp>
        <p:nvSpPr>
          <p:cNvPr id="4" name="Shape 2"/>
          <p:cNvSpPr/>
          <p:nvPr/>
        </p:nvSpPr>
        <p:spPr>
          <a:xfrm>
            <a:off x="819150" y="1885950"/>
            <a:ext cx="3380740" cy="3949700"/>
          </a:xfrm>
          <a:prstGeom prst="roundRect">
            <a:avLst>
              <a:gd name="adj" fmla="val 5071"/>
            </a:avLst>
          </a:prstGeom>
          <a:gradFill rotWithShape="1">
            <a:gsLst>
              <a:gs pos="0">
                <a:srgbClr val="1A2550"/>
              </a:gs>
              <a:gs pos="70000">
                <a:srgbClr val="131C30"/>
              </a:gs>
            </a:gsLst>
            <a:lin ang="4200000" scaled="0"/>
          </a:gradFill>
          <a:ln w="12700">
            <a:solidFill>
              <a:srgbClr val="4A57D9"/>
            </a:solidFill>
            <a:prstDash val="solid"/>
          </a:ln>
        </p:spPr>
      </p:sp>
      <p:sp>
        <p:nvSpPr>
          <p:cNvPr id="5" name="Text 3"/>
          <p:cNvSpPr/>
          <p:nvPr/>
        </p:nvSpPr>
        <p:spPr>
          <a:xfrm>
            <a:off x="1102360" y="2169164"/>
            <a:ext cx="1295400" cy="314960"/>
          </a:xfrm>
          <a:prstGeom prst="roundRect">
            <a:avLst>
              <a:gd name="adj" fmla="val 50000"/>
            </a:avLst>
          </a:prstGeom>
          <a:solidFill>
            <a:srgbClr val="7B88FF"/>
          </a:solidFill>
          <a:ln/>
        </p:spPr>
        <p:txBody>
          <a:bodyPr wrap="none" lIns="0" tIns="0" rIns="0" bIns="0" rtlCol="0" anchor="ctr">
            <a:normAutofit/>
          </a:bodyPr>
          <a:lstStyle/>
          <a:p>
            <a:pPr algn="ctr" indent="0" marL="0">
              <a:lnSpc>
                <a:spcPts val="1680"/>
              </a:lnSpc>
              <a:buNone/>
            </a:pPr>
            <a:r>
              <a:rPr lang="en-US" sz="1200" b="1" spc="100" kern="0" dirty="0">
                <a:solidFill>
                  <a:srgbClr val="0B1220"/>
                </a:solidFill>
                <a:latin typeface="JetBrains Mono" pitchFamily="49" charset="0"/>
                <a:ea typeface="JetBrains Mono" pitchFamily="49" charset="-122"/>
                <a:cs typeface="JetBrains Mono" pitchFamily="49" charset="-120"/>
              </a:rPr>
              <a:t>NOW · LIVE</a:t>
            </a:r>
            <a:endParaRPr lang="en-US" sz="1200" dirty="0"/>
          </a:p>
        </p:txBody>
      </p:sp>
      <p:sp>
        <p:nvSpPr>
          <p:cNvPr id="6" name="Text 4"/>
          <p:cNvSpPr/>
          <p:nvPr/>
        </p:nvSpPr>
        <p:spPr>
          <a:xfrm>
            <a:off x="1102360" y="2636521"/>
            <a:ext cx="2898750"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E8ECF7"/>
                </a:solidFill>
                <a:latin typeface="Space Grotesk" pitchFamily="34" charset="0"/>
                <a:ea typeface="Space Grotesk" pitchFamily="34" charset="-122"/>
                <a:cs typeface="Space Grotesk" pitchFamily="34" charset="-120"/>
              </a:rPr>
              <a:t>Report and dispatch</a:t>
            </a:r>
            <a:endParaRPr lang="en-US" sz="2000" dirty="0"/>
          </a:p>
        </p:txBody>
      </p:sp>
      <p:sp>
        <p:nvSpPr>
          <p:cNvPr id="7" name="Text 5"/>
          <p:cNvSpPr/>
          <p:nvPr/>
        </p:nvSpPr>
        <p:spPr>
          <a:xfrm>
            <a:off x="1186942" y="3081021"/>
            <a:ext cx="2806548" cy="1314450"/>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C3CBE3"/>
                </a:solidFill>
                <a:latin typeface="DM Sans" pitchFamily="34" charset="0"/>
                <a:ea typeface="DM Sans" pitchFamily="34" charset="-122"/>
                <a:cs typeface="DM Sans" pitchFamily="34" charset="-120"/>
              </a:rPr>
              <a:t>Full maintenance platform</a:t>
            </a:r>
            <a:endParaRPr lang="en-US" sz="1400" dirty="0"/>
          </a:p>
          <a:p>
            <a:pPr algn="l" marL="169418" indent="-169418">
              <a:lnSpc>
                <a:spcPts val="2030"/>
              </a:lnSpc>
              <a:buSzPct val="100000"/>
              <a:buChar char="•"/>
            </a:pPr>
            <a:r>
              <a:rPr lang="en-US" sz="1400" dirty="0">
                <a:solidFill>
                  <a:srgbClr val="C3CBE3"/>
                </a:solidFill>
                <a:latin typeface="DM Sans" pitchFamily="34" charset="0"/>
                <a:ea typeface="DM Sans" pitchFamily="34" charset="-122"/>
                <a:cs typeface="DM Sans" pitchFamily="34" charset="-120"/>
              </a:rPr>
              <a:t>AI chat assistant</a:t>
            </a:r>
            <a:endParaRPr lang="en-US" sz="1400" dirty="0"/>
          </a:p>
          <a:p>
            <a:pPr algn="l" marL="169418" indent="-169418">
              <a:lnSpc>
                <a:spcPts val="2030"/>
              </a:lnSpc>
              <a:buSzPct val="100000"/>
              <a:buChar char="•"/>
            </a:pPr>
            <a:r>
              <a:rPr lang="en-US" sz="1400" dirty="0">
                <a:solidFill>
                  <a:srgbClr val="C3CBE3"/>
                </a:solidFill>
                <a:latin typeface="DM Sans" pitchFamily="34" charset="0"/>
                <a:ea typeface="DM Sans" pitchFamily="34" charset="-122"/>
                <a:cs typeface="DM Sans" pitchFamily="34" charset="-120"/>
              </a:rPr>
              <a:t>Voice agent in any language</a:t>
            </a:r>
            <a:endParaRPr lang="en-US" sz="1400" dirty="0"/>
          </a:p>
          <a:p>
            <a:pPr algn="l" marL="169418" indent="-169418">
              <a:lnSpc>
                <a:spcPts val="2030"/>
              </a:lnSpc>
              <a:buSzPct val="100000"/>
              <a:buChar char="•"/>
            </a:pPr>
            <a:r>
              <a:rPr lang="en-US" sz="1400" dirty="0">
                <a:solidFill>
                  <a:srgbClr val="C3CBE3"/>
                </a:solidFill>
                <a:latin typeface="DM Sans" pitchFamily="34" charset="0"/>
                <a:ea typeface="DM Sans" pitchFamily="34" charset="-122"/>
                <a:cs typeface="DM Sans" pitchFamily="34" charset="-120"/>
              </a:rPr>
              <a:t>Ranked, explained assignment</a:t>
            </a:r>
            <a:endParaRPr lang="en-US" sz="1400" dirty="0"/>
          </a:p>
          <a:p>
            <a:pPr algn="l" marL="169418" indent="-169418">
              <a:lnSpc>
                <a:spcPts val="2030"/>
              </a:lnSpc>
              <a:buSzPct val="100000"/>
              <a:buChar char="•"/>
            </a:pPr>
            <a:r>
              <a:rPr lang="en-US" sz="1400" dirty="0">
                <a:solidFill>
                  <a:srgbClr val="C3CBE3"/>
                </a:solidFill>
                <a:latin typeface="DM Sans" pitchFamily="34" charset="0"/>
                <a:ea typeface="DM Sans" pitchFamily="34" charset="-122"/>
                <a:cs typeface="DM Sans" pitchFamily="34" charset="-120"/>
              </a:rPr>
              <a:t>Live call activity trail</a:t>
            </a:r>
            <a:endParaRPr lang="en-US" sz="1400" dirty="0"/>
          </a:p>
        </p:txBody>
      </p:sp>
      <p:sp>
        <p:nvSpPr>
          <p:cNvPr id="8" name="Shape 6"/>
          <p:cNvSpPr/>
          <p:nvPr/>
        </p:nvSpPr>
        <p:spPr>
          <a:xfrm>
            <a:off x="4412615" y="1882775"/>
            <a:ext cx="3376930" cy="3956050"/>
          </a:xfrm>
          <a:prstGeom prst="roundRect">
            <a:avLst>
              <a:gd name="adj" fmla="val 5171"/>
            </a:avLst>
          </a:prstGeom>
          <a:solidFill>
            <a:srgbClr val="131C30"/>
          </a:solidFill>
          <a:ln w="6350">
            <a:solidFill>
              <a:srgbClr val="24304D"/>
            </a:solidFill>
            <a:prstDash val="solid"/>
          </a:ln>
        </p:spPr>
      </p:sp>
      <p:sp>
        <p:nvSpPr>
          <p:cNvPr id="9" name="Text 7"/>
          <p:cNvSpPr/>
          <p:nvPr/>
        </p:nvSpPr>
        <p:spPr>
          <a:xfrm>
            <a:off x="4693920" y="2164079"/>
            <a:ext cx="670560" cy="314960"/>
          </a:xfrm>
          <a:prstGeom prst="roundRect">
            <a:avLst>
              <a:gd name="adj" fmla="val 50000"/>
            </a:avLst>
          </a:prstGeom>
          <a:solidFill>
            <a:srgbClr val="3FD6E6"/>
          </a:solidFill>
          <a:ln/>
        </p:spPr>
        <p:txBody>
          <a:bodyPr wrap="none" lIns="0" tIns="0" rIns="0" bIns="0" rtlCol="0" anchor="ctr">
            <a:normAutofit/>
          </a:bodyPr>
          <a:lstStyle/>
          <a:p>
            <a:pPr algn="ctr" indent="0" marL="0">
              <a:lnSpc>
                <a:spcPts val="1680"/>
              </a:lnSpc>
              <a:buNone/>
            </a:pPr>
            <a:r>
              <a:rPr lang="en-US" sz="1200" b="1" spc="100" kern="0" dirty="0">
                <a:solidFill>
                  <a:srgbClr val="0B1220"/>
                </a:solidFill>
                <a:latin typeface="JetBrains Mono" pitchFamily="49" charset="0"/>
                <a:ea typeface="JetBrains Mono" pitchFamily="49" charset="-122"/>
                <a:cs typeface="JetBrains Mono" pitchFamily="49" charset="-120"/>
              </a:rPr>
              <a:t>NEXT</a:t>
            </a:r>
            <a:endParaRPr lang="en-US" sz="1200" dirty="0"/>
          </a:p>
        </p:txBody>
      </p:sp>
      <p:sp>
        <p:nvSpPr>
          <p:cNvPr id="10" name="Text 8"/>
          <p:cNvSpPr/>
          <p:nvPr/>
        </p:nvSpPr>
        <p:spPr>
          <a:xfrm>
            <a:off x="4693920" y="2631442"/>
            <a:ext cx="2898750"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E8ECF7"/>
                </a:solidFill>
                <a:latin typeface="Space Grotesk" pitchFamily="34" charset="0"/>
                <a:ea typeface="Space Grotesk" pitchFamily="34" charset="-122"/>
                <a:cs typeface="Space Grotesk" pitchFamily="34" charset="-120"/>
              </a:rPr>
              <a:t>Self-correcting dispatch</a:t>
            </a:r>
            <a:endParaRPr lang="en-US" sz="2000" dirty="0"/>
          </a:p>
        </p:txBody>
      </p:sp>
      <p:sp>
        <p:nvSpPr>
          <p:cNvPr id="11" name="Text 9"/>
          <p:cNvSpPr/>
          <p:nvPr/>
        </p:nvSpPr>
        <p:spPr>
          <a:xfrm>
            <a:off x="4778502" y="3368042"/>
            <a:ext cx="2806548" cy="2087880"/>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C3CBE3"/>
                </a:solidFill>
                <a:latin typeface="DM Sans" pitchFamily="34" charset="0"/>
                <a:ea typeface="DM Sans" pitchFamily="34" charset="-122"/>
                <a:cs typeface="DM Sans" pitchFamily="34" charset="-120"/>
              </a:rPr>
              <a:t>Skills and certifications in matching</a:t>
            </a:r>
            <a:endParaRPr lang="en-US" sz="1400" dirty="0"/>
          </a:p>
          <a:p>
            <a:pPr algn="l" marL="169418" indent="-169418">
              <a:lnSpc>
                <a:spcPts val="2030"/>
              </a:lnSpc>
              <a:buSzPct val="100000"/>
              <a:buChar char="•"/>
            </a:pPr>
            <a:r>
              <a:rPr lang="en-US" sz="1400" dirty="0">
                <a:solidFill>
                  <a:srgbClr val="C3CBE3"/>
                </a:solidFill>
                <a:latin typeface="DM Sans" pitchFamily="34" charset="0"/>
                <a:ea typeface="DM Sans" pitchFamily="34" charset="-122"/>
                <a:cs typeface="DM Sans" pitchFamily="34" charset="-120"/>
              </a:rPr>
              <a:t>SLA timers with auto-escalation</a:t>
            </a:r>
            <a:endParaRPr lang="en-US" sz="1400" dirty="0"/>
          </a:p>
          <a:p>
            <a:pPr algn="l" marL="169418" indent="-169418">
              <a:lnSpc>
                <a:spcPts val="2030"/>
              </a:lnSpc>
              <a:buSzPct val="100000"/>
              <a:buChar char="•"/>
            </a:pPr>
            <a:r>
              <a:rPr lang="en-US" sz="1400" dirty="0">
                <a:solidFill>
                  <a:srgbClr val="C3CBE3"/>
                </a:solidFill>
                <a:latin typeface="DM Sans" pitchFamily="34" charset="0"/>
                <a:ea typeface="DM Sans" pitchFamily="34" charset="-122"/>
                <a:cs typeface="DM Sans" pitchFamily="34" charset="-120"/>
              </a:rPr>
              <a:t>Instant reassignment on dropout</a:t>
            </a:r>
            <a:endParaRPr lang="en-US" sz="1400" dirty="0"/>
          </a:p>
          <a:p>
            <a:pPr algn="l" marL="169418" indent="-169418">
              <a:lnSpc>
                <a:spcPts val="2030"/>
              </a:lnSpc>
              <a:buSzPct val="100000"/>
              <a:buChar char="•"/>
            </a:pPr>
            <a:r>
              <a:rPr lang="en-US" sz="1400" dirty="0">
                <a:solidFill>
                  <a:srgbClr val="C3CBE3"/>
                </a:solidFill>
                <a:latin typeface="DM Sans" pitchFamily="34" charset="0"/>
                <a:ea typeface="DM Sans" pitchFamily="34" charset="-122"/>
                <a:cs typeface="DM Sans" pitchFamily="34" charset="-120"/>
              </a:rPr>
              <a:t>Spare parts reserved on approval</a:t>
            </a:r>
            <a:endParaRPr lang="en-US" sz="1400" dirty="0"/>
          </a:p>
        </p:txBody>
      </p:sp>
      <p:sp>
        <p:nvSpPr>
          <p:cNvPr id="12" name="Shape 10"/>
          <p:cNvSpPr/>
          <p:nvPr/>
        </p:nvSpPr>
        <p:spPr>
          <a:xfrm>
            <a:off x="7999095" y="1882775"/>
            <a:ext cx="3376930" cy="3956050"/>
          </a:xfrm>
          <a:prstGeom prst="roundRect">
            <a:avLst>
              <a:gd name="adj" fmla="val 5171"/>
            </a:avLst>
          </a:prstGeom>
          <a:solidFill>
            <a:srgbClr val="131C30"/>
          </a:solidFill>
          <a:ln w="6350">
            <a:solidFill>
              <a:srgbClr val="24304D"/>
            </a:solidFill>
            <a:prstDash val="solid"/>
          </a:ln>
        </p:spPr>
      </p:sp>
      <p:sp>
        <p:nvSpPr>
          <p:cNvPr id="13" name="Text 11"/>
          <p:cNvSpPr/>
          <p:nvPr/>
        </p:nvSpPr>
        <p:spPr>
          <a:xfrm>
            <a:off x="8280400" y="2164079"/>
            <a:ext cx="774700" cy="314960"/>
          </a:xfrm>
          <a:prstGeom prst="roundRect">
            <a:avLst>
              <a:gd name="adj" fmla="val 50000"/>
            </a:avLst>
          </a:prstGeom>
          <a:solidFill>
            <a:srgbClr val="A9B4CF"/>
          </a:solidFill>
          <a:ln/>
        </p:spPr>
        <p:txBody>
          <a:bodyPr wrap="none" lIns="0" tIns="0" rIns="0" bIns="0" rtlCol="0" anchor="ctr">
            <a:normAutofit/>
          </a:bodyPr>
          <a:lstStyle/>
          <a:p>
            <a:pPr algn="ctr" indent="0" marL="0">
              <a:lnSpc>
                <a:spcPts val="1680"/>
              </a:lnSpc>
              <a:buNone/>
            </a:pPr>
            <a:r>
              <a:rPr lang="en-US" sz="1200" b="1" spc="100" kern="0" dirty="0">
                <a:solidFill>
                  <a:srgbClr val="0B1220"/>
                </a:solidFill>
                <a:latin typeface="JetBrains Mono" pitchFamily="49" charset="0"/>
                <a:ea typeface="JetBrains Mono" pitchFamily="49" charset="-122"/>
                <a:cs typeface="JetBrains Mono" pitchFamily="49" charset="-120"/>
              </a:rPr>
              <a:t>LATER</a:t>
            </a:r>
            <a:endParaRPr lang="en-US" sz="1200" dirty="0"/>
          </a:p>
        </p:txBody>
      </p:sp>
      <p:sp>
        <p:nvSpPr>
          <p:cNvPr id="14" name="Text 12"/>
          <p:cNvSpPr/>
          <p:nvPr/>
        </p:nvSpPr>
        <p:spPr>
          <a:xfrm>
            <a:off x="8280400" y="2631442"/>
            <a:ext cx="2898750" cy="3175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E8ECF7"/>
                </a:solidFill>
                <a:latin typeface="Space Grotesk" pitchFamily="34" charset="0"/>
                <a:ea typeface="Space Grotesk" pitchFamily="34" charset="-122"/>
                <a:cs typeface="Space Grotesk" pitchFamily="34" charset="-120"/>
              </a:rPr>
              <a:t>Predict and prove</a:t>
            </a:r>
            <a:endParaRPr lang="en-US" sz="2000" dirty="0"/>
          </a:p>
        </p:txBody>
      </p:sp>
      <p:sp>
        <p:nvSpPr>
          <p:cNvPr id="15" name="Text 13"/>
          <p:cNvSpPr/>
          <p:nvPr/>
        </p:nvSpPr>
        <p:spPr>
          <a:xfrm>
            <a:off x="8364982" y="3075942"/>
            <a:ext cx="2806548" cy="1314450"/>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C3CBE3"/>
                </a:solidFill>
                <a:latin typeface="DM Sans" pitchFamily="34" charset="0"/>
                <a:ea typeface="DM Sans" pitchFamily="34" charset="-122"/>
                <a:cs typeface="DM Sans" pitchFamily="34" charset="-120"/>
              </a:rPr>
              <a:t>Supervisor sign-off before closing</a:t>
            </a:r>
            <a:endParaRPr lang="en-US" sz="1400" dirty="0"/>
          </a:p>
          <a:p>
            <a:pPr algn="l" marL="169418" indent="-169418">
              <a:lnSpc>
                <a:spcPts val="2030"/>
              </a:lnSpc>
              <a:buSzPct val="100000"/>
              <a:buChar char="•"/>
            </a:pPr>
            <a:r>
              <a:rPr lang="en-US" sz="1400" dirty="0">
                <a:solidFill>
                  <a:srgbClr val="C3CBE3"/>
                </a:solidFill>
                <a:latin typeface="DM Sans" pitchFamily="34" charset="0"/>
                <a:ea typeface="DM Sans" pitchFamily="34" charset="-122"/>
                <a:cs typeface="DM Sans" pitchFamily="34" charset="-120"/>
              </a:rPr>
              <a:t>Tamper-evident audit trail</a:t>
            </a:r>
            <a:endParaRPr lang="en-US" sz="1400" dirty="0"/>
          </a:p>
          <a:p>
            <a:pPr algn="l" marL="169418" indent="-169418">
              <a:lnSpc>
                <a:spcPts val="2030"/>
              </a:lnSpc>
              <a:buSzPct val="100000"/>
              <a:buChar char="•"/>
            </a:pPr>
            <a:r>
              <a:rPr lang="en-US" sz="1400" dirty="0">
                <a:solidFill>
                  <a:srgbClr val="C3CBE3"/>
                </a:solidFill>
                <a:latin typeface="DM Sans" pitchFamily="34" charset="0"/>
                <a:ea typeface="DM Sans" pitchFamily="34" charset="-122"/>
                <a:cs typeface="DM Sans" pitchFamily="34" charset="-120"/>
              </a:rPr>
              <a:t>IoT sensors that open jobs</a:t>
            </a:r>
            <a:endParaRPr lang="en-US" sz="1400" dirty="0"/>
          </a:p>
          <a:p>
            <a:pPr algn="l" marL="169418" indent="-169418">
              <a:lnSpc>
                <a:spcPts val="2030"/>
              </a:lnSpc>
              <a:buSzPct val="100000"/>
              <a:buChar char="•"/>
            </a:pPr>
            <a:r>
              <a:rPr lang="en-US" sz="1400" dirty="0">
                <a:solidFill>
                  <a:srgbClr val="C3CBE3"/>
                </a:solidFill>
                <a:latin typeface="DM Sans" pitchFamily="34" charset="0"/>
                <a:ea typeface="DM Sans" pitchFamily="34" charset="-122"/>
                <a:cs typeface="DM Sans" pitchFamily="34" charset="-120"/>
              </a:rPr>
              <a:t>Failure prediction models</a:t>
            </a:r>
            <a:endParaRPr lang="en-US" sz="1400" dirty="0"/>
          </a:p>
        </p:txBody>
      </p:sp>
      <p:sp>
        <p:nvSpPr>
          <p:cNvPr id="16" name="Text 14"/>
          <p:cNvSpPr/>
          <p:nvPr/>
        </p:nvSpPr>
        <p:spPr>
          <a:xfrm>
            <a:off x="812800" y="6236971"/>
            <a:ext cx="1591056"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792B3"/>
                </a:solidFill>
                <a:latin typeface="JetBrains Mono" pitchFamily="49" charset="0"/>
                <a:ea typeface="JetBrains Mono" pitchFamily="49" charset="-122"/>
                <a:cs typeface="JetBrains Mono" pitchFamily="49" charset="-120"/>
              </a:rPr>
              <a:t>EQUINOX CMMS</a:t>
            </a:r>
            <a:endParaRPr lang="en-US" sz="1200" dirty="0"/>
          </a:p>
        </p:txBody>
      </p:sp>
      <p:sp>
        <p:nvSpPr>
          <p:cNvPr id="17" name="Text 15"/>
          <p:cNvSpPr/>
          <p:nvPr/>
        </p:nvSpPr>
        <p:spPr>
          <a:xfrm>
            <a:off x="11107420" y="6236971"/>
            <a:ext cx="271780" cy="238760"/>
          </a:xfrm>
          <a:prstGeom prst="rect">
            <a:avLst/>
          </a:prstGeom>
          <a:noFill/>
          <a:ln/>
        </p:spPr>
        <p:txBody>
          <a:bodyPr wrap="square" lIns="0" tIns="0" rIns="0" bIns="0" rtlCol="0" anchor="t">
            <a:normAutofit/>
          </a:bodyPr>
          <a:lstStyle/>
          <a:p>
            <a:pPr algn="r" indent="0" marL="0">
              <a:lnSpc>
                <a:spcPts val="1680"/>
              </a:lnSpc>
              <a:buNone/>
            </a:pPr>
            <a:r>
              <a:rPr lang="en-US" sz="1200" spc="150" kern="0" dirty="0">
                <a:solidFill>
                  <a:srgbClr val="8792B3"/>
                </a:solidFill>
                <a:latin typeface="JetBrains Mono" pitchFamily="49" charset="0"/>
                <a:ea typeface="JetBrains Mono" pitchFamily="49" charset="-122"/>
                <a:cs typeface="JetBrains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Equinox orbital logo">    </p:cNvPr>
          <p:cNvPicPr>
            <a:picLocks noChangeAspect="1"/>
          </p:cNvPicPr>
          <p:nvPr/>
        </p:nvPicPr>
        <p:blipFill>
          <a:blip r:embed="rId1"/>
          <a:srcRect l="0" r="0" t="0" b="0"/>
          <a:stretch/>
        </p:blipFill>
        <p:spPr>
          <a:xfrm>
            <a:off x="5143500" y="1319529"/>
            <a:ext cx="1905000" cy="1905000"/>
          </a:xfrm>
          <a:prstGeom prst="rect">
            <a:avLst/>
          </a:prstGeom>
        </p:spPr>
      </p:pic>
      <p:sp>
        <p:nvSpPr>
          <p:cNvPr id="3" name="Text 0"/>
          <p:cNvSpPr/>
          <p:nvPr>
            <p:ph type="title"/>
          </p:nvPr>
        </p:nvSpPr>
        <p:spPr>
          <a:xfrm>
            <a:off x="497586" y="3453129"/>
            <a:ext cx="11196828" cy="718820"/>
          </a:xfrm>
          <a:prstGeom prst="rect">
            <a:avLst/>
          </a:prstGeom>
          <a:noFill/>
          <a:ln/>
        </p:spPr>
        <p:txBody>
          <a:bodyPr wrap="square" lIns="0" tIns="0" rIns="0" bIns="0" rtlCol="0" anchor="t">
            <a:normAutofit/>
          </a:bodyPr>
          <a:lstStyle/>
          <a:p>
            <a:pPr algn="ctr" indent="0" marL="0">
              <a:lnSpc>
                <a:spcPts val="5460"/>
              </a:lnSpc>
              <a:buNone/>
            </a:pPr>
            <a:r>
              <a:rPr lang="en-US" sz="5200" b="1" i="0" spc="-150" kern="0" dirty="0">
                <a:solidFill>
                  <a:srgbClr val="E8ECF7"/>
                </a:solidFill>
                <a:latin typeface="Space Grotesk" pitchFamily="34" charset="0"/>
                <a:ea typeface="Space Grotesk" pitchFamily="34" charset="-122"/>
                <a:cs typeface="Space Grotesk" pitchFamily="34" charset="-120"/>
              </a:rPr>
              <a:t>From breakdown to </a:t>
            </a:r>
            <a:r>
              <a:rPr lang="en-US" sz="5200" b="1" i="0" spc="-150" kern="0" dirty="0">
                <a:solidFill>
                  <a:srgbClr val="7B88FF"/>
                </a:solidFill>
                <a:latin typeface="Space Grotesk" pitchFamily="34" charset="0"/>
                <a:ea typeface="Space Grotesk" pitchFamily="34" charset="-122"/>
                <a:cs typeface="Space Grotesk" pitchFamily="34" charset="-120"/>
              </a:rPr>
              <a:t>verified fix.</a:t>
            </a:r>
            <a:endParaRPr lang="en-US" sz="5200" dirty="0"/>
          </a:p>
        </p:txBody>
      </p:sp>
      <p:sp>
        <p:nvSpPr>
          <p:cNvPr id="4" name="Text 1"/>
          <p:cNvSpPr/>
          <p:nvPr/>
        </p:nvSpPr>
        <p:spPr>
          <a:xfrm>
            <a:off x="2819027" y="4375150"/>
            <a:ext cx="6553867" cy="345440"/>
          </a:xfrm>
          <a:prstGeom prst="rect">
            <a:avLst/>
          </a:prstGeom>
          <a:noFill/>
          <a:ln/>
        </p:spPr>
        <p:txBody>
          <a:bodyPr wrap="square" lIns="0" tIns="0" rIns="0" bIns="0" rtlCol="0" anchor="t">
            <a:normAutofit/>
          </a:bodyPr>
          <a:lstStyle/>
          <a:p>
            <a:pPr algn="ctr" indent="0" marL="0">
              <a:lnSpc>
                <a:spcPts val="2520"/>
              </a:lnSpc>
              <a:buNone/>
            </a:pPr>
            <a:r>
              <a:rPr lang="en-US" sz="1800" dirty="0">
                <a:solidFill>
                  <a:srgbClr val="A9B4CF"/>
                </a:solidFill>
                <a:latin typeface="DM Sans" pitchFamily="34" charset="0"/>
                <a:ea typeface="DM Sans" pitchFamily="34" charset="-122"/>
                <a:cs typeface="DM Sans" pitchFamily="34" charset="-120"/>
              </a:rPr>
              <a:t>Report it any way. Assign it right. Track it to the end.</a:t>
            </a:r>
            <a:endParaRPr lang="en-US" sz="1800" dirty="0"/>
          </a:p>
        </p:txBody>
      </p:sp>
      <p:sp>
        <p:nvSpPr>
          <p:cNvPr id="5" name="Text 2"/>
          <p:cNvSpPr/>
          <p:nvPr/>
        </p:nvSpPr>
        <p:spPr>
          <a:xfrm>
            <a:off x="4438015" y="4926967"/>
            <a:ext cx="3315970" cy="405130"/>
          </a:xfrm>
          <a:prstGeom prst="roundRect">
            <a:avLst>
              <a:gd name="adj" fmla="val 50000"/>
            </a:avLst>
          </a:prstGeom>
          <a:noFill/>
          <a:ln w="6350">
            <a:solidFill>
              <a:srgbClr val="2BB3C2"/>
            </a:solidFill>
            <a:prstDash val="solid"/>
          </a:ln>
        </p:spPr>
        <p:txBody>
          <a:bodyPr wrap="none" lIns="0" tIns="0" rIns="0" bIns="0" rtlCol="0" anchor="ctr">
            <a:normAutofit/>
          </a:bodyPr>
          <a:lstStyle/>
          <a:p>
            <a:pPr algn="ctr" indent="0" marL="0">
              <a:lnSpc>
                <a:spcPts val="1960"/>
              </a:lnSpc>
              <a:buNone/>
            </a:pPr>
            <a:r>
              <a:rPr lang="en-US" sz="1400" spc="200" kern="0" dirty="0">
                <a:solidFill>
                  <a:srgbClr val="3FD6E6"/>
                </a:solidFill>
                <a:latin typeface="JetBrains Mono" pitchFamily="49" charset="0"/>
                <a:ea typeface="JetBrains Mono" pitchFamily="49" charset="-122"/>
                <a:cs typeface="JetBrains Mono" pitchFamily="49" charset="-120"/>
              </a:rPr>
              <a:t>THANK YOU · QUESTIONS?</a:t>
            </a:r>
            <a:endParaRPr lang="en-US" sz="1400" dirty="0"/>
          </a:p>
        </p:txBody>
      </p:sp>
      <p:sp>
        <p:nvSpPr>
          <p:cNvPr id="6" name="Text 3"/>
          <p:cNvSpPr/>
          <p:nvPr/>
        </p:nvSpPr>
        <p:spPr>
          <a:xfrm>
            <a:off x="812800" y="6236971"/>
            <a:ext cx="1591056"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8792B3"/>
                </a:solidFill>
                <a:latin typeface="JetBrains Mono" pitchFamily="49" charset="0"/>
                <a:ea typeface="JetBrains Mono" pitchFamily="49" charset="-122"/>
                <a:cs typeface="JetBrains Mono" pitchFamily="49" charset="-120"/>
              </a:rPr>
              <a:t>EQUINOX CMMS</a:t>
            </a:r>
            <a:endParaRPr lang="en-US" sz="1200" dirty="0"/>
          </a:p>
        </p:txBody>
      </p:sp>
      <p:sp>
        <p:nvSpPr>
          <p:cNvPr id="7" name="Text 4"/>
          <p:cNvSpPr/>
          <p:nvPr/>
        </p:nvSpPr>
        <p:spPr>
          <a:xfrm>
            <a:off x="11107420" y="6236971"/>
            <a:ext cx="271780" cy="238760"/>
          </a:xfrm>
          <a:prstGeom prst="rect">
            <a:avLst/>
          </a:prstGeom>
          <a:noFill/>
          <a:ln/>
        </p:spPr>
        <p:txBody>
          <a:bodyPr wrap="square" lIns="0" tIns="0" rIns="0" bIns="0" rtlCol="0" anchor="t">
            <a:normAutofit/>
          </a:bodyPr>
          <a:lstStyle/>
          <a:p>
            <a:pPr algn="r" indent="0" marL="0">
              <a:lnSpc>
                <a:spcPts val="1680"/>
              </a:lnSpc>
              <a:buNone/>
            </a:pPr>
            <a:r>
              <a:rPr lang="en-US" sz="1200" spc="150" kern="0" dirty="0">
                <a:solidFill>
                  <a:srgbClr val="8792B3"/>
                </a:solidFill>
                <a:latin typeface="JetBrains Mono" pitchFamily="49" charset="0"/>
                <a:ea typeface="JetBrains Mono" pitchFamily="49" charset="-122"/>
                <a:cs typeface="JetBrains Mono" pitchFamily="49" charset="-120"/>
              </a:rPr>
              <a:t>15</a:t>
            </a:r>
            <a:endParaRPr lang="en-US" sz="1200" dirty="0"/>
          </a:p>
        </p:txBody>
      </p:sp>
    </p:spTree>
  </p:cSld>
  <p:clrMapOvr>
    <a:masterClrMapping/>
  </p:clrMapOvr>
</p:sld>
</file>

<file path=ppt/theme/theme1.xml><?xml version="1.0" encoding="utf-8"?>
<a:theme xmlns:a="http://schemas.openxmlformats.org/drawingml/2006/main" name="Equinox CMMS">
  <a:themeElements>
    <a:clrScheme name="Equinox CMMS">
      <a:dk1>
        <a:srgbClr val="0E1630"/>
      </a:dk1>
      <a:lt1>
        <a:srgbClr val="F3F5FB"/>
      </a:lt1>
      <a:dk2>
        <a:srgbClr val="474E63"/>
      </a:dk2>
      <a:lt2>
        <a:srgbClr val="DCDFE7"/>
      </a:lt2>
      <a:accent1>
        <a:srgbClr val="4453E0"/>
      </a:accent1>
      <a:accent2>
        <a:srgbClr val="8792B3"/>
      </a:accent2>
      <a:accent3>
        <a:srgbClr val="3FD6E6"/>
      </a:accent3>
      <a:accent4>
        <a:srgbClr val="5B6585"/>
      </a:accent4>
      <a:accent5>
        <a:srgbClr val="24306A"/>
      </a:accent5>
      <a:accent6>
        <a:srgbClr val="7B88FF"/>
      </a:accent6>
      <a:hlink>
        <a:srgbClr val="0563C1"/>
      </a:hlink>
      <a:folHlink>
        <a:srgbClr val="954F72"/>
      </a:folHlink>
    </a:clrScheme>
    <a:fontScheme name="Equinox CMMS">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Equinox CMMS</dc:title>
  <dc:subject/>
  <dc:creator/>
  <cp:lastModifiedBy/>
  <cp:revision>1</cp:revision>
  <dcterms:created xsi:type="dcterms:W3CDTF">2026-10-08T01:49:41Z</dcterms:created>
  <dcterms:modified xsi:type="dcterms:W3CDTF">2026-10-08T01:49:41Z</dcterms:modified>
</cp:coreProperties>
</file>